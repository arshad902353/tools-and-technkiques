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14"/>
  </p:notesMasterIdLst>
  <p:sldIdLst>
    <p:sldId id="283"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8" r:id="rId58"/>
    <p:sldId id="319"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32" r:id="rId72"/>
    <p:sldId id="333" r:id="rId73"/>
    <p:sldId id="334" r:id="rId74"/>
    <p:sldId id="335" r:id="rId75"/>
    <p:sldId id="336" r:id="rId76"/>
    <p:sldId id="337" r:id="rId77"/>
    <p:sldId id="338" r:id="rId78"/>
    <p:sldId id="339" r:id="rId79"/>
    <p:sldId id="340" r:id="rId80"/>
    <p:sldId id="341" r:id="rId81"/>
    <p:sldId id="342" r:id="rId82"/>
    <p:sldId id="343" r:id="rId83"/>
    <p:sldId id="344" r:id="rId84"/>
    <p:sldId id="345" r:id="rId85"/>
    <p:sldId id="346" r:id="rId86"/>
    <p:sldId id="347" r:id="rId87"/>
    <p:sldId id="348" r:id="rId88"/>
    <p:sldId id="349" r:id="rId89"/>
    <p:sldId id="350" r:id="rId90"/>
    <p:sldId id="351" r:id="rId91"/>
    <p:sldId id="352" r:id="rId92"/>
    <p:sldId id="353" r:id="rId93"/>
    <p:sldId id="354" r:id="rId94"/>
    <p:sldId id="355" r:id="rId95"/>
    <p:sldId id="356" r:id="rId96"/>
    <p:sldId id="357" r:id="rId97"/>
    <p:sldId id="358" r:id="rId98"/>
    <p:sldId id="359" r:id="rId99"/>
    <p:sldId id="360" r:id="rId100"/>
    <p:sldId id="361" r:id="rId101"/>
    <p:sldId id="362" r:id="rId102"/>
    <p:sldId id="363" r:id="rId103"/>
    <p:sldId id="364" r:id="rId104"/>
    <p:sldId id="365" r:id="rId105"/>
    <p:sldId id="366" r:id="rId106"/>
    <p:sldId id="367" r:id="rId107"/>
    <p:sldId id="368" r:id="rId108"/>
    <p:sldId id="369" r:id="rId109"/>
    <p:sldId id="370" r:id="rId110"/>
    <p:sldId id="371" r:id="rId111"/>
    <p:sldId id="372" r:id="rId112"/>
    <p:sldId id="373" r:id="rId1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E4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6" d="100"/>
          <a:sy n="86" d="100"/>
        </p:scale>
        <p:origin x="1122"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theme" Target="theme/theme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188752-8147-4B1D-B861-FD328E67289B}" type="datetimeFigureOut">
              <a:rPr lang="en-US" smtClean="0"/>
              <a:t>10/1/2025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012E5-4E1C-4B25-8EB1-5D9F846A31DE}" type="slidenum">
              <a:rPr lang="en-US" smtClean="0"/>
              <a:t>‹#›</a:t>
            </a:fld>
            <a:endParaRPr lang="en-US"/>
          </a:p>
        </p:txBody>
      </p:sp>
    </p:spTree>
    <p:extLst>
      <p:ext uri="{BB962C8B-B14F-4D97-AF65-F5344CB8AC3E}">
        <p14:creationId xmlns:p14="http://schemas.microsoft.com/office/powerpoint/2010/main" val="198207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cs typeface="Lucida Sans Unicode" panose="020B0602030504020204" pitchFamily="34" charset="0"/>
              </a:defRPr>
            </a:lvl1pPr>
            <a:lvl2pPr marL="742950" indent="-285750">
              <a:defRPr sz="2400">
                <a:solidFill>
                  <a:schemeClr val="tx1"/>
                </a:solidFill>
                <a:latin typeface="Times" panose="02020603050405020304" pitchFamily="18" charset="0"/>
                <a:cs typeface="Lucida Sans Unicode" panose="020B0602030504020204" pitchFamily="34" charset="0"/>
              </a:defRPr>
            </a:lvl2pPr>
            <a:lvl3pPr marL="1143000" indent="-228600">
              <a:defRPr sz="2400">
                <a:solidFill>
                  <a:schemeClr val="tx1"/>
                </a:solidFill>
                <a:latin typeface="Times" panose="02020603050405020304" pitchFamily="18" charset="0"/>
                <a:cs typeface="Lucida Sans Unicode" panose="020B0602030504020204" pitchFamily="34" charset="0"/>
              </a:defRPr>
            </a:lvl3pPr>
            <a:lvl4pPr marL="1600200" indent="-228600">
              <a:defRPr sz="2400">
                <a:solidFill>
                  <a:schemeClr val="tx1"/>
                </a:solidFill>
                <a:latin typeface="Times" panose="02020603050405020304" pitchFamily="18" charset="0"/>
                <a:cs typeface="Lucida Sans Unicode" panose="020B0602030504020204" pitchFamily="34" charset="0"/>
              </a:defRPr>
            </a:lvl4pPr>
            <a:lvl5pPr marL="2057400" indent="-228600">
              <a:defRPr sz="2400">
                <a:solidFill>
                  <a:schemeClr val="tx1"/>
                </a:solidFill>
                <a:latin typeface="Times" panose="02020603050405020304" pitchFamily="18"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cs typeface="Lucida Sans Unicode" panose="020B0602030504020204" pitchFamily="34" charset="0"/>
              </a:defRPr>
            </a:lvl9pPr>
          </a:lstStyle>
          <a:p>
            <a:fld id="{58E93565-7F64-4877-A258-84D1C8184B90}" type="slidenum">
              <a:rPr lang="en-US" altLang="en-US" sz="1200"/>
              <a:pPr/>
              <a:t>23</a:t>
            </a:fld>
            <a:endParaRPr lang="en-US" altLang="en-US" sz="120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222357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dirty="0">
                <a:solidFill>
                  <a:schemeClr val="dk2"/>
                </a:solidFill>
              </a:rPr>
              <a:t>Note from Chuck.  </a:t>
            </a:r>
            <a:r>
              <a:rPr lang="en-US">
                <a:solidFill>
                  <a:schemeClr val="dk2"/>
                </a:solidFill>
              </a:rPr>
              <a:t>If you are using these materials, you can remove the UM logo and replace it with your own, but please retain the CC-BY logo on the first page as well as retain the acknowledgement page(s)</a:t>
            </a:r>
            <a:r>
              <a:rPr lang="en-US" baseline="0">
                <a:solidFill>
                  <a:schemeClr val="dk2"/>
                </a:solidFill>
              </a:rPr>
              <a:t> at the end.</a:t>
            </a:r>
            <a:endParaRPr lang="en-US" dirty="0">
              <a:solidFill>
                <a:schemeClr val="dk2"/>
              </a:solidFill>
            </a:endParaRP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3694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dirty="0">
                <a:solidFill>
                  <a:schemeClr val="dk2"/>
                </a:solidFill>
              </a:rPr>
              <a:t>Note from Chuck.  </a:t>
            </a:r>
            <a:r>
              <a:rPr lang="en-US">
                <a:solidFill>
                  <a:schemeClr val="dk2"/>
                </a:solidFill>
              </a:rPr>
              <a:t>If you are using these materials, you can remove the UM logo and replace it with your own, but please retain the CC-BY logo on the first page as well as retain the acknowledgement page(s)</a:t>
            </a:r>
            <a:r>
              <a:rPr lang="en-US" baseline="0">
                <a:solidFill>
                  <a:schemeClr val="dk2"/>
                </a:solidFill>
              </a:rPr>
              <a:t> at the end.</a:t>
            </a:r>
            <a:endParaRPr lang="en-US" dirty="0">
              <a:solidFill>
                <a:schemeClr val="dk2"/>
              </a:solidFill>
            </a:endParaRP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4928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Shape 20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r>
              <a:rPr lang="en-US" dirty="0">
                <a:solidFill>
                  <a:schemeClr val="dk2"/>
                </a:solidFill>
              </a:rPr>
              <a:t>Note from Chuck.  </a:t>
            </a:r>
            <a:r>
              <a:rPr lang="en-US">
                <a:solidFill>
                  <a:schemeClr val="dk2"/>
                </a:solidFill>
              </a:rPr>
              <a:t>If you are using these materials, you can remove the UM logo and replace it with your own, but please retain the CC-BY logo on the first page as well as retain the acknowledgement page(s)</a:t>
            </a:r>
            <a:r>
              <a:rPr lang="en-US" baseline="0">
                <a:solidFill>
                  <a:schemeClr val="dk2"/>
                </a:solidFill>
              </a:rPr>
              <a:t> at the end.</a:t>
            </a:r>
            <a:endParaRPr lang="en-US" dirty="0">
              <a:solidFill>
                <a:schemeClr val="dk2"/>
              </a:solidFill>
            </a:endParaRPr>
          </a:p>
        </p:txBody>
      </p:sp>
      <p:sp>
        <p:nvSpPr>
          <p:cNvPr id="201" name="Shape 20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1242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10" name="Shape 2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102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8" name="Shape 2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8741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38" name="Shape 2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9022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Shape 28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90" name="Shape 29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9610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Shape 29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298" name="Shape 29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7001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Shape 30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08" name="Shape 3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2644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Shape 33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38" name="Shape 3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567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Shape 34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46" name="Shape 34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133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Shape 35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56" name="Shape 3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7764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Shape 38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84" name="Shape 3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6584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Shape 38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90" name="Shape 39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4789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Shape 39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396" name="Shape 39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3956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Shape 40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03" name="Shape 40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3030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Shape 41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14" name="Shape 41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82160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Shape 43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38" name="Shape 43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699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Shape 44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49" name="Shape 4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591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Shape 46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470" name="Shape 4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0615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Shape 51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15" name="Shape 5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400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Shape 51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20" name="Shape 5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80087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Shape 52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30" name="Shape 53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57860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Shape 53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37" name="Shape 5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46492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Shape 54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42" name="Shape 5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93374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Shape 54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48" name="Shape 5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25203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Shape 55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54" name="Shape 5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45213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Shape 55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60" name="Shape 5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5938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Shape 56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66" name="Shape 5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96162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Shape 57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72" name="Shape 5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72299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Shape 57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78" name="Shape 5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85502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Shape 58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83" name="Shape 5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21303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Shape 53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37" name="Shape 53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11680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Shape 54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42" name="Shape 54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04945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Shape 54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48" name="Shape 5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897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Shape 55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54" name="Shape 55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326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Shape 55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60" name="Shape 5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2301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Shape 56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66" name="Shape 5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63586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Shape 57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72" name="Shape 57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37145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Shape 58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583" name="Shape 5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50344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Shape 66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670" name="Shape 6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98640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973820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Shape 67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678" name="Shape 67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517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Shape 68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686" name="Shape 68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62435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Shape 69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694" name="Shape 69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30147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Shape 701"/>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02" name="Shape 7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68028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Shape 709"/>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10" name="Shape 71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2168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Shape 717"/>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18" name="Shape 71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09429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Shape 72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26" name="Shape 7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2736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Shape 72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26" name="Shape 7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40238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Shape 74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41" name="Shape 74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51301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Shape 74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49" name="Shape 7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58186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Shape 75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756" name="Shape 7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737492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Shape 7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63" name="Shape 763"/>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Tree>
    <p:extLst>
      <p:ext uri="{BB962C8B-B14F-4D97-AF65-F5344CB8AC3E}">
        <p14:creationId xmlns:p14="http://schemas.microsoft.com/office/powerpoint/2010/main" val="3340959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Bumper">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650081" y="1152526"/>
            <a:ext cx="7836694" cy="2314574"/>
          </a:xfrm>
          <a:prstGeom prst="rect">
            <a:avLst/>
          </a:prstGeom>
          <a:noFill/>
          <a:ln>
            <a:noFill/>
          </a:ln>
        </p:spPr>
        <p:txBody>
          <a:bodyPr lIns="91425" tIns="91425" rIns="91425" bIns="91425" anchor="b" anchorCtr="0"/>
          <a:lstStyle>
            <a:lvl1pPr lvl="0" algn="ctr" rtl="0">
              <a:spcBef>
                <a:spcPts val="0"/>
              </a:spcBef>
              <a:spcAft>
                <a:spcPts val="0"/>
              </a:spcAft>
              <a:defRPr>
                <a:solidFill>
                  <a:srgbClr val="FFFF00"/>
                </a:solidFill>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257175" lvl="5" algn="ctr" rtl="0">
              <a:spcBef>
                <a:spcPts val="0"/>
              </a:spcBef>
              <a:spcAft>
                <a:spcPts val="0"/>
              </a:spcAft>
              <a:defRPr/>
            </a:lvl6pPr>
            <a:lvl7pPr marL="514350" lvl="6" algn="ctr" rtl="0">
              <a:spcBef>
                <a:spcPts val="0"/>
              </a:spcBef>
              <a:spcAft>
                <a:spcPts val="0"/>
              </a:spcAft>
              <a:defRPr/>
            </a:lvl7pPr>
            <a:lvl8pPr marL="771525" lvl="7" algn="ctr" rtl="0">
              <a:spcBef>
                <a:spcPts val="0"/>
              </a:spcBef>
              <a:spcAft>
                <a:spcPts val="0"/>
              </a:spcAft>
              <a:defRPr/>
            </a:lvl8pPr>
            <a:lvl9pPr marL="1028700" lvl="8" algn="ctr" rtl="0">
              <a:spcBef>
                <a:spcPts val="0"/>
              </a:spcBef>
              <a:spcAft>
                <a:spcPts val="0"/>
              </a:spcAft>
              <a:defRPr/>
            </a:lvl9pPr>
          </a:lstStyle>
          <a:p>
            <a:endParaRPr dirty="0"/>
          </a:p>
        </p:txBody>
      </p:sp>
      <p:sp>
        <p:nvSpPr>
          <p:cNvPr id="40" name="Shape 40"/>
          <p:cNvSpPr txBox="1">
            <a:spLocks noGrp="1"/>
          </p:cNvSpPr>
          <p:nvPr>
            <p:ph type="body" idx="1"/>
          </p:nvPr>
        </p:nvSpPr>
        <p:spPr>
          <a:xfrm>
            <a:off x="650081" y="3533775"/>
            <a:ext cx="7836694" cy="790575"/>
          </a:xfrm>
          <a:prstGeom prst="rect">
            <a:avLst/>
          </a:prstGeom>
          <a:noFill/>
          <a:ln>
            <a:noFill/>
          </a:ln>
        </p:spPr>
        <p:txBody>
          <a:bodyPr lIns="91425" tIns="91425" rIns="91425" bIns="91425" anchor="t" anchorCtr="0"/>
          <a:lstStyle>
            <a:lvl1pPr marL="192881" lvl="0" indent="-192881" algn="ctr" rtl="0">
              <a:spcBef>
                <a:spcPts val="0"/>
              </a:spcBef>
              <a:spcAft>
                <a:spcPts val="0"/>
              </a:spcAft>
              <a:defRPr>
                <a:solidFill>
                  <a:schemeClr val="bg1"/>
                </a:solidFill>
              </a:defRPr>
            </a:lvl1pPr>
            <a:lvl2pPr marL="417909" lvl="1" indent="-160734" algn="ctr" rtl="0">
              <a:spcBef>
                <a:spcPts val="0"/>
              </a:spcBef>
              <a:spcAft>
                <a:spcPts val="0"/>
              </a:spcAft>
              <a:defRPr/>
            </a:lvl2pPr>
            <a:lvl3pPr marL="642938" lvl="2" indent="-128588" algn="ctr" rtl="0">
              <a:spcBef>
                <a:spcPts val="0"/>
              </a:spcBef>
              <a:spcAft>
                <a:spcPts val="0"/>
              </a:spcAft>
              <a:defRPr/>
            </a:lvl3pPr>
            <a:lvl4pPr marL="900113" lvl="3" indent="-128588" algn="ctr" rtl="0">
              <a:spcBef>
                <a:spcPts val="0"/>
              </a:spcBef>
              <a:spcAft>
                <a:spcPts val="0"/>
              </a:spcAft>
              <a:defRPr/>
            </a:lvl4pPr>
            <a:lvl5pPr marL="1157288" lvl="4" indent="-128588" algn="ctr" rtl="0">
              <a:spcBef>
                <a:spcPts val="0"/>
              </a:spcBef>
              <a:spcAft>
                <a:spcPts val="0"/>
              </a:spcAft>
              <a:defRPr/>
            </a:lvl5pPr>
            <a:lvl6pPr marL="257175" lvl="5" algn="ctr" rtl="0">
              <a:spcBef>
                <a:spcPts val="0"/>
              </a:spcBef>
              <a:spcAft>
                <a:spcPts val="0"/>
              </a:spcAft>
              <a:defRPr/>
            </a:lvl6pPr>
            <a:lvl7pPr marL="514350" lvl="6" algn="ctr" rtl="0">
              <a:spcBef>
                <a:spcPts val="0"/>
              </a:spcBef>
              <a:spcAft>
                <a:spcPts val="0"/>
              </a:spcAft>
              <a:defRPr/>
            </a:lvl7pPr>
            <a:lvl8pPr marL="771525" lvl="7" algn="ctr" rtl="0">
              <a:spcBef>
                <a:spcPts val="0"/>
              </a:spcBef>
              <a:spcAft>
                <a:spcPts val="0"/>
              </a:spcAft>
              <a:defRPr/>
            </a:lvl8pPr>
            <a:lvl9pPr marL="1028700" lvl="8" algn="ctr" rtl="0">
              <a:spcBef>
                <a:spcPts val="0"/>
              </a:spcBef>
              <a:spcAft>
                <a:spcPts val="0"/>
              </a:spcAft>
              <a:defRPr/>
            </a:lvl9pPr>
          </a:lstStyle>
          <a:p>
            <a:endParaRPr dirty="0"/>
          </a:p>
        </p:txBody>
      </p:sp>
    </p:spTree>
    <p:extLst>
      <p:ext uri="{BB962C8B-B14F-4D97-AF65-F5344CB8AC3E}">
        <p14:creationId xmlns:p14="http://schemas.microsoft.com/office/powerpoint/2010/main" val="481970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Bullets">
    <p:spTree>
      <p:nvGrpSpPr>
        <p:cNvPr id="1" name="Shape 193"/>
        <p:cNvGrpSpPr/>
        <p:nvPr/>
      </p:nvGrpSpPr>
      <p:grpSpPr>
        <a:xfrm>
          <a:off x="0" y="0"/>
          <a:ext cx="0" cy="0"/>
          <a:chOff x="0" y="0"/>
          <a:chExt cx="0" cy="0"/>
        </a:xfrm>
      </p:grpSpPr>
      <p:sp>
        <p:nvSpPr>
          <p:cNvPr id="194" name="Shape 194"/>
          <p:cNvSpPr txBox="1">
            <a:spLocks noGrp="1"/>
          </p:cNvSpPr>
          <p:nvPr>
            <p:ph type="title"/>
          </p:nvPr>
        </p:nvSpPr>
        <p:spPr>
          <a:xfrm>
            <a:off x="650081" y="613063"/>
            <a:ext cx="7836750" cy="1291862"/>
          </a:xfrm>
          <a:prstGeom prst="rect">
            <a:avLst/>
          </a:prstGeom>
          <a:noFill/>
          <a:ln>
            <a:noFill/>
          </a:ln>
        </p:spPr>
        <p:txBody>
          <a:bodyPr lIns="91425" tIns="91425" rIns="91425" bIns="91425" anchor="ctr" anchorCtr="0"/>
          <a:lstStyle>
            <a:lvl1pPr lvl="0" algn="ctr" rtl="0">
              <a:spcBef>
                <a:spcPts val="0"/>
              </a:spcBef>
              <a:spcAft>
                <a:spcPts val="0"/>
              </a:spcAft>
              <a:defRPr>
                <a:solidFill>
                  <a:srgbClr val="FFFF00"/>
                </a:solidFill>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257175" lvl="5" algn="ctr" rtl="0">
              <a:spcBef>
                <a:spcPts val="0"/>
              </a:spcBef>
              <a:spcAft>
                <a:spcPts val="0"/>
              </a:spcAft>
              <a:defRPr/>
            </a:lvl6pPr>
            <a:lvl7pPr marL="514350" lvl="6" algn="ctr" rtl="0">
              <a:spcBef>
                <a:spcPts val="0"/>
              </a:spcBef>
              <a:spcAft>
                <a:spcPts val="0"/>
              </a:spcAft>
              <a:defRPr/>
            </a:lvl7pPr>
            <a:lvl8pPr marL="771525" lvl="7" algn="ctr" rtl="0">
              <a:spcBef>
                <a:spcPts val="0"/>
              </a:spcBef>
              <a:spcAft>
                <a:spcPts val="0"/>
              </a:spcAft>
              <a:defRPr/>
            </a:lvl8pPr>
            <a:lvl9pPr marL="1028700" lvl="8" algn="ctr" rtl="0">
              <a:spcBef>
                <a:spcPts val="0"/>
              </a:spcBef>
              <a:spcAft>
                <a:spcPts val="0"/>
              </a:spcAft>
              <a:defRPr/>
            </a:lvl9pPr>
          </a:lstStyle>
          <a:p>
            <a:endParaRPr dirty="0"/>
          </a:p>
        </p:txBody>
      </p:sp>
      <p:sp>
        <p:nvSpPr>
          <p:cNvPr id="195" name="Shape 195"/>
          <p:cNvSpPr txBox="1">
            <a:spLocks noGrp="1"/>
          </p:cNvSpPr>
          <p:nvPr>
            <p:ph type="body" idx="1"/>
          </p:nvPr>
        </p:nvSpPr>
        <p:spPr>
          <a:xfrm>
            <a:off x="650081" y="1952626"/>
            <a:ext cx="7836750" cy="4276799"/>
          </a:xfrm>
          <a:prstGeom prst="rect">
            <a:avLst/>
          </a:prstGeom>
          <a:noFill/>
          <a:ln>
            <a:noFill/>
          </a:ln>
        </p:spPr>
        <p:txBody>
          <a:bodyPr lIns="91425" tIns="91425" rIns="91425" bIns="91425" anchor="ctr" anchorCtr="0"/>
          <a:lstStyle>
            <a:lvl1pPr marL="400050" lvl="0" indent="-80153" algn="l" rtl="0">
              <a:spcBef>
                <a:spcPts val="1969"/>
              </a:spcBef>
              <a:spcAft>
                <a:spcPts val="0"/>
              </a:spcAft>
              <a:buClr>
                <a:schemeClr val="lt1"/>
              </a:buClr>
              <a:buFont typeface="Cabin"/>
              <a:buChar char="•"/>
              <a:defRPr sz="1800">
                <a:solidFill>
                  <a:schemeClr val="bg1"/>
                </a:solidFill>
              </a:defRPr>
            </a:lvl1pPr>
            <a:lvl2pPr marL="564356" lvl="1" indent="-80153" algn="l" rtl="0">
              <a:spcBef>
                <a:spcPts val="1969"/>
              </a:spcBef>
              <a:spcAft>
                <a:spcPts val="0"/>
              </a:spcAft>
              <a:buClr>
                <a:schemeClr val="lt1"/>
              </a:buClr>
              <a:buFont typeface="Cabin"/>
              <a:buChar char="•"/>
              <a:defRPr/>
            </a:lvl2pPr>
            <a:lvl3pPr marL="728663" lvl="2" indent="-80153" algn="l" rtl="0">
              <a:spcBef>
                <a:spcPts val="1969"/>
              </a:spcBef>
              <a:spcAft>
                <a:spcPts val="0"/>
              </a:spcAft>
              <a:buClr>
                <a:schemeClr val="lt1"/>
              </a:buClr>
              <a:buFont typeface="Cabin"/>
              <a:buChar char="•"/>
              <a:defRPr/>
            </a:lvl3pPr>
            <a:lvl4pPr marL="900113" lvl="3" indent="-80153" algn="l" rtl="0">
              <a:spcBef>
                <a:spcPts val="1969"/>
              </a:spcBef>
              <a:spcAft>
                <a:spcPts val="0"/>
              </a:spcAft>
              <a:buClr>
                <a:schemeClr val="lt1"/>
              </a:buClr>
              <a:buFont typeface="Cabin"/>
              <a:buChar char="•"/>
              <a:defRPr/>
            </a:lvl4pPr>
            <a:lvl5pPr marL="1064419" lvl="4" indent="-80153" algn="l" rtl="0">
              <a:spcBef>
                <a:spcPts val="1969"/>
              </a:spcBef>
              <a:spcAft>
                <a:spcPts val="0"/>
              </a:spcAft>
              <a:buClr>
                <a:schemeClr val="lt1"/>
              </a:buClr>
              <a:buFont typeface="Cabin"/>
              <a:buChar char="•"/>
              <a:defRPr/>
            </a:lvl5pPr>
            <a:lvl6pPr marL="1321594" lvl="5" indent="-80153" algn="l" rtl="0">
              <a:spcBef>
                <a:spcPts val="1969"/>
              </a:spcBef>
              <a:spcAft>
                <a:spcPts val="0"/>
              </a:spcAft>
              <a:buClr>
                <a:schemeClr val="lt1"/>
              </a:buClr>
              <a:buFont typeface="Cabin"/>
              <a:buChar char="•"/>
              <a:defRPr/>
            </a:lvl6pPr>
            <a:lvl7pPr marL="1578769" lvl="6" indent="-80153" algn="l" rtl="0">
              <a:spcBef>
                <a:spcPts val="1969"/>
              </a:spcBef>
              <a:spcAft>
                <a:spcPts val="0"/>
              </a:spcAft>
              <a:buClr>
                <a:schemeClr val="lt1"/>
              </a:buClr>
              <a:buFont typeface="Cabin"/>
              <a:buChar char="•"/>
              <a:defRPr/>
            </a:lvl7pPr>
            <a:lvl8pPr marL="1835944" lvl="7" indent="-80153" algn="l" rtl="0">
              <a:spcBef>
                <a:spcPts val="1969"/>
              </a:spcBef>
              <a:spcAft>
                <a:spcPts val="0"/>
              </a:spcAft>
              <a:buClr>
                <a:schemeClr val="lt1"/>
              </a:buClr>
              <a:buFont typeface="Cabin"/>
              <a:buChar char="•"/>
              <a:defRPr/>
            </a:lvl8pPr>
            <a:lvl9pPr marL="2093119" lvl="8" indent="-80153" algn="l" rtl="0">
              <a:spcBef>
                <a:spcPts val="1969"/>
              </a:spcBef>
              <a:spcAft>
                <a:spcPts val="0"/>
              </a:spcAft>
              <a:buClr>
                <a:schemeClr val="lt1"/>
              </a:buClr>
              <a:buFont typeface="Cabin"/>
              <a:buChar char="•"/>
              <a:defRPr/>
            </a:lvl9pPr>
          </a:lstStyle>
          <a:p>
            <a:endParaRPr dirty="0"/>
          </a:p>
        </p:txBody>
      </p:sp>
    </p:spTree>
    <p:extLst>
      <p:ext uri="{BB962C8B-B14F-4D97-AF65-F5344CB8AC3E}">
        <p14:creationId xmlns:p14="http://schemas.microsoft.com/office/powerpoint/2010/main" val="5359250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Shape 193"/>
        <p:cNvGrpSpPr/>
        <p:nvPr/>
      </p:nvGrpSpPr>
      <p:grpSpPr>
        <a:xfrm>
          <a:off x="0" y="0"/>
          <a:ext cx="0" cy="0"/>
          <a:chOff x="0" y="0"/>
          <a:chExt cx="0" cy="0"/>
        </a:xfrm>
      </p:grpSpPr>
      <p:sp>
        <p:nvSpPr>
          <p:cNvPr id="194" name="Shape 194"/>
          <p:cNvSpPr txBox="1">
            <a:spLocks noGrp="1"/>
          </p:cNvSpPr>
          <p:nvPr>
            <p:ph type="title"/>
          </p:nvPr>
        </p:nvSpPr>
        <p:spPr>
          <a:xfrm>
            <a:off x="650081" y="613063"/>
            <a:ext cx="7836750" cy="1291862"/>
          </a:xfrm>
          <a:prstGeom prst="rect">
            <a:avLst/>
          </a:prstGeom>
          <a:noFill/>
          <a:ln>
            <a:noFill/>
          </a:ln>
        </p:spPr>
        <p:txBody>
          <a:bodyPr lIns="91425" tIns="91425" rIns="91425" bIns="91425" anchor="ctr" anchorCtr="0"/>
          <a:lstStyle>
            <a:lvl1pPr lvl="0" algn="ctr" rtl="0">
              <a:spcBef>
                <a:spcPts val="0"/>
              </a:spcBef>
              <a:spcAft>
                <a:spcPts val="0"/>
              </a:spcAft>
              <a:defRPr>
                <a:solidFill>
                  <a:srgbClr val="FFFF00"/>
                </a:solidFill>
              </a:defRPr>
            </a:lvl1pPr>
            <a:lvl2pPr lvl="1" algn="ctr" rtl="0">
              <a:spcBef>
                <a:spcPts val="0"/>
              </a:spcBef>
              <a:spcAft>
                <a:spcPts val="0"/>
              </a:spcAft>
              <a:defRPr/>
            </a:lvl2pPr>
            <a:lvl3pPr lvl="2" algn="ctr" rtl="0">
              <a:spcBef>
                <a:spcPts val="0"/>
              </a:spcBef>
              <a:spcAft>
                <a:spcPts val="0"/>
              </a:spcAft>
              <a:defRPr/>
            </a:lvl3pPr>
            <a:lvl4pPr lvl="3" algn="ctr" rtl="0">
              <a:spcBef>
                <a:spcPts val="0"/>
              </a:spcBef>
              <a:spcAft>
                <a:spcPts val="0"/>
              </a:spcAft>
              <a:defRPr/>
            </a:lvl4pPr>
            <a:lvl5pPr lvl="4" algn="ctr" rtl="0">
              <a:spcBef>
                <a:spcPts val="0"/>
              </a:spcBef>
              <a:spcAft>
                <a:spcPts val="0"/>
              </a:spcAft>
              <a:defRPr/>
            </a:lvl5pPr>
            <a:lvl6pPr marL="257175" lvl="5" algn="ctr" rtl="0">
              <a:spcBef>
                <a:spcPts val="0"/>
              </a:spcBef>
              <a:spcAft>
                <a:spcPts val="0"/>
              </a:spcAft>
              <a:defRPr/>
            </a:lvl6pPr>
            <a:lvl7pPr marL="514350" lvl="6" algn="ctr" rtl="0">
              <a:spcBef>
                <a:spcPts val="0"/>
              </a:spcBef>
              <a:spcAft>
                <a:spcPts val="0"/>
              </a:spcAft>
              <a:defRPr/>
            </a:lvl7pPr>
            <a:lvl8pPr marL="771525" lvl="7" algn="ctr" rtl="0">
              <a:spcBef>
                <a:spcPts val="0"/>
              </a:spcBef>
              <a:spcAft>
                <a:spcPts val="0"/>
              </a:spcAft>
              <a:defRPr/>
            </a:lvl8pPr>
            <a:lvl9pPr marL="1028700" lvl="8" algn="ctr" rtl="0">
              <a:spcBef>
                <a:spcPts val="0"/>
              </a:spcBef>
              <a:spcAft>
                <a:spcPts val="0"/>
              </a:spcAft>
              <a:defRPr/>
            </a:lvl9pPr>
          </a:lstStyle>
          <a:p>
            <a:endParaRPr dirty="0"/>
          </a:p>
        </p:txBody>
      </p:sp>
    </p:spTree>
    <p:extLst>
      <p:ext uri="{BB962C8B-B14F-4D97-AF65-F5344CB8AC3E}">
        <p14:creationId xmlns:p14="http://schemas.microsoft.com/office/powerpoint/2010/main" val="461669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193"/>
        <p:cNvGrpSpPr/>
        <p:nvPr/>
      </p:nvGrpSpPr>
      <p:grpSpPr>
        <a:xfrm>
          <a:off x="0" y="0"/>
          <a:ext cx="0" cy="0"/>
          <a:chOff x="0" y="0"/>
          <a:chExt cx="0" cy="0"/>
        </a:xfrm>
      </p:grpSpPr>
    </p:spTree>
    <p:extLst>
      <p:ext uri="{BB962C8B-B14F-4D97-AF65-F5344CB8AC3E}">
        <p14:creationId xmlns:p14="http://schemas.microsoft.com/office/powerpoint/2010/main" val="521091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650081" y="1152526"/>
            <a:ext cx="7836694" cy="2314574"/>
          </a:xfrm>
          <a:prstGeom prst="rect">
            <a:avLst/>
          </a:prstGeom>
          <a:noFill/>
          <a:ln>
            <a:noFill/>
          </a:ln>
        </p:spPr>
        <p:txBody>
          <a:bodyPr lIns="91425" tIns="91425" rIns="91425" bIns="91425" anchor="b" anchorCtr="0"/>
          <a:lstStyle>
            <a:lvl1pPr marL="0" marR="0" lvl="0" indent="0" algn="ctr" rtl="0">
              <a:spcBef>
                <a:spcPts val="0"/>
              </a:spcBef>
              <a:spcAft>
                <a:spcPts val="0"/>
              </a:spcAft>
              <a:defRPr/>
            </a:lvl1pPr>
            <a:lvl2pPr marL="0" marR="0" lvl="1" indent="0" algn="ctr" rtl="0">
              <a:spcBef>
                <a:spcPts val="0"/>
              </a:spcBef>
              <a:spcAft>
                <a:spcPts val="0"/>
              </a:spcAft>
              <a:defRPr/>
            </a:lvl2pPr>
            <a:lvl3pPr marL="0" marR="0" lvl="2" indent="0" algn="ctr" rtl="0">
              <a:spcBef>
                <a:spcPts val="0"/>
              </a:spcBef>
              <a:spcAft>
                <a:spcPts val="0"/>
              </a:spcAft>
              <a:defRPr/>
            </a:lvl3pPr>
            <a:lvl4pPr marL="0" marR="0" lvl="3" indent="0" algn="ctr" rtl="0">
              <a:spcBef>
                <a:spcPts val="0"/>
              </a:spcBef>
              <a:spcAft>
                <a:spcPts val="0"/>
              </a:spcAft>
              <a:defRPr/>
            </a:lvl4pPr>
            <a:lvl5pPr marL="0" marR="0" lvl="4" indent="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dirty="0"/>
          </a:p>
        </p:txBody>
      </p:sp>
      <p:sp>
        <p:nvSpPr>
          <p:cNvPr id="7" name="Shape 7"/>
          <p:cNvSpPr txBox="1">
            <a:spLocks noGrp="1"/>
          </p:cNvSpPr>
          <p:nvPr>
            <p:ph type="body" idx="1"/>
          </p:nvPr>
        </p:nvSpPr>
        <p:spPr>
          <a:xfrm>
            <a:off x="650081" y="3533775"/>
            <a:ext cx="7836694" cy="790575"/>
          </a:xfrm>
          <a:prstGeom prst="rect">
            <a:avLst/>
          </a:prstGeom>
          <a:noFill/>
          <a:ln>
            <a:noFill/>
          </a:ln>
        </p:spPr>
        <p:txBody>
          <a:bodyPr lIns="91425" tIns="91425" rIns="91425" bIns="91425" anchor="t" anchorCtr="0"/>
          <a:lstStyle>
            <a:lvl1pPr marL="342900" marR="0" lvl="0" indent="-342900" algn="ctr" rtl="0">
              <a:spcBef>
                <a:spcPts val="0"/>
              </a:spcBef>
              <a:spcAft>
                <a:spcPts val="0"/>
              </a:spcAft>
              <a:defRPr/>
            </a:lvl1pPr>
            <a:lvl2pPr marL="742950" marR="0" lvl="1" indent="-285750" algn="ctr" rtl="0">
              <a:spcBef>
                <a:spcPts val="0"/>
              </a:spcBef>
              <a:spcAft>
                <a:spcPts val="0"/>
              </a:spcAft>
              <a:defRPr/>
            </a:lvl2pPr>
            <a:lvl3pPr marL="1143000" marR="0" lvl="2" indent="-228600" algn="ctr" rtl="0">
              <a:spcBef>
                <a:spcPts val="0"/>
              </a:spcBef>
              <a:spcAft>
                <a:spcPts val="0"/>
              </a:spcAft>
              <a:defRPr/>
            </a:lvl3pPr>
            <a:lvl4pPr marL="1600200" marR="0" lvl="3" indent="-228600" algn="ctr" rtl="0">
              <a:spcBef>
                <a:spcPts val="0"/>
              </a:spcBef>
              <a:spcAft>
                <a:spcPts val="0"/>
              </a:spcAft>
              <a:defRPr/>
            </a:lvl4pPr>
            <a:lvl5pPr marL="2057400" marR="0" lvl="4" indent="-228600" algn="ctr" rtl="0">
              <a:spcBef>
                <a:spcPts val="0"/>
              </a:spcBef>
              <a:spcAft>
                <a:spcPts val="0"/>
              </a:spcAft>
              <a:defRPr/>
            </a:lvl5pPr>
            <a:lvl6pPr marL="457200" marR="0" lvl="5" indent="0" algn="ctr" rtl="0">
              <a:spcBef>
                <a:spcPts val="0"/>
              </a:spcBef>
              <a:spcAft>
                <a:spcPts val="0"/>
              </a:spcAft>
              <a:defRPr/>
            </a:lvl6pPr>
            <a:lvl7pPr marL="914400" marR="0" lvl="6" indent="0" algn="ctr" rtl="0">
              <a:spcBef>
                <a:spcPts val="0"/>
              </a:spcBef>
              <a:spcAft>
                <a:spcPts val="0"/>
              </a:spcAft>
              <a:defRPr/>
            </a:lvl7pPr>
            <a:lvl8pPr marL="1371600" marR="0" lvl="7" indent="0" algn="ctr" rtl="0">
              <a:spcBef>
                <a:spcPts val="0"/>
              </a:spcBef>
              <a:spcAft>
                <a:spcPts val="0"/>
              </a:spcAft>
              <a:defRPr/>
            </a:lvl8pPr>
            <a:lvl9pPr marL="1828800" marR="0" lvl="8" indent="0" algn="ctr" rtl="0">
              <a:spcBef>
                <a:spcPts val="0"/>
              </a:spcBef>
              <a:spcAft>
                <a:spcPts val="0"/>
              </a:spcAft>
              <a:defRPr/>
            </a:lvl9pPr>
          </a:lstStyle>
          <a:p>
            <a:endParaRPr dirty="0"/>
          </a:p>
        </p:txBody>
      </p:sp>
      <p:sp>
        <p:nvSpPr>
          <p:cNvPr id="4" name="Rectangle 3"/>
          <p:cNvSpPr>
            <a:spLocks noChangeArrowheads="1"/>
          </p:cNvSpPr>
          <p:nvPr userDrawn="1"/>
        </p:nvSpPr>
        <p:spPr bwMode="auto">
          <a:xfrm>
            <a:off x="0" y="0"/>
            <a:ext cx="9144000" cy="576072"/>
          </a:xfrm>
          <a:prstGeom prst="rect">
            <a:avLst/>
          </a:prstGeom>
          <a:solidFill>
            <a:schemeClr val="bg2"/>
          </a:solidFill>
          <a:ln>
            <a:noFill/>
          </a:ln>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2025"/>
          </a:p>
        </p:txBody>
      </p:sp>
      <p:sp>
        <p:nvSpPr>
          <p:cNvPr id="5" name="Rectangle 3"/>
          <p:cNvSpPr>
            <a:spLocks noChangeArrowheads="1"/>
          </p:cNvSpPr>
          <p:nvPr userDrawn="1"/>
        </p:nvSpPr>
        <p:spPr bwMode="auto">
          <a:xfrm>
            <a:off x="0" y="6268212"/>
            <a:ext cx="9144000" cy="589788"/>
          </a:xfrm>
          <a:prstGeom prst="rect">
            <a:avLst/>
          </a:prstGeom>
          <a:solidFill>
            <a:schemeClr val="bg2"/>
          </a:solidFill>
          <a:ln>
            <a:noFill/>
          </a:ln>
        </p:spPr>
        <p:txBody>
          <a:bodyPr/>
          <a:lstStyle>
            <a:lvl1pPr algn="ctr">
              <a:defRPr sz="2000">
                <a:solidFill>
                  <a:srgbClr val="FFFFFF"/>
                </a:solidFill>
                <a:latin typeface="Gill Sans" charset="0"/>
                <a:ea typeface="ヒラギノ角ゴ ProN W3" charset="-128"/>
                <a:sym typeface="Gill Sans" charset="0"/>
              </a:defRPr>
            </a:lvl1pPr>
            <a:lvl2pPr marL="742950" indent="-285750" algn="ctr">
              <a:defRPr sz="2000">
                <a:solidFill>
                  <a:srgbClr val="FFFFFF"/>
                </a:solidFill>
                <a:latin typeface="Gill Sans" charset="0"/>
                <a:ea typeface="ヒラギノ角ゴ ProN W3" charset="-128"/>
                <a:sym typeface="Gill Sans" charset="0"/>
              </a:defRPr>
            </a:lvl2pPr>
            <a:lvl3pPr marL="1143000" indent="-228600" algn="ctr">
              <a:defRPr sz="2000">
                <a:solidFill>
                  <a:srgbClr val="FFFFFF"/>
                </a:solidFill>
                <a:latin typeface="Gill Sans" charset="0"/>
                <a:ea typeface="ヒラギノ角ゴ ProN W3" charset="-128"/>
                <a:sym typeface="Gill Sans" charset="0"/>
              </a:defRPr>
            </a:lvl3pPr>
            <a:lvl4pPr marL="1600200" indent="-228600" algn="ctr">
              <a:defRPr sz="2000">
                <a:solidFill>
                  <a:srgbClr val="FFFFFF"/>
                </a:solidFill>
                <a:latin typeface="Gill Sans" charset="0"/>
                <a:ea typeface="ヒラギノ角ゴ ProN W3" charset="-128"/>
                <a:sym typeface="Gill Sans" charset="0"/>
              </a:defRPr>
            </a:lvl4pPr>
            <a:lvl5pPr marL="2057400" indent="-228600" algn="ctr">
              <a:defRPr sz="2000">
                <a:solidFill>
                  <a:srgbClr val="FFFFFF"/>
                </a:solidFill>
                <a:latin typeface="Gill Sans" charset="0"/>
                <a:ea typeface="ヒラギノ角ゴ ProN W3" charset="-128"/>
                <a:sym typeface="Gill Sans" charset="0"/>
              </a:defRPr>
            </a:lvl5pPr>
            <a:lvl6pPr marL="25146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6pPr>
            <a:lvl7pPr marL="29718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7pPr>
            <a:lvl8pPr marL="34290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8pPr>
            <a:lvl9pPr marL="3886200" indent="-228600" algn="ctr" eaLnBrk="0" fontAlgn="base" hangingPunct="0">
              <a:spcBef>
                <a:spcPct val="0"/>
              </a:spcBef>
              <a:spcAft>
                <a:spcPct val="0"/>
              </a:spcAft>
              <a:defRPr sz="2000">
                <a:solidFill>
                  <a:srgbClr val="FFFFFF"/>
                </a:solidFill>
                <a:latin typeface="Gill Sans" charset="0"/>
                <a:ea typeface="ヒラギノ角ゴ ProN W3" charset="-128"/>
                <a:sym typeface="Gill Sans" charset="0"/>
              </a:defRPr>
            </a:lvl9pPr>
          </a:lstStyle>
          <a:p>
            <a:pPr eaLnBrk="1" hangingPunct="1">
              <a:defRPr/>
            </a:pPr>
            <a:endParaRPr lang="en-US" altLang="en-US" sz="2025"/>
          </a:p>
        </p:txBody>
      </p:sp>
    </p:spTree>
    <p:extLst>
      <p:ext uri="{BB962C8B-B14F-4D97-AF65-F5344CB8AC3E}">
        <p14:creationId xmlns:p14="http://schemas.microsoft.com/office/powerpoint/2010/main" val="121514853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4050" b="0" i="0" u="none" strike="noStrike" cap="none">
          <a:solidFill>
            <a:srgbClr val="FFFF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800" b="0" i="0" u="none" strike="noStrike" cap="none">
          <a:solidFill>
            <a:schemeClr val="bg1"/>
          </a:solidFill>
          <a:latin typeface="Arial"/>
          <a:ea typeface="Arial"/>
          <a:cs typeface="Arial"/>
          <a:sym typeface="Arial"/>
        </a:defRPr>
      </a:lvl1pPr>
      <a:lvl2pPr marR="0" lvl="1"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788"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tutorialspoint.com/python/list_len.htm" TargetMode="External"/><Relationship Id="rId2" Type="http://schemas.openxmlformats.org/officeDocument/2006/relationships/hyperlink" Target="http://www.tutorialspoint.com/python/list_cmp.htm" TargetMode="External"/><Relationship Id="rId1" Type="http://schemas.openxmlformats.org/officeDocument/2006/relationships/slideLayout" Target="../slideLayouts/slideLayout2.xml"/><Relationship Id="rId6" Type="http://schemas.openxmlformats.org/officeDocument/2006/relationships/hyperlink" Target="http://www.tutorialspoint.com/python/list_list.htm" TargetMode="External"/><Relationship Id="rId5" Type="http://schemas.openxmlformats.org/officeDocument/2006/relationships/hyperlink" Target="http://www.tutorialspoint.com/python/list_min.htm" TargetMode="External"/><Relationship Id="rId4" Type="http://schemas.openxmlformats.org/officeDocument/2006/relationships/hyperlink" Target="http://www.tutorialspoint.com/python/list_max.htm"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www.tutorialspoint.com/python/list_remove.htm" TargetMode="External"/><Relationship Id="rId3" Type="http://schemas.openxmlformats.org/officeDocument/2006/relationships/hyperlink" Target="http://www.tutorialspoint.com/python/list_count.htm" TargetMode="External"/><Relationship Id="rId7" Type="http://schemas.openxmlformats.org/officeDocument/2006/relationships/hyperlink" Target="http://www.tutorialspoint.com/python/list_pop.htm" TargetMode="External"/><Relationship Id="rId2" Type="http://schemas.openxmlformats.org/officeDocument/2006/relationships/hyperlink" Target="http://www.tutorialspoint.com/python/list_append.htm" TargetMode="External"/><Relationship Id="rId1" Type="http://schemas.openxmlformats.org/officeDocument/2006/relationships/slideLayout" Target="../slideLayouts/slideLayout2.xml"/><Relationship Id="rId6" Type="http://schemas.openxmlformats.org/officeDocument/2006/relationships/hyperlink" Target="http://www.tutorialspoint.com/python/list_insert.htm" TargetMode="External"/><Relationship Id="rId5" Type="http://schemas.openxmlformats.org/officeDocument/2006/relationships/hyperlink" Target="http://www.tutorialspoint.com/python/list_index.htm" TargetMode="External"/><Relationship Id="rId10" Type="http://schemas.openxmlformats.org/officeDocument/2006/relationships/hyperlink" Target="http://www.tutorialspoint.com/python/list_sort.htm" TargetMode="External"/><Relationship Id="rId4" Type="http://schemas.openxmlformats.org/officeDocument/2006/relationships/hyperlink" Target="http://www.tutorialspoint.com/python/list_extend.htm" TargetMode="External"/><Relationship Id="rId9" Type="http://schemas.openxmlformats.org/officeDocument/2006/relationships/hyperlink" Target="http://www.tutorialspoint.com/python/list_reverse.ht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www.tutorialspoint.com/python/tuple_len.htm" TargetMode="External"/><Relationship Id="rId2" Type="http://schemas.openxmlformats.org/officeDocument/2006/relationships/hyperlink" Target="http://www.tutorialspoint.com/python/tuple_cmp.htm" TargetMode="External"/><Relationship Id="rId1" Type="http://schemas.openxmlformats.org/officeDocument/2006/relationships/slideLayout" Target="../slideLayouts/slideLayout2.xml"/><Relationship Id="rId6" Type="http://schemas.openxmlformats.org/officeDocument/2006/relationships/hyperlink" Target="http://www.tutorialspoint.com/python/tuple_tuple.htm" TargetMode="External"/><Relationship Id="rId5" Type="http://schemas.openxmlformats.org/officeDocument/2006/relationships/hyperlink" Target="http://www.tutorialspoint.com/python/tuple_min.htm" TargetMode="External"/><Relationship Id="rId4" Type="http://schemas.openxmlformats.org/officeDocument/2006/relationships/hyperlink" Target="http://www.tutorialspoint.com/python/tuple_max.htm"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hyperlink" Target="www.pythonlearn.com"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jpg"/><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hyperlink" Target="www.pythonlearn.com"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1.jpg"/><Relationship Id="rId4" Type="http://schemas.openxmlformats.org/officeDocument/2006/relationships/image" Target="../media/image40.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hyperlink" Target="http://en.wikipedia.org/wiki/Transporter_(Star_Trek)" TargetMode="Externa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3" Type="http://schemas.openxmlformats.org/officeDocument/2006/relationships/hyperlink" Target="http://www.dr-chuck.com/" TargetMode="External"/><Relationship Id="rId2" Type="http://schemas.openxmlformats.org/officeDocument/2006/relationships/notesSlide" Target="../notesSlides/notesSlide55.xml"/><Relationship Id="rId1" Type="http://schemas.openxmlformats.org/officeDocument/2006/relationships/slideLayout" Target="../slideLayouts/slideLayout14.xml"/><Relationship Id="rId6" Type="http://schemas.openxmlformats.org/officeDocument/2006/relationships/image" Target="../media/image40.png"/><Relationship Id="rId5" Type="http://schemas.openxmlformats.org/officeDocument/2006/relationships/image" Target="../media/image41.jpg"/><Relationship Id="rId4" Type="http://schemas.openxmlformats.org/officeDocument/2006/relationships/hyperlink" Target="http://open.umic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418879" y="828676"/>
            <a:ext cx="2707005" cy="663322"/>
          </a:xfrm>
          <a:prstGeom prst="rect">
            <a:avLst/>
          </a:prstGeom>
        </p:spPr>
        <p:txBody>
          <a:bodyPr vert="horz" wrap="square" lIns="0" tIns="21907" rIns="0" bIns="0" rtlCol="0" anchor="ctr">
            <a:spAutoFit/>
          </a:bodyPr>
          <a:lstStyle/>
          <a:p>
            <a:pPr marL="9525" marR="3810" indent="701993">
              <a:lnSpc>
                <a:spcPts val="2497"/>
              </a:lnSpc>
              <a:spcBef>
                <a:spcPts val="172"/>
              </a:spcBef>
            </a:pPr>
            <a:r>
              <a:rPr sz="2100" dirty="0">
                <a:solidFill>
                  <a:srgbClr val="FFFFFF"/>
                </a:solidFill>
              </a:rPr>
              <a:t>Lecture</a:t>
            </a:r>
            <a:r>
              <a:rPr sz="2100" spc="-45" dirty="0">
                <a:solidFill>
                  <a:srgbClr val="FFFFFF"/>
                </a:solidFill>
              </a:rPr>
              <a:t> </a:t>
            </a:r>
            <a:r>
              <a:rPr sz="2100" dirty="0">
                <a:solidFill>
                  <a:srgbClr val="FFFFFF"/>
                </a:solidFill>
              </a:rPr>
              <a:t>#</a:t>
            </a:r>
            <a:r>
              <a:rPr sz="2100" spc="-34" dirty="0">
                <a:solidFill>
                  <a:srgbClr val="FFFFFF"/>
                </a:solidFill>
              </a:rPr>
              <a:t> </a:t>
            </a:r>
            <a:r>
              <a:rPr sz="2100" spc="-38" dirty="0">
                <a:solidFill>
                  <a:srgbClr val="FFFFFF"/>
                </a:solidFill>
              </a:rPr>
              <a:t>1 </a:t>
            </a:r>
            <a:r>
              <a:rPr sz="2100" dirty="0">
                <a:solidFill>
                  <a:srgbClr val="FFFFFF"/>
                </a:solidFill>
              </a:rPr>
              <a:t>Overview</a:t>
            </a:r>
            <a:r>
              <a:rPr sz="2100" spc="-26" dirty="0">
                <a:solidFill>
                  <a:srgbClr val="FFFFFF"/>
                </a:solidFill>
              </a:rPr>
              <a:t> </a:t>
            </a:r>
            <a:r>
              <a:rPr sz="2100" dirty="0">
                <a:solidFill>
                  <a:srgbClr val="FFFFFF"/>
                </a:solidFill>
              </a:rPr>
              <a:t>of</a:t>
            </a:r>
            <a:r>
              <a:rPr sz="2100" spc="-23" dirty="0">
                <a:solidFill>
                  <a:srgbClr val="FFFFFF"/>
                </a:solidFill>
              </a:rPr>
              <a:t> </a:t>
            </a:r>
            <a:r>
              <a:rPr sz="2100" dirty="0">
                <a:solidFill>
                  <a:srgbClr val="FFFFFF"/>
                </a:solidFill>
              </a:rPr>
              <a:t>the</a:t>
            </a:r>
            <a:r>
              <a:rPr sz="2100" spc="-30" dirty="0">
                <a:solidFill>
                  <a:srgbClr val="FFFFFF"/>
                </a:solidFill>
              </a:rPr>
              <a:t> </a:t>
            </a:r>
            <a:r>
              <a:rPr sz="2100" spc="-8" dirty="0">
                <a:solidFill>
                  <a:srgbClr val="FFFFFF"/>
                </a:solidFill>
              </a:rPr>
              <a:t>Course</a:t>
            </a:r>
            <a:endParaRPr sz="2100"/>
          </a:p>
        </p:txBody>
      </p:sp>
      <p:sp>
        <p:nvSpPr>
          <p:cNvPr id="4" name="TextBox 3"/>
          <p:cNvSpPr txBox="1"/>
          <p:nvPr/>
        </p:nvSpPr>
        <p:spPr>
          <a:xfrm>
            <a:off x="1828800" y="3714751"/>
            <a:ext cx="5600700" cy="1569660"/>
          </a:xfrm>
          <a:prstGeom prst="rect">
            <a:avLst/>
          </a:prstGeom>
          <a:noFill/>
        </p:spPr>
        <p:txBody>
          <a:bodyPr wrap="square" rtlCol="0">
            <a:spAutoFit/>
          </a:bodyPr>
          <a:lstStyle/>
          <a:p>
            <a:pPr algn="ctr"/>
            <a:r>
              <a:rPr lang="en-US" sz="2400" dirty="0"/>
              <a:t>DS602 - Tools and Techniques for Data Science</a:t>
            </a:r>
          </a:p>
          <a:p>
            <a:r>
              <a:rPr lang="en-US" sz="2400" dirty="0"/>
              <a:t>			      </a:t>
            </a:r>
            <a:r>
              <a:rPr lang="en-US" sz="2400" dirty="0" smtClean="0"/>
              <a:t>   Lecture </a:t>
            </a:r>
            <a:r>
              <a:rPr lang="en-US" sz="2400" dirty="0"/>
              <a:t># </a:t>
            </a:r>
            <a:r>
              <a:rPr lang="en-US" sz="2400" dirty="0" smtClean="0"/>
              <a:t>4</a:t>
            </a:r>
            <a:endParaRPr lang="en-US" sz="2400" dirty="0"/>
          </a:p>
          <a:p>
            <a:pPr algn="ctr"/>
            <a:r>
              <a:rPr lang="en-US" sz="2400" dirty="0"/>
              <a:t>Danish Hamid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0451" y="1714500"/>
            <a:ext cx="1764506" cy="1457325"/>
          </a:xfrm>
          <a:prstGeom prst="rect">
            <a:avLst/>
          </a:prstGeom>
        </p:spPr>
      </p:pic>
    </p:spTree>
    <p:extLst>
      <p:ext uri="{BB962C8B-B14F-4D97-AF65-F5344CB8AC3E}">
        <p14:creationId xmlns:p14="http://schemas.microsoft.com/office/powerpoint/2010/main" val="2825818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1-Arrays-in-python-1-638.jpg"/>
          <p:cNvPicPr>
            <a:picLocks noChangeAspect="1"/>
          </p:cNvPicPr>
          <p:nvPr/>
        </p:nvPicPr>
        <p:blipFill>
          <a:blip r:embed="rId2"/>
          <a:stretch>
            <a:fillRect/>
          </a:stretch>
        </p:blipFill>
        <p:spPr>
          <a:xfrm>
            <a:off x="0" y="854964"/>
            <a:ext cx="9144000" cy="6858000"/>
          </a:xfrm>
          <a:prstGeom prst="rect">
            <a:avLst/>
          </a:prstGeom>
        </p:spPr>
      </p:pic>
      <p:sp>
        <p:nvSpPr>
          <p:cNvPr id="3" name="Rectangle 2"/>
          <p:cNvSpPr/>
          <p:nvPr/>
        </p:nvSpPr>
        <p:spPr>
          <a:xfrm>
            <a:off x="1568918" y="5650029"/>
            <a:ext cx="4302493" cy="423512"/>
          </a:xfrm>
          <a:prstGeom prst="rect">
            <a:avLst/>
          </a:prstGeom>
          <a:solidFill>
            <a:srgbClr val="D1E4EA"/>
          </a:solidFill>
          <a:ln>
            <a:noFill/>
          </a:ln>
          <a:scene3d>
            <a:camera prst="perspectiveLeft"/>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Arrays-in-python-2-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Arrays-in-python-3-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Arrays-in-python-4-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Arrays-in-python-5-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Arrays-in-python-6-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Arrays-in-python-7-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Arrays-in-python-8-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Arrays-in-python-9-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Arrays-in-python-10-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Arrays-in-python-11-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Arrays-in-python-12-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Arrays-in-python-13-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Arrays-in-python-14-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Arrays-in-python-15-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Arrays-in-python-16-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Arrays-in-python-17-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Arrays-in-python-18-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9-Arrays-in-python-19-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0-Arrays-in-python-20-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1-Arrays-in-python-21-638.jpg"/>
          <p:cNvPicPr>
            <a:picLocks noChangeAspect="1"/>
          </p:cNvPicPr>
          <p:nvPr/>
        </p:nvPicPr>
        <p:blipFill>
          <a:blip r:embed="rId2"/>
          <a:stretch>
            <a:fillRect/>
          </a:stretch>
        </p:blipFill>
        <p:spPr>
          <a:xfrm>
            <a:off x="0" y="854964"/>
            <a:ext cx="9144000" cy="685800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altLang="en-US" b="1" smtClean="0"/>
              <a:t>10. Python - Lists</a:t>
            </a:r>
            <a:endParaRPr lang="en-US" altLang="en-US" smtClean="0"/>
          </a:p>
        </p:txBody>
      </p:sp>
      <p:sp>
        <p:nvSpPr>
          <p:cNvPr id="3075" name="Rectangle 3"/>
          <p:cNvSpPr>
            <a:spLocks noGrp="1" noChangeArrowheads="1"/>
          </p:cNvSpPr>
          <p:nvPr>
            <p:ph type="body" idx="1"/>
          </p:nvPr>
        </p:nvSpPr>
        <p:spPr>
          <a:xfrm>
            <a:off x="609600" y="1371600"/>
            <a:ext cx="8153400" cy="4800600"/>
          </a:xfrm>
        </p:spPr>
        <p:txBody>
          <a:bodyPr/>
          <a:lstStyle/>
          <a:p>
            <a:r>
              <a:rPr lang="en-US" altLang="en-US" sz="2000" dirty="0" smtClean="0"/>
              <a:t>The list is a most versatile datatype available in Python, which can be written as a list of comma-separated values (items) between square brackets. Good thing about a list that items in a list need not all have the same type:</a:t>
            </a:r>
          </a:p>
          <a:p>
            <a:r>
              <a:rPr lang="en-US" altLang="en-US" sz="2000" dirty="0" smtClean="0"/>
              <a:t>Creating a list is as simple as putting different comma-separated values between </a:t>
            </a:r>
            <a:r>
              <a:rPr lang="en-US" altLang="en-US" sz="2000" dirty="0" err="1" smtClean="0"/>
              <a:t>squere</a:t>
            </a:r>
            <a:r>
              <a:rPr lang="en-US" altLang="en-US" sz="2000" dirty="0" smtClean="0"/>
              <a:t> brackets. For example:</a:t>
            </a:r>
          </a:p>
          <a:p>
            <a:pPr>
              <a:buFontTx/>
              <a:buNone/>
            </a:pPr>
            <a:r>
              <a:rPr lang="en-US" altLang="en-US" sz="2000" dirty="0" smtClean="0"/>
              <a:t>	</a:t>
            </a:r>
            <a:r>
              <a:rPr lang="en-US" altLang="en-US" sz="2000" dirty="0" smtClean="0">
                <a:latin typeface="Courier New" panose="02070309020205020404" pitchFamily="49" charset="0"/>
                <a:cs typeface="Courier New" panose="02070309020205020404" pitchFamily="49" charset="0"/>
              </a:rPr>
              <a:t>list1 = ['physics', 'chemistry', 1997, 2000]; </a:t>
            </a:r>
          </a:p>
          <a:p>
            <a:pPr>
              <a:buFontTx/>
              <a:buNone/>
            </a:pPr>
            <a:r>
              <a:rPr lang="en-US" altLang="en-US" sz="2000" dirty="0" smtClean="0">
                <a:latin typeface="Courier New" panose="02070309020205020404" pitchFamily="49" charset="0"/>
                <a:cs typeface="Courier New" panose="02070309020205020404" pitchFamily="49" charset="0"/>
              </a:rPr>
              <a:t>	list2 = [1, 2, 3, 4, 5 ]; </a:t>
            </a:r>
          </a:p>
          <a:p>
            <a:pPr>
              <a:buFontTx/>
              <a:buNone/>
            </a:pPr>
            <a:r>
              <a:rPr lang="en-US" altLang="en-US" sz="2000" dirty="0" smtClean="0">
                <a:latin typeface="Courier New" panose="02070309020205020404" pitchFamily="49" charset="0"/>
                <a:cs typeface="Courier New" panose="02070309020205020404" pitchFamily="49" charset="0"/>
              </a:rPr>
              <a:t>	list3 = ["a", "b", "c", "d"]; </a:t>
            </a:r>
          </a:p>
          <a:p>
            <a:pPr>
              <a:buFontTx/>
              <a:buNone/>
            </a:pPr>
            <a:endParaRPr lang="en-US" altLang="en-US" sz="2000" dirty="0" smtClean="0"/>
          </a:p>
          <a:p>
            <a:pPr>
              <a:buFontTx/>
              <a:buNone/>
            </a:pPr>
            <a:r>
              <a:rPr lang="en-US" altLang="en-US" sz="2000" dirty="0" smtClean="0"/>
              <a:t>	Like string indices, list indices start at 0, and lists can be sliced, concatenated and so on.</a:t>
            </a:r>
          </a:p>
        </p:txBody>
      </p:sp>
    </p:spTree>
    <p:extLst>
      <p:ext uri="{BB962C8B-B14F-4D97-AF65-F5344CB8AC3E}">
        <p14:creationId xmlns:p14="http://schemas.microsoft.com/office/powerpoint/2010/main" val="741451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ltLang="en-US" b="1" smtClean="0"/>
              <a:t>Accessing Values in Lists:</a:t>
            </a:r>
            <a:endParaRPr lang="en-US" altLang="en-US" smtClean="0"/>
          </a:p>
        </p:txBody>
      </p:sp>
      <p:sp>
        <p:nvSpPr>
          <p:cNvPr id="4099" name="Content Placeholder 2"/>
          <p:cNvSpPr>
            <a:spLocks noGrp="1"/>
          </p:cNvSpPr>
          <p:nvPr>
            <p:ph idx="1"/>
          </p:nvPr>
        </p:nvSpPr>
        <p:spPr>
          <a:xfrm>
            <a:off x="609600" y="1371600"/>
            <a:ext cx="8153400" cy="5105400"/>
          </a:xfrm>
        </p:spPr>
        <p:txBody>
          <a:bodyPr/>
          <a:lstStyle/>
          <a:p>
            <a:r>
              <a:rPr lang="en-US" altLang="en-US" sz="2000" smtClean="0"/>
              <a:t>To access values in lists, use the square brackets for slicing along with the index or indices to obtain value available at that index:</a:t>
            </a:r>
          </a:p>
          <a:p>
            <a:r>
              <a:rPr lang="en-US" altLang="en-US" sz="2000" b="1" smtClean="0"/>
              <a:t>Example:</a:t>
            </a:r>
          </a:p>
          <a:p>
            <a:pPr lvl="1">
              <a:buFontTx/>
              <a:buNone/>
            </a:pPr>
            <a:r>
              <a:rPr lang="en-US" altLang="en-US" sz="2000" smtClean="0">
                <a:latin typeface="Courier New" panose="02070309020205020404" pitchFamily="49" charset="0"/>
                <a:cs typeface="Courier New" panose="02070309020205020404" pitchFamily="49" charset="0"/>
              </a:rPr>
              <a:t>list1 = ['physics', 'chemistry', 1997, 2000]; </a:t>
            </a:r>
          </a:p>
          <a:p>
            <a:pPr lvl="1">
              <a:buFontTx/>
              <a:buNone/>
            </a:pPr>
            <a:r>
              <a:rPr lang="en-US" altLang="en-US" sz="2000" smtClean="0">
                <a:latin typeface="Courier New" panose="02070309020205020404" pitchFamily="49" charset="0"/>
                <a:cs typeface="Courier New" panose="02070309020205020404" pitchFamily="49" charset="0"/>
              </a:rPr>
              <a:t>list2 = [1, 2, 3, 4, 5, 6, 7 ]; </a:t>
            </a:r>
          </a:p>
          <a:p>
            <a:pPr lvl="1">
              <a:buFontTx/>
              <a:buNone/>
            </a:pPr>
            <a:r>
              <a:rPr lang="en-US" altLang="en-US" sz="2000" smtClean="0">
                <a:latin typeface="Courier New" panose="02070309020205020404" pitchFamily="49" charset="0"/>
                <a:cs typeface="Courier New" panose="02070309020205020404" pitchFamily="49" charset="0"/>
              </a:rPr>
              <a:t>print "list1[0]: ", list1[0] </a:t>
            </a:r>
          </a:p>
          <a:p>
            <a:pPr lvl="1">
              <a:buFontTx/>
              <a:buNone/>
            </a:pPr>
            <a:r>
              <a:rPr lang="en-US" altLang="en-US" sz="2000" smtClean="0">
                <a:latin typeface="Courier New" panose="02070309020205020404" pitchFamily="49" charset="0"/>
                <a:cs typeface="Courier New" panose="02070309020205020404" pitchFamily="49" charset="0"/>
              </a:rPr>
              <a:t>print "list2[1:5</a:t>
            </a:r>
            <a:r>
              <a:rPr lang="en-US" altLang="en-US" sz="1600" smtClean="0">
                <a:latin typeface="Courier New" panose="02070309020205020404" pitchFamily="49" charset="0"/>
                <a:cs typeface="Courier New" panose="02070309020205020404" pitchFamily="49" charset="0"/>
              </a:rPr>
              <a:t>]: ", list2[1:5] </a:t>
            </a:r>
          </a:p>
          <a:p>
            <a:r>
              <a:rPr lang="en-US" altLang="en-US" sz="2000" smtClean="0"/>
              <a:t>This will produce following result:</a:t>
            </a:r>
          </a:p>
          <a:p>
            <a:pPr lvl="1">
              <a:buFontTx/>
              <a:buNone/>
            </a:pPr>
            <a:r>
              <a:rPr lang="en-US" altLang="en-US" sz="2000" smtClean="0">
                <a:latin typeface="Courier New" panose="02070309020205020404" pitchFamily="49" charset="0"/>
                <a:cs typeface="Courier New" panose="02070309020205020404" pitchFamily="49" charset="0"/>
              </a:rPr>
              <a:t>list1[0]: physics </a:t>
            </a:r>
          </a:p>
          <a:p>
            <a:pPr lvl="1">
              <a:buFontTx/>
              <a:buNone/>
            </a:pPr>
            <a:r>
              <a:rPr lang="en-US" altLang="en-US" sz="2000" smtClean="0">
                <a:latin typeface="Courier New" panose="02070309020205020404" pitchFamily="49" charset="0"/>
                <a:cs typeface="Courier New" panose="02070309020205020404" pitchFamily="49" charset="0"/>
              </a:rPr>
              <a:t>list2[1:5</a:t>
            </a:r>
            <a:r>
              <a:rPr lang="en-US" altLang="en-US" sz="1600" smtClean="0">
                <a:latin typeface="Courier New" panose="02070309020205020404" pitchFamily="49" charset="0"/>
                <a:cs typeface="Courier New" panose="02070309020205020404" pitchFamily="49" charset="0"/>
              </a:rPr>
              <a:t>]: [2, 3, 4, 5] </a:t>
            </a:r>
          </a:p>
        </p:txBody>
      </p:sp>
    </p:spTree>
    <p:extLst>
      <p:ext uri="{BB962C8B-B14F-4D97-AF65-F5344CB8AC3E}">
        <p14:creationId xmlns:p14="http://schemas.microsoft.com/office/powerpoint/2010/main" val="4059330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09600" y="381000"/>
            <a:ext cx="8153400" cy="685800"/>
          </a:xfrm>
        </p:spPr>
        <p:txBody>
          <a:bodyPr>
            <a:normAutofit fontScale="90000"/>
          </a:bodyPr>
          <a:lstStyle/>
          <a:p>
            <a:r>
              <a:rPr lang="en-US" altLang="en-US" b="1" smtClean="0"/>
              <a:t>Updating Lists:</a:t>
            </a:r>
            <a:endParaRPr lang="en-US" altLang="en-US" smtClean="0"/>
          </a:p>
        </p:txBody>
      </p:sp>
      <p:sp>
        <p:nvSpPr>
          <p:cNvPr id="5123" name="Content Placeholder 2"/>
          <p:cNvSpPr>
            <a:spLocks noGrp="1"/>
          </p:cNvSpPr>
          <p:nvPr>
            <p:ph idx="1"/>
          </p:nvPr>
        </p:nvSpPr>
        <p:spPr>
          <a:xfrm>
            <a:off x="609600" y="1295400"/>
            <a:ext cx="8153400" cy="4876800"/>
          </a:xfrm>
        </p:spPr>
        <p:txBody>
          <a:bodyPr>
            <a:normAutofit lnSpcReduction="10000"/>
          </a:bodyPr>
          <a:lstStyle/>
          <a:p>
            <a:r>
              <a:rPr lang="en-US" altLang="en-US" sz="2000" smtClean="0"/>
              <a:t>You can update single or multiple elements of lists by giving the slice on the left-hand side of the assignment operator, and you can add to elements in a list with the append() method:</a:t>
            </a:r>
          </a:p>
          <a:p>
            <a:r>
              <a:rPr lang="en-US" altLang="en-US" sz="2000" b="1" smtClean="0"/>
              <a:t>Example:</a:t>
            </a:r>
          </a:p>
          <a:p>
            <a:pPr lvl="1">
              <a:buFontTx/>
              <a:buNone/>
            </a:pPr>
            <a:r>
              <a:rPr lang="en-US" altLang="en-US" sz="1800" smtClean="0">
                <a:latin typeface="Courier New" panose="02070309020205020404" pitchFamily="49" charset="0"/>
                <a:cs typeface="Courier New" panose="02070309020205020404" pitchFamily="49" charset="0"/>
              </a:rPr>
              <a:t>list1 = ['physics', 'chemistry', 1997, 2000]; </a:t>
            </a:r>
          </a:p>
          <a:p>
            <a:pPr lvl="1">
              <a:buFontTx/>
              <a:buNone/>
            </a:pPr>
            <a:r>
              <a:rPr lang="en-US" altLang="en-US" sz="1800" smtClean="0">
                <a:latin typeface="Courier New" panose="02070309020205020404" pitchFamily="49" charset="0"/>
                <a:cs typeface="Courier New" panose="02070309020205020404" pitchFamily="49" charset="0"/>
              </a:rPr>
              <a:t>print "Value available at index 2 : " </a:t>
            </a:r>
          </a:p>
          <a:p>
            <a:pPr lvl="1">
              <a:buFontTx/>
              <a:buNone/>
            </a:pPr>
            <a:r>
              <a:rPr lang="en-US" altLang="en-US" sz="1800" smtClean="0">
                <a:latin typeface="Courier New" panose="02070309020205020404" pitchFamily="49" charset="0"/>
                <a:cs typeface="Courier New" panose="02070309020205020404" pitchFamily="49" charset="0"/>
              </a:rPr>
              <a:t>print list1[2]; </a:t>
            </a:r>
          </a:p>
          <a:p>
            <a:pPr lvl="1">
              <a:buFontTx/>
              <a:buNone/>
            </a:pPr>
            <a:r>
              <a:rPr lang="en-US" altLang="en-US" sz="1800" smtClean="0">
                <a:latin typeface="Courier New" panose="02070309020205020404" pitchFamily="49" charset="0"/>
                <a:cs typeface="Courier New" panose="02070309020205020404" pitchFamily="49" charset="0"/>
              </a:rPr>
              <a:t>list1[2] = 2001; </a:t>
            </a:r>
          </a:p>
          <a:p>
            <a:pPr lvl="1">
              <a:buFontTx/>
              <a:buNone/>
            </a:pPr>
            <a:r>
              <a:rPr lang="en-US" altLang="en-US" sz="1800" smtClean="0">
                <a:latin typeface="Courier New" panose="02070309020205020404" pitchFamily="49" charset="0"/>
                <a:cs typeface="Courier New" panose="02070309020205020404" pitchFamily="49" charset="0"/>
              </a:rPr>
              <a:t>print "New value available at index 2 : " </a:t>
            </a:r>
          </a:p>
          <a:p>
            <a:pPr lvl="1">
              <a:buFontTx/>
              <a:buNone/>
            </a:pPr>
            <a:r>
              <a:rPr lang="en-US" altLang="en-US" sz="1800" smtClean="0">
                <a:latin typeface="Courier New" panose="02070309020205020404" pitchFamily="49" charset="0"/>
                <a:cs typeface="Courier New" panose="02070309020205020404" pitchFamily="49" charset="0"/>
              </a:rPr>
              <a:t>print list1[2]; </a:t>
            </a:r>
          </a:p>
          <a:p>
            <a:r>
              <a:rPr lang="en-US" altLang="en-US" sz="2000" smtClean="0"/>
              <a:t>This will produce following result:</a:t>
            </a:r>
          </a:p>
          <a:p>
            <a:pPr lvl="1">
              <a:buFontTx/>
              <a:buNone/>
            </a:pPr>
            <a:r>
              <a:rPr lang="en-US" altLang="en-US" sz="1800" smtClean="0">
                <a:latin typeface="Courier New" panose="02070309020205020404" pitchFamily="49" charset="0"/>
                <a:cs typeface="Courier New" panose="02070309020205020404" pitchFamily="49" charset="0"/>
              </a:rPr>
              <a:t>Value available at index 2 : </a:t>
            </a:r>
          </a:p>
          <a:p>
            <a:pPr lvl="1">
              <a:buFontTx/>
              <a:buNone/>
            </a:pPr>
            <a:r>
              <a:rPr lang="en-US" altLang="en-US" sz="1800" smtClean="0">
                <a:latin typeface="Courier New" panose="02070309020205020404" pitchFamily="49" charset="0"/>
                <a:cs typeface="Courier New" panose="02070309020205020404" pitchFamily="49" charset="0"/>
              </a:rPr>
              <a:t>1997 </a:t>
            </a:r>
          </a:p>
          <a:p>
            <a:pPr lvl="1">
              <a:buFontTx/>
              <a:buNone/>
            </a:pPr>
            <a:r>
              <a:rPr lang="en-US" altLang="en-US" sz="1800" smtClean="0">
                <a:latin typeface="Courier New" panose="02070309020205020404" pitchFamily="49" charset="0"/>
                <a:cs typeface="Courier New" panose="02070309020205020404" pitchFamily="49" charset="0"/>
              </a:rPr>
              <a:t>New value available at index 2 : </a:t>
            </a:r>
          </a:p>
          <a:p>
            <a:pPr lvl="1">
              <a:buFontTx/>
              <a:buNone/>
            </a:pPr>
            <a:r>
              <a:rPr lang="en-US" altLang="en-US" sz="1800" smtClean="0">
                <a:latin typeface="Courier New" panose="02070309020205020404" pitchFamily="49" charset="0"/>
                <a:cs typeface="Courier New" panose="02070309020205020404" pitchFamily="49" charset="0"/>
              </a:rPr>
              <a:t>2001 </a:t>
            </a:r>
          </a:p>
        </p:txBody>
      </p:sp>
    </p:spTree>
    <p:extLst>
      <p:ext uri="{BB962C8B-B14F-4D97-AF65-F5344CB8AC3E}">
        <p14:creationId xmlns:p14="http://schemas.microsoft.com/office/powerpoint/2010/main" val="1197123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b="1" smtClean="0"/>
              <a:t>Delete List Elements:</a:t>
            </a:r>
            <a:endParaRPr lang="en-US" altLang="en-US" smtClean="0"/>
          </a:p>
        </p:txBody>
      </p:sp>
      <p:sp>
        <p:nvSpPr>
          <p:cNvPr id="6147" name="Content Placeholder 2"/>
          <p:cNvSpPr>
            <a:spLocks noGrp="1"/>
          </p:cNvSpPr>
          <p:nvPr>
            <p:ph idx="1"/>
          </p:nvPr>
        </p:nvSpPr>
        <p:spPr>
          <a:xfrm>
            <a:off x="609600" y="1371600"/>
            <a:ext cx="8153400" cy="4800600"/>
          </a:xfrm>
        </p:spPr>
        <p:txBody>
          <a:bodyPr/>
          <a:lstStyle/>
          <a:p>
            <a:r>
              <a:rPr lang="en-US" altLang="en-US" sz="2000" smtClean="0"/>
              <a:t>To remove a list element, you can use either the del statement if you know exactly which element(s) you are deleting or the remove() method if you do not know.</a:t>
            </a:r>
          </a:p>
          <a:p>
            <a:r>
              <a:rPr lang="en-US" altLang="en-US" sz="2000" b="1" smtClean="0"/>
              <a:t>Example:</a:t>
            </a:r>
          </a:p>
          <a:p>
            <a:pPr lvl="1">
              <a:buFontTx/>
              <a:buNone/>
            </a:pPr>
            <a:r>
              <a:rPr lang="en-US" altLang="en-US" sz="1800" smtClean="0">
                <a:latin typeface="Courier New" panose="02070309020205020404" pitchFamily="49" charset="0"/>
                <a:cs typeface="Courier New" panose="02070309020205020404" pitchFamily="49" charset="0"/>
              </a:rPr>
              <a:t>list1 = ['physics', 'chemistry', 1997, 2000]; </a:t>
            </a:r>
          </a:p>
          <a:p>
            <a:pPr lvl="1">
              <a:buFontTx/>
              <a:buNone/>
            </a:pPr>
            <a:r>
              <a:rPr lang="en-US" altLang="en-US" sz="1800" smtClean="0">
                <a:latin typeface="Courier New" panose="02070309020205020404" pitchFamily="49" charset="0"/>
                <a:cs typeface="Courier New" panose="02070309020205020404" pitchFamily="49" charset="0"/>
              </a:rPr>
              <a:t>print list1; </a:t>
            </a:r>
          </a:p>
          <a:p>
            <a:pPr lvl="1">
              <a:buFontTx/>
              <a:buNone/>
            </a:pPr>
            <a:r>
              <a:rPr lang="en-US" altLang="en-US" sz="1800" smtClean="0">
                <a:latin typeface="Courier New" panose="02070309020205020404" pitchFamily="49" charset="0"/>
                <a:cs typeface="Courier New" panose="02070309020205020404" pitchFamily="49" charset="0"/>
              </a:rPr>
              <a:t>del list1[2]; </a:t>
            </a:r>
          </a:p>
          <a:p>
            <a:pPr lvl="1">
              <a:buFontTx/>
              <a:buNone/>
            </a:pPr>
            <a:r>
              <a:rPr lang="en-US" altLang="en-US" sz="1800" smtClean="0">
                <a:latin typeface="Courier New" panose="02070309020205020404" pitchFamily="49" charset="0"/>
                <a:cs typeface="Courier New" panose="02070309020205020404" pitchFamily="49" charset="0"/>
              </a:rPr>
              <a:t>print "After deleting value at index 2 : " </a:t>
            </a:r>
          </a:p>
          <a:p>
            <a:pPr lvl="1">
              <a:buFontTx/>
              <a:buNone/>
            </a:pPr>
            <a:r>
              <a:rPr lang="en-US" altLang="en-US" sz="1800" smtClean="0">
                <a:latin typeface="Courier New" panose="02070309020205020404" pitchFamily="49" charset="0"/>
                <a:cs typeface="Courier New" panose="02070309020205020404" pitchFamily="49" charset="0"/>
              </a:rPr>
              <a:t>print list1; </a:t>
            </a:r>
          </a:p>
          <a:p>
            <a:r>
              <a:rPr lang="en-US" altLang="en-US" sz="2000" smtClean="0"/>
              <a:t>This will produce following result:</a:t>
            </a:r>
          </a:p>
          <a:p>
            <a:pPr lvl="1">
              <a:buFontTx/>
              <a:buNone/>
            </a:pPr>
            <a:r>
              <a:rPr lang="en-US" altLang="en-US" sz="1800" smtClean="0">
                <a:latin typeface="Courier New" panose="02070309020205020404" pitchFamily="49" charset="0"/>
                <a:cs typeface="Courier New" panose="02070309020205020404" pitchFamily="49" charset="0"/>
              </a:rPr>
              <a:t>['physics', 'chemistry', 1997, 2000] </a:t>
            </a:r>
          </a:p>
          <a:p>
            <a:pPr lvl="1">
              <a:buFontTx/>
              <a:buNone/>
            </a:pPr>
            <a:r>
              <a:rPr lang="en-US" altLang="en-US" sz="1800" smtClean="0">
                <a:latin typeface="Courier New" panose="02070309020205020404" pitchFamily="49" charset="0"/>
                <a:cs typeface="Courier New" panose="02070309020205020404" pitchFamily="49" charset="0"/>
              </a:rPr>
              <a:t>After deleting value at index 2 : </a:t>
            </a:r>
          </a:p>
          <a:p>
            <a:pPr lvl="1">
              <a:buFontTx/>
              <a:buNone/>
            </a:pPr>
            <a:r>
              <a:rPr lang="en-US" altLang="en-US" sz="1800" smtClean="0">
                <a:latin typeface="Courier New" panose="02070309020205020404" pitchFamily="49" charset="0"/>
                <a:cs typeface="Courier New" panose="02070309020205020404" pitchFamily="49" charset="0"/>
              </a:rPr>
              <a:t>['physics', 'chemistry', 2000] </a:t>
            </a:r>
          </a:p>
        </p:txBody>
      </p:sp>
    </p:spTree>
    <p:extLst>
      <p:ext uri="{BB962C8B-B14F-4D97-AF65-F5344CB8AC3E}">
        <p14:creationId xmlns:p14="http://schemas.microsoft.com/office/powerpoint/2010/main" val="2849088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609600" y="381000"/>
            <a:ext cx="8153400" cy="685800"/>
          </a:xfrm>
        </p:spPr>
        <p:txBody>
          <a:bodyPr>
            <a:normAutofit fontScale="90000"/>
          </a:bodyPr>
          <a:lstStyle/>
          <a:p>
            <a:r>
              <a:rPr lang="en-US" altLang="en-US" b="1" smtClean="0"/>
              <a:t>Basic List Operations:</a:t>
            </a:r>
            <a:endParaRPr lang="en-US" altLang="en-US" smtClean="0"/>
          </a:p>
        </p:txBody>
      </p:sp>
      <p:sp>
        <p:nvSpPr>
          <p:cNvPr id="7171" name="Content Placeholder 2"/>
          <p:cNvSpPr>
            <a:spLocks noGrp="1"/>
          </p:cNvSpPr>
          <p:nvPr>
            <p:ph idx="1"/>
          </p:nvPr>
        </p:nvSpPr>
        <p:spPr>
          <a:xfrm>
            <a:off x="609600" y="1371600"/>
            <a:ext cx="8153400" cy="4800600"/>
          </a:xfrm>
        </p:spPr>
        <p:txBody>
          <a:bodyPr/>
          <a:lstStyle/>
          <a:p>
            <a:r>
              <a:rPr lang="en-US" altLang="en-US" sz="1800" smtClean="0"/>
              <a:t>Lists respond to the + and * operators much like strings; they mean concatenation and repetition here too, except that the result is a new list, not a string.</a:t>
            </a:r>
          </a:p>
          <a:p>
            <a:r>
              <a:rPr lang="en-US" altLang="en-US" sz="1800" smtClean="0"/>
              <a:t>In fact, lists respond to all of the general sequence operations we used on strings in the prior chapter : </a:t>
            </a:r>
          </a:p>
          <a:p>
            <a:pPr>
              <a:buFontTx/>
              <a:buNone/>
            </a:pPr>
            <a:endParaRPr lang="en-US" altLang="en-US" sz="1800" smtClean="0"/>
          </a:p>
        </p:txBody>
      </p:sp>
      <p:graphicFrame>
        <p:nvGraphicFramePr>
          <p:cNvPr id="4" name="Table 3"/>
          <p:cNvGraphicFramePr>
            <a:graphicFrameLocks noGrp="1"/>
          </p:cNvGraphicFramePr>
          <p:nvPr/>
        </p:nvGraphicFramePr>
        <p:xfrm>
          <a:off x="914400" y="3048000"/>
          <a:ext cx="7467600" cy="2971800"/>
        </p:xfrm>
        <a:graphic>
          <a:graphicData uri="http://schemas.openxmlformats.org/drawingml/2006/table">
            <a:tbl>
              <a:tblPr/>
              <a:tblGrid>
                <a:gridCol w="2895600">
                  <a:extLst>
                    <a:ext uri="{9D8B030D-6E8A-4147-A177-3AD203B41FA5}">
                      <a16:colId xmlns:a16="http://schemas.microsoft.com/office/drawing/2014/main" val="821759988"/>
                    </a:ext>
                  </a:extLst>
                </a:gridCol>
                <a:gridCol w="2667000">
                  <a:extLst>
                    <a:ext uri="{9D8B030D-6E8A-4147-A177-3AD203B41FA5}">
                      <a16:colId xmlns:a16="http://schemas.microsoft.com/office/drawing/2014/main" val="2804965745"/>
                    </a:ext>
                  </a:extLst>
                </a:gridCol>
                <a:gridCol w="1905000">
                  <a:extLst>
                    <a:ext uri="{9D8B030D-6E8A-4147-A177-3AD203B41FA5}">
                      <a16:colId xmlns:a16="http://schemas.microsoft.com/office/drawing/2014/main" val="1410151538"/>
                    </a:ext>
                  </a:extLst>
                </a:gridCol>
              </a:tblGrid>
              <a:tr h="495300">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Python Expression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Results</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Description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471308668"/>
                  </a:ext>
                </a:extLst>
              </a:tr>
              <a:tr h="495300">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len([1, 2, 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Length</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181207835"/>
                  </a:ext>
                </a:extLst>
              </a:tr>
              <a:tr h="495300">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[1, 2, 3] + [4, 5, 6]</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[1, 2, 3, 4, 5, 6]</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Concatenation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630606513"/>
                  </a:ext>
                </a:extLst>
              </a:tr>
              <a:tr h="495300">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['Hi!'] * 4</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['Hi!', 'Hi!', 'Hi!', 'Hi!']</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Repetition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143578266"/>
                  </a:ext>
                </a:extLst>
              </a:tr>
              <a:tr h="495300">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3 in [1, 2, 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TRUE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Membership</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60507407"/>
                  </a:ext>
                </a:extLst>
              </a:tr>
              <a:tr h="495300">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for x in [1, 2, 3]: print x,</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1 2 3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Iteration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938312663"/>
                  </a:ext>
                </a:extLst>
              </a:tr>
            </a:tbl>
          </a:graphicData>
        </a:graphic>
      </p:graphicFrame>
    </p:spTree>
    <p:extLst>
      <p:ext uri="{BB962C8B-B14F-4D97-AF65-F5344CB8AC3E}">
        <p14:creationId xmlns:p14="http://schemas.microsoft.com/office/powerpoint/2010/main" val="2023929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09600" y="381000"/>
            <a:ext cx="8153400" cy="609600"/>
          </a:xfrm>
        </p:spPr>
        <p:txBody>
          <a:bodyPr>
            <a:normAutofit fontScale="90000"/>
          </a:bodyPr>
          <a:lstStyle/>
          <a:p>
            <a:r>
              <a:rPr lang="en-US" altLang="en-US" b="1" smtClean="0"/>
              <a:t>Indexing, Slicing, and Matrixes:</a:t>
            </a:r>
            <a:endParaRPr lang="en-US" altLang="en-US" smtClean="0"/>
          </a:p>
        </p:txBody>
      </p:sp>
      <p:sp>
        <p:nvSpPr>
          <p:cNvPr id="8195" name="Content Placeholder 2"/>
          <p:cNvSpPr>
            <a:spLocks noGrp="1"/>
          </p:cNvSpPr>
          <p:nvPr>
            <p:ph idx="1"/>
          </p:nvPr>
        </p:nvSpPr>
        <p:spPr>
          <a:xfrm>
            <a:off x="609600" y="1371600"/>
            <a:ext cx="8534400" cy="4800600"/>
          </a:xfrm>
        </p:spPr>
        <p:txBody>
          <a:bodyPr/>
          <a:lstStyle/>
          <a:p>
            <a:r>
              <a:rPr lang="en-US" altLang="en-US" sz="1800" smtClean="0"/>
              <a:t>Because lists are sequences, indexing and slicing work the same way for lists as they do for strings.</a:t>
            </a:r>
          </a:p>
          <a:p>
            <a:r>
              <a:rPr lang="en-US" altLang="en-US" sz="1800" smtClean="0"/>
              <a:t>Assuming following input:</a:t>
            </a:r>
          </a:p>
          <a:p>
            <a:pPr>
              <a:buFontTx/>
              <a:buNone/>
            </a:pPr>
            <a:r>
              <a:rPr lang="en-US" altLang="en-US" sz="1800" smtClean="0">
                <a:latin typeface="Courier New" panose="02070309020205020404" pitchFamily="49" charset="0"/>
                <a:cs typeface="Courier New" panose="02070309020205020404" pitchFamily="49" charset="0"/>
              </a:rPr>
              <a:t>	L = ['spam', 'Spam', 'SPAM!'] </a:t>
            </a:r>
          </a:p>
          <a:p>
            <a:pPr>
              <a:buFontTx/>
              <a:buNone/>
            </a:pPr>
            <a:endParaRPr lang="en-US" altLang="en-US" sz="1800" smtClean="0"/>
          </a:p>
        </p:txBody>
      </p:sp>
      <p:graphicFrame>
        <p:nvGraphicFramePr>
          <p:cNvPr id="4" name="Table 3"/>
          <p:cNvGraphicFramePr>
            <a:graphicFrameLocks noGrp="1"/>
          </p:cNvGraphicFramePr>
          <p:nvPr/>
        </p:nvGraphicFramePr>
        <p:xfrm>
          <a:off x="990600" y="2743200"/>
          <a:ext cx="7467600" cy="1811422"/>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000"/>
                    </a:ext>
                  </a:extLst>
                </a:gridCol>
                <a:gridCol w="2489200">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438073">
                <a:tc>
                  <a:txBody>
                    <a:bodyPr/>
                    <a:lstStyle/>
                    <a:p>
                      <a:pPr algn="ctr" fontAlgn="ctr"/>
                      <a:r>
                        <a:rPr lang="en-US" sz="1600" b="1" i="0" u="none" strike="noStrike" dirty="0">
                          <a:solidFill>
                            <a:srgbClr val="000000"/>
                          </a:solidFill>
                          <a:latin typeface="Verdana"/>
                        </a:rPr>
                        <a:t>Python Expression</a:t>
                      </a:r>
                    </a:p>
                  </a:txBody>
                  <a:tcPr marL="9525" marR="9525" marT="9523" marB="0" anchor="ctr"/>
                </a:tc>
                <a:tc>
                  <a:txBody>
                    <a:bodyPr/>
                    <a:lstStyle/>
                    <a:p>
                      <a:pPr algn="ctr" fontAlgn="ctr"/>
                      <a:r>
                        <a:rPr lang="en-US" sz="1600" b="1" i="0" u="none" strike="noStrike">
                          <a:solidFill>
                            <a:srgbClr val="000000"/>
                          </a:solidFill>
                          <a:latin typeface="Verdana"/>
                        </a:rPr>
                        <a:t>Results</a:t>
                      </a:r>
                    </a:p>
                  </a:txBody>
                  <a:tcPr marL="9525" marR="9525" marT="9523" marB="0" anchor="ctr"/>
                </a:tc>
                <a:tc>
                  <a:txBody>
                    <a:bodyPr/>
                    <a:lstStyle/>
                    <a:p>
                      <a:pPr algn="ctr" fontAlgn="ctr"/>
                      <a:r>
                        <a:rPr lang="en-US" sz="1600" b="1" i="0" u="none" strike="noStrike">
                          <a:solidFill>
                            <a:srgbClr val="000000"/>
                          </a:solidFill>
                          <a:latin typeface="Verdana"/>
                        </a:rPr>
                        <a:t>Description</a:t>
                      </a:r>
                    </a:p>
                  </a:txBody>
                  <a:tcPr marL="9525" marR="9525" marT="9523" marB="0" anchor="ctr"/>
                </a:tc>
                <a:extLst>
                  <a:ext uri="{0D108BD9-81ED-4DB2-BD59-A6C34878D82A}">
                    <a16:rowId xmlns:a16="http://schemas.microsoft.com/office/drawing/2014/main" val="10000"/>
                  </a:ext>
                </a:extLst>
              </a:tr>
              <a:tr h="438073">
                <a:tc>
                  <a:txBody>
                    <a:bodyPr/>
                    <a:lstStyle/>
                    <a:p>
                      <a:pPr algn="l" fontAlgn="t"/>
                      <a:r>
                        <a:rPr lang="en-US" sz="1600" b="0" i="0" u="none" strike="noStrike" dirty="0">
                          <a:solidFill>
                            <a:srgbClr val="000000"/>
                          </a:solidFill>
                          <a:latin typeface="Verdana"/>
                        </a:rPr>
                        <a:t>L[2]</a:t>
                      </a:r>
                    </a:p>
                  </a:txBody>
                  <a:tcPr marL="9525" marR="9525" marT="9523" marB="0"/>
                </a:tc>
                <a:tc>
                  <a:txBody>
                    <a:bodyPr/>
                    <a:lstStyle/>
                    <a:p>
                      <a:pPr algn="l" fontAlgn="t"/>
                      <a:r>
                        <a:rPr lang="en-US" sz="1600" b="0" i="0" u="none" strike="noStrike">
                          <a:solidFill>
                            <a:srgbClr val="000000"/>
                          </a:solidFill>
                          <a:latin typeface="Verdana"/>
                        </a:rPr>
                        <a:t>'SPAM!'</a:t>
                      </a:r>
                    </a:p>
                  </a:txBody>
                  <a:tcPr marL="9525" marR="9525" marT="9523" marB="0"/>
                </a:tc>
                <a:tc>
                  <a:txBody>
                    <a:bodyPr/>
                    <a:lstStyle/>
                    <a:p>
                      <a:pPr algn="l" fontAlgn="t"/>
                      <a:r>
                        <a:rPr lang="en-US" sz="1600" b="0" i="0" u="none" strike="noStrike">
                          <a:solidFill>
                            <a:srgbClr val="000000"/>
                          </a:solidFill>
                          <a:latin typeface="Verdana"/>
                        </a:rPr>
                        <a:t>Offsets start at zero</a:t>
                      </a:r>
                    </a:p>
                  </a:txBody>
                  <a:tcPr marL="9525" marR="9525" marT="9523" marB="0"/>
                </a:tc>
                <a:extLst>
                  <a:ext uri="{0D108BD9-81ED-4DB2-BD59-A6C34878D82A}">
                    <a16:rowId xmlns:a16="http://schemas.microsoft.com/office/drawing/2014/main" val="10001"/>
                  </a:ext>
                </a:extLst>
              </a:tr>
              <a:tr h="497118">
                <a:tc>
                  <a:txBody>
                    <a:bodyPr/>
                    <a:lstStyle/>
                    <a:p>
                      <a:pPr algn="l" fontAlgn="t"/>
                      <a:r>
                        <a:rPr lang="en-US" sz="1600" b="0" i="0" u="none" strike="noStrike" dirty="0">
                          <a:solidFill>
                            <a:srgbClr val="000000"/>
                          </a:solidFill>
                          <a:latin typeface="Verdana"/>
                        </a:rPr>
                        <a:t>L[-2]</a:t>
                      </a:r>
                    </a:p>
                  </a:txBody>
                  <a:tcPr marL="9525" marR="9525" marT="9523" marB="0"/>
                </a:tc>
                <a:tc>
                  <a:txBody>
                    <a:bodyPr/>
                    <a:lstStyle/>
                    <a:p>
                      <a:pPr algn="l" fontAlgn="t"/>
                      <a:r>
                        <a:rPr lang="en-US" sz="1600" b="0" i="0" u="none" strike="noStrike">
                          <a:solidFill>
                            <a:srgbClr val="000000"/>
                          </a:solidFill>
                          <a:latin typeface="Verdana"/>
                        </a:rPr>
                        <a:t>'Spam'</a:t>
                      </a:r>
                    </a:p>
                  </a:txBody>
                  <a:tcPr marL="9525" marR="9525" marT="9523" marB="0"/>
                </a:tc>
                <a:tc>
                  <a:txBody>
                    <a:bodyPr/>
                    <a:lstStyle/>
                    <a:p>
                      <a:pPr algn="l" fontAlgn="t"/>
                      <a:r>
                        <a:rPr lang="en-US" sz="1600" b="0" i="0" u="none" strike="noStrike">
                          <a:solidFill>
                            <a:srgbClr val="000000"/>
                          </a:solidFill>
                          <a:latin typeface="Verdana"/>
                        </a:rPr>
                        <a:t>Negative: count from the right</a:t>
                      </a:r>
                    </a:p>
                  </a:txBody>
                  <a:tcPr marL="9525" marR="9525" marT="9523" marB="0"/>
                </a:tc>
                <a:extLst>
                  <a:ext uri="{0D108BD9-81ED-4DB2-BD59-A6C34878D82A}">
                    <a16:rowId xmlns:a16="http://schemas.microsoft.com/office/drawing/2014/main" val="10002"/>
                  </a:ext>
                </a:extLst>
              </a:tr>
              <a:tr h="438073">
                <a:tc>
                  <a:txBody>
                    <a:bodyPr/>
                    <a:lstStyle/>
                    <a:p>
                      <a:pPr algn="l" fontAlgn="t"/>
                      <a:r>
                        <a:rPr lang="en-US" sz="1600" b="0" i="0" u="none" strike="noStrike" dirty="0">
                          <a:solidFill>
                            <a:srgbClr val="000000"/>
                          </a:solidFill>
                          <a:latin typeface="Verdana"/>
                        </a:rPr>
                        <a:t>L[1:]</a:t>
                      </a:r>
                    </a:p>
                  </a:txBody>
                  <a:tcPr marL="9525" marR="9525" marT="9523" marB="0"/>
                </a:tc>
                <a:tc>
                  <a:txBody>
                    <a:bodyPr/>
                    <a:lstStyle/>
                    <a:p>
                      <a:pPr algn="l" fontAlgn="t"/>
                      <a:r>
                        <a:rPr lang="en-US" sz="1600" b="0" i="0" u="none" strike="noStrike" dirty="0">
                          <a:solidFill>
                            <a:srgbClr val="000000"/>
                          </a:solidFill>
                          <a:latin typeface="Verdana"/>
                        </a:rPr>
                        <a:t>['Spam', 'SPAM!']</a:t>
                      </a:r>
                    </a:p>
                  </a:txBody>
                  <a:tcPr marL="9525" marR="9525" marT="9523" marB="0"/>
                </a:tc>
                <a:tc>
                  <a:txBody>
                    <a:bodyPr/>
                    <a:lstStyle/>
                    <a:p>
                      <a:pPr algn="l" fontAlgn="t"/>
                      <a:r>
                        <a:rPr lang="en-US" sz="1600" b="0" i="0" u="none" strike="noStrike" dirty="0">
                          <a:solidFill>
                            <a:srgbClr val="000000"/>
                          </a:solidFill>
                          <a:latin typeface="Verdana"/>
                        </a:rPr>
                        <a:t>Slicing fetches sections</a:t>
                      </a:r>
                    </a:p>
                  </a:txBody>
                  <a:tcPr marL="9525" marR="9525" marT="9523"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92792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609600" y="381000"/>
            <a:ext cx="8153400" cy="685800"/>
          </a:xfrm>
        </p:spPr>
        <p:txBody>
          <a:bodyPr>
            <a:normAutofit fontScale="90000"/>
          </a:bodyPr>
          <a:lstStyle/>
          <a:p>
            <a:r>
              <a:rPr lang="en-US" altLang="en-US" b="1" smtClean="0"/>
              <a:t>Built-in List Functions &amp; Methods:</a:t>
            </a:r>
            <a:endParaRPr lang="en-US" altLang="en-US" smtClean="0"/>
          </a:p>
        </p:txBody>
      </p:sp>
      <p:graphicFrame>
        <p:nvGraphicFramePr>
          <p:cNvPr id="4" name="Content Placeholder 3"/>
          <p:cNvGraphicFramePr>
            <a:graphicFrameLocks noGrp="1"/>
          </p:cNvGraphicFramePr>
          <p:nvPr>
            <p:ph idx="1"/>
          </p:nvPr>
        </p:nvGraphicFramePr>
        <p:xfrm>
          <a:off x="609600" y="1600200"/>
          <a:ext cx="8153400" cy="3590925"/>
        </p:xfrm>
        <a:graphic>
          <a:graphicData uri="http://schemas.openxmlformats.org/drawingml/2006/table">
            <a:tbl>
              <a:tblPr/>
              <a:tblGrid>
                <a:gridCol w="990600">
                  <a:extLst>
                    <a:ext uri="{9D8B030D-6E8A-4147-A177-3AD203B41FA5}">
                      <a16:colId xmlns:a16="http://schemas.microsoft.com/office/drawing/2014/main" val="1994830869"/>
                    </a:ext>
                  </a:extLst>
                </a:gridCol>
                <a:gridCol w="7162800">
                  <a:extLst>
                    <a:ext uri="{9D8B030D-6E8A-4147-A177-3AD203B41FA5}">
                      <a16:colId xmlns:a16="http://schemas.microsoft.com/office/drawing/2014/main" val="3123702654"/>
                    </a:ext>
                  </a:extLst>
                </a:gridCol>
              </a:tblGrid>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FFFFFF"/>
                          </a:solidFill>
                          <a:effectLst/>
                          <a:latin typeface="Lucida Sans Unicode" panose="020B0602030504020204" pitchFamily="34" charset="0"/>
                          <a:cs typeface="Lucida Sans Unicode" panose="020B0602030504020204" pitchFamily="34" charset="0"/>
                        </a:rPr>
                        <a:t>SN</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FFFFFF"/>
                          </a:solidFill>
                          <a:effectLst/>
                          <a:latin typeface="Lucida Sans Unicode" panose="020B0602030504020204" pitchFamily="34" charset="0"/>
                          <a:cs typeface="Lucida Sans Unicode" panose="020B0602030504020204" pitchFamily="34" charset="0"/>
                        </a:rPr>
                        <a:t>Function with Description</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373281719"/>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1</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hlinkClick r:id="rId2" action="ppaction://hlinkfile"/>
                        </a:rPr>
                        <a:t>cmp(list1, list2)</a:t>
                      </a: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
                      </a:r>
                      <a:b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b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Compares elements of both lists.</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2493278049"/>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2</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hlinkClick r:id="rId3" action="ppaction://hlinkfile"/>
                        </a:rPr>
                        <a:t>len(list)</a:t>
                      </a: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
                      </a:r>
                      <a:b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b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Gives the total length of the list.</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730745347"/>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3</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hlinkClick r:id="rId4" action="ppaction://hlinkfile"/>
                        </a:rPr>
                        <a:t>max(list)</a:t>
                      </a: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
                      </a:r>
                      <a:b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b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Returns item from the list with max value.</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824503837"/>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4</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hlinkClick r:id="rId5" action="ppaction://hlinkfile"/>
                        </a:rPr>
                        <a:t>min(list)</a:t>
                      </a: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
                      </a:r>
                      <a:b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b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Returns item from the list with min value.</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346086357"/>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5</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hlinkClick r:id="rId6" action="ppaction://hlinkfile"/>
                        </a:rPr>
                        <a:t>list(seq)</a:t>
                      </a: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
                      </a:r>
                      <a:b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br>
                      <a:r>
                        <a:rPr kumimoji="0" lang="en-US" altLang="en-US" sz="1800" b="0" i="0" u="none" strike="noStrike" cap="none" normalizeH="0" baseline="0" smtClean="0">
                          <a:ln>
                            <a:noFill/>
                          </a:ln>
                          <a:solidFill>
                            <a:srgbClr val="000000"/>
                          </a:solidFill>
                          <a:effectLst/>
                          <a:latin typeface="Lucida Sans Unicode" panose="020B0602030504020204" pitchFamily="34" charset="0"/>
                          <a:cs typeface="Lucida Sans Unicode" panose="020B0602030504020204" pitchFamily="34" charset="0"/>
                        </a:rPr>
                        <a:t>Converts a tuple into list.</a:t>
                      </a:r>
                    </a:p>
                  </a:txBody>
                  <a:tcPr marL="47625" marR="47625" marT="47625" marB="4762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536137701"/>
                  </a:ext>
                </a:extLst>
              </a:tr>
            </a:tbl>
          </a:graphicData>
        </a:graphic>
      </p:graphicFrame>
    </p:spTree>
    <p:extLst>
      <p:ext uri="{BB962C8B-B14F-4D97-AF65-F5344CB8AC3E}">
        <p14:creationId xmlns:p14="http://schemas.microsoft.com/office/powerpoint/2010/main" val="3421685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533400" y="609600"/>
          <a:ext cx="8229600" cy="6015042"/>
        </p:xfrm>
        <a:graphic>
          <a:graphicData uri="http://schemas.openxmlformats.org/drawingml/2006/table">
            <a:tbl>
              <a:tblPr/>
              <a:tblGrid>
                <a:gridCol w="533400">
                  <a:extLst>
                    <a:ext uri="{9D8B030D-6E8A-4147-A177-3AD203B41FA5}">
                      <a16:colId xmlns:a16="http://schemas.microsoft.com/office/drawing/2014/main" val="2101183516"/>
                    </a:ext>
                  </a:extLst>
                </a:gridCol>
                <a:gridCol w="7696200">
                  <a:extLst>
                    <a:ext uri="{9D8B030D-6E8A-4147-A177-3AD203B41FA5}">
                      <a16:colId xmlns:a16="http://schemas.microsoft.com/office/drawing/2014/main" val="4024964912"/>
                    </a:ext>
                  </a:extLst>
                </a:gridCol>
              </a:tblGrid>
              <a:tr h="2571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SN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Methods with Description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849422254"/>
                  </a:ext>
                </a:extLst>
              </a:tr>
              <a:tr h="2571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1</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2"/>
                        </a:rPr>
                        <a:t>list.append(obj)</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766747360"/>
                  </a:ext>
                </a:extLst>
              </a:tr>
              <a:tr h="2571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Appends object obj to list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757253778"/>
                  </a:ext>
                </a:extLst>
              </a:tr>
              <a:tr h="2571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2</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3"/>
                        </a:rPr>
                        <a:t>list.count(obj)</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644935463"/>
                  </a:ext>
                </a:extLst>
              </a:tr>
              <a:tr h="2571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Returns count of how many times obj occurs in list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12708581"/>
                  </a:ext>
                </a:extLst>
              </a:tr>
              <a:tr h="2571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4"/>
                        </a:rPr>
                        <a:t>list.extend(seq)</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26359689"/>
                  </a:ext>
                </a:extLst>
              </a:tr>
              <a:tr h="2571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Appends the contents of seq to list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12704126"/>
                  </a:ext>
                </a:extLst>
              </a:tr>
              <a:tr h="2571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4</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5"/>
                        </a:rPr>
                        <a:t>list.index(obj)</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417360007"/>
                  </a:ext>
                </a:extLst>
              </a:tr>
              <a:tr h="2571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Returns the lowest index in list that obj appears</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959014759"/>
                  </a:ext>
                </a:extLst>
              </a:tr>
              <a:tr h="2571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5</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6"/>
                        </a:rPr>
                        <a:t>list.insert(index, obj)</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2424159302"/>
                  </a:ext>
                </a:extLst>
              </a:tr>
              <a:tr h="382588">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Inserts object obj into list at offset index</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86622252"/>
                  </a:ext>
                </a:extLst>
              </a:tr>
              <a:tr h="382588">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6</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7"/>
                        </a:rPr>
                        <a:t>list.pop(obj=list[-1])</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122170617"/>
                  </a:ext>
                </a:extLst>
              </a:tr>
              <a:tr h="382588">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Removes and returns last object or obj from list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895779785"/>
                  </a:ext>
                </a:extLst>
              </a:tr>
              <a:tr h="382588">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7</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8"/>
                        </a:rPr>
                        <a:t>list.remove(obj)</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817973134"/>
                  </a:ext>
                </a:extLst>
              </a:tr>
              <a:tr h="382588">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Removes object obj from list</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701976750"/>
                  </a:ext>
                </a:extLst>
              </a:tr>
              <a:tr h="382588">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8</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9"/>
                        </a:rPr>
                        <a:t>list.reverse()</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408753661"/>
                  </a:ext>
                </a:extLst>
              </a:tr>
              <a:tr h="382588">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Reverses objects of list in place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3173698483"/>
                  </a:ext>
                </a:extLst>
              </a:tr>
              <a:tr h="382588">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9</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10"/>
                        </a:rPr>
                        <a:t>list.sort([func])</a:t>
                      </a:r>
                      <a:endParaRPr kumimoji="0" lang="en-US" altLang="en-US" sz="16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642668249"/>
                  </a:ext>
                </a:extLst>
              </a:tr>
              <a:tr h="382588">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Sorts objects of list, use compare func if given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707368134"/>
                  </a:ext>
                </a:extLst>
              </a:tr>
            </a:tbl>
          </a:graphicData>
        </a:graphic>
      </p:graphicFrame>
    </p:spTree>
    <p:extLst>
      <p:ext uri="{BB962C8B-B14F-4D97-AF65-F5344CB8AC3E}">
        <p14:creationId xmlns:p14="http://schemas.microsoft.com/office/powerpoint/2010/main" val="3594155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b="1" smtClean="0"/>
              <a:t>11. Python - Tuples</a:t>
            </a:r>
            <a:endParaRPr lang="en-US" altLang="en-US" smtClean="0"/>
          </a:p>
        </p:txBody>
      </p:sp>
      <p:sp>
        <p:nvSpPr>
          <p:cNvPr id="11267" name="Content Placeholder 2"/>
          <p:cNvSpPr>
            <a:spLocks noGrp="1"/>
          </p:cNvSpPr>
          <p:nvPr>
            <p:ph idx="1"/>
          </p:nvPr>
        </p:nvSpPr>
        <p:spPr>
          <a:xfrm>
            <a:off x="609600" y="1371600"/>
            <a:ext cx="8153400" cy="4800600"/>
          </a:xfrm>
        </p:spPr>
        <p:txBody>
          <a:bodyPr>
            <a:normAutofit lnSpcReduction="10000"/>
          </a:bodyPr>
          <a:lstStyle/>
          <a:p>
            <a:r>
              <a:rPr lang="en-US" altLang="en-US" sz="1800" smtClean="0"/>
              <a:t>A tuple is a sequence of immutable Python objects. Tuples are sequences, just like lists. The only difference is that tuples can't be changed ie. tuples are immutable and tuples use parentheses and lists use square brackets.</a:t>
            </a:r>
          </a:p>
          <a:p>
            <a:r>
              <a:rPr lang="en-US" altLang="en-US" sz="1800" smtClean="0"/>
              <a:t>Creating a tuple is as simple as putting different comma-separated values and optionally you can put these comma-separated values between parentheses also. For example:</a:t>
            </a:r>
          </a:p>
          <a:p>
            <a:pPr lvl="1">
              <a:buFontTx/>
              <a:buNone/>
            </a:pPr>
            <a:r>
              <a:rPr lang="en-US" altLang="en-US" sz="1600" smtClean="0">
                <a:latin typeface="Courier New" panose="02070309020205020404" pitchFamily="49" charset="0"/>
                <a:cs typeface="Courier New" panose="02070309020205020404" pitchFamily="49" charset="0"/>
              </a:rPr>
              <a:t>tup1 = ('physics', 'chemistry', 1997, 2000); </a:t>
            </a:r>
          </a:p>
          <a:p>
            <a:pPr lvl="1">
              <a:buFontTx/>
              <a:buNone/>
            </a:pPr>
            <a:r>
              <a:rPr lang="en-US" altLang="en-US" sz="1600" smtClean="0">
                <a:latin typeface="Courier New" panose="02070309020205020404" pitchFamily="49" charset="0"/>
                <a:cs typeface="Courier New" panose="02070309020205020404" pitchFamily="49" charset="0"/>
              </a:rPr>
              <a:t>tup2 = (1, 2, 3, 4, 5 ); </a:t>
            </a:r>
          </a:p>
          <a:p>
            <a:pPr lvl="1">
              <a:buFontTx/>
              <a:buNone/>
            </a:pPr>
            <a:r>
              <a:rPr lang="en-US" altLang="en-US" sz="1600" smtClean="0">
                <a:latin typeface="Courier New" panose="02070309020205020404" pitchFamily="49" charset="0"/>
                <a:cs typeface="Courier New" panose="02070309020205020404" pitchFamily="49" charset="0"/>
              </a:rPr>
              <a:t>tup3 = "a", "b", "c", "d"; </a:t>
            </a:r>
          </a:p>
          <a:p>
            <a:pPr>
              <a:buFontTx/>
              <a:buNone/>
            </a:pPr>
            <a:r>
              <a:rPr lang="en-US" altLang="en-US" sz="1800" smtClean="0"/>
              <a:t>The empty tuple is written as two parentheses containing nothing:</a:t>
            </a:r>
          </a:p>
          <a:p>
            <a:pPr>
              <a:buFontTx/>
              <a:buNone/>
            </a:pPr>
            <a:r>
              <a:rPr lang="en-US" altLang="en-US" sz="1800" smtClean="0">
                <a:latin typeface="Courier New" panose="02070309020205020404" pitchFamily="49" charset="0"/>
                <a:cs typeface="Courier New" panose="02070309020205020404" pitchFamily="49" charset="0"/>
              </a:rPr>
              <a:t>	tup1 = (); </a:t>
            </a:r>
          </a:p>
          <a:p>
            <a:pPr>
              <a:buFontTx/>
              <a:buNone/>
            </a:pPr>
            <a:r>
              <a:rPr lang="en-US" altLang="en-US" sz="1800" smtClean="0"/>
              <a:t>To write a tuple containing a single value you have to include a comma, even though there is only one value:</a:t>
            </a:r>
          </a:p>
          <a:p>
            <a:pPr>
              <a:buFontTx/>
              <a:buNone/>
            </a:pPr>
            <a:r>
              <a:rPr lang="en-US" altLang="en-US" sz="1800" smtClean="0">
                <a:latin typeface="Courier New" panose="02070309020205020404" pitchFamily="49" charset="0"/>
                <a:cs typeface="Courier New" panose="02070309020205020404" pitchFamily="49" charset="0"/>
              </a:rPr>
              <a:t>	tup1 = (50,); </a:t>
            </a:r>
          </a:p>
          <a:p>
            <a:r>
              <a:rPr lang="en-US" altLang="en-US" sz="1800" smtClean="0"/>
              <a:t>Like string indices, tuple indices start at 0, and tuples can be sliced, concatenated and so on.</a:t>
            </a:r>
          </a:p>
          <a:p>
            <a:pPr>
              <a:buFontTx/>
              <a:buNone/>
            </a:pPr>
            <a:endParaRPr lang="en-US" altLang="en-US" sz="2000" smtClean="0"/>
          </a:p>
        </p:txBody>
      </p:sp>
    </p:spTree>
    <p:extLst>
      <p:ext uri="{BB962C8B-B14F-4D97-AF65-F5344CB8AC3E}">
        <p14:creationId xmlns:p14="http://schemas.microsoft.com/office/powerpoint/2010/main" val="22396615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09600" y="381000"/>
            <a:ext cx="8153400" cy="685800"/>
          </a:xfrm>
        </p:spPr>
        <p:txBody>
          <a:bodyPr>
            <a:normAutofit fontScale="90000"/>
          </a:bodyPr>
          <a:lstStyle/>
          <a:p>
            <a:r>
              <a:rPr lang="en-US" altLang="en-US" b="1" smtClean="0"/>
              <a:t>Accessing Values in Tuples:</a:t>
            </a:r>
            <a:endParaRPr lang="en-US" altLang="en-US" smtClean="0"/>
          </a:p>
        </p:txBody>
      </p:sp>
      <p:sp>
        <p:nvSpPr>
          <p:cNvPr id="12291" name="Content Placeholder 2"/>
          <p:cNvSpPr>
            <a:spLocks noGrp="1"/>
          </p:cNvSpPr>
          <p:nvPr>
            <p:ph idx="1"/>
          </p:nvPr>
        </p:nvSpPr>
        <p:spPr>
          <a:xfrm>
            <a:off x="609600" y="1371600"/>
            <a:ext cx="8153400" cy="4800600"/>
          </a:xfrm>
        </p:spPr>
        <p:txBody>
          <a:bodyPr/>
          <a:lstStyle/>
          <a:p>
            <a:r>
              <a:rPr lang="en-US" altLang="en-US" sz="2000" smtClean="0"/>
              <a:t>To access values in tuple, use the square brackets for slicing along with the index or indices to obtain value available at that index:</a:t>
            </a:r>
          </a:p>
          <a:p>
            <a:r>
              <a:rPr lang="en-US" altLang="en-US" sz="2000" b="1" smtClean="0"/>
              <a:t>Example:</a:t>
            </a:r>
          </a:p>
          <a:p>
            <a:pPr lvl="1">
              <a:buFontTx/>
              <a:buNone/>
            </a:pPr>
            <a:r>
              <a:rPr lang="en-US" altLang="en-US" sz="1800" smtClean="0">
                <a:latin typeface="Courier New" panose="02070309020205020404" pitchFamily="49" charset="0"/>
                <a:cs typeface="Courier New" panose="02070309020205020404" pitchFamily="49" charset="0"/>
              </a:rPr>
              <a:t>tup1 = ('physics', 'chemistry', 1997, 2000); </a:t>
            </a:r>
          </a:p>
          <a:p>
            <a:pPr lvl="1">
              <a:buFontTx/>
              <a:buNone/>
            </a:pPr>
            <a:r>
              <a:rPr lang="en-US" altLang="en-US" sz="1800" smtClean="0">
                <a:latin typeface="Courier New" panose="02070309020205020404" pitchFamily="49" charset="0"/>
                <a:cs typeface="Courier New" panose="02070309020205020404" pitchFamily="49" charset="0"/>
              </a:rPr>
              <a:t>tup2 = (1, 2, 3, 4, 5, 6, 7 ); </a:t>
            </a:r>
          </a:p>
          <a:p>
            <a:pPr lvl="1">
              <a:buFontTx/>
              <a:buNone/>
            </a:pPr>
            <a:r>
              <a:rPr lang="en-US" altLang="en-US" sz="1800" smtClean="0">
                <a:latin typeface="Courier New" panose="02070309020205020404" pitchFamily="49" charset="0"/>
                <a:cs typeface="Courier New" panose="02070309020205020404" pitchFamily="49" charset="0"/>
              </a:rPr>
              <a:t>print "tup1[0]: ", tup1[0] </a:t>
            </a:r>
          </a:p>
          <a:p>
            <a:pPr lvl="1">
              <a:buFontTx/>
              <a:buNone/>
            </a:pPr>
            <a:r>
              <a:rPr lang="en-US" altLang="en-US" sz="1800" smtClean="0">
                <a:latin typeface="Courier New" panose="02070309020205020404" pitchFamily="49" charset="0"/>
                <a:cs typeface="Courier New" panose="02070309020205020404" pitchFamily="49" charset="0"/>
              </a:rPr>
              <a:t>print "tup2[1:5]: “, tup2[1:5] </a:t>
            </a:r>
          </a:p>
          <a:p>
            <a:r>
              <a:rPr lang="en-US" altLang="en-US" sz="2000" smtClean="0"/>
              <a:t>This will produce following result:</a:t>
            </a:r>
          </a:p>
          <a:p>
            <a:pPr lvl="1">
              <a:buFontTx/>
              <a:buNone/>
            </a:pPr>
            <a:r>
              <a:rPr lang="en-US" altLang="en-US" sz="1800" smtClean="0">
                <a:latin typeface="Courier New" panose="02070309020205020404" pitchFamily="49" charset="0"/>
                <a:cs typeface="Courier New" panose="02070309020205020404" pitchFamily="49" charset="0"/>
              </a:rPr>
              <a:t>tup1[0]: physics</a:t>
            </a:r>
          </a:p>
          <a:p>
            <a:pPr lvl="1">
              <a:buFontTx/>
              <a:buNone/>
            </a:pPr>
            <a:r>
              <a:rPr lang="en-US" altLang="en-US" sz="1800" smtClean="0">
                <a:latin typeface="Courier New" panose="02070309020205020404" pitchFamily="49" charset="0"/>
                <a:cs typeface="Courier New" panose="02070309020205020404" pitchFamily="49" charset="0"/>
              </a:rPr>
              <a:t>tup2[1:5]: [2, 3, 4, 5] </a:t>
            </a:r>
          </a:p>
        </p:txBody>
      </p:sp>
    </p:spTree>
    <p:extLst>
      <p:ext uri="{BB962C8B-B14F-4D97-AF65-F5344CB8AC3E}">
        <p14:creationId xmlns:p14="http://schemas.microsoft.com/office/powerpoint/2010/main" val="2246934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09600" y="381000"/>
            <a:ext cx="8153400" cy="685800"/>
          </a:xfrm>
        </p:spPr>
        <p:txBody>
          <a:bodyPr>
            <a:normAutofit fontScale="90000"/>
          </a:bodyPr>
          <a:lstStyle/>
          <a:p>
            <a:r>
              <a:rPr lang="en-US" altLang="en-US" b="1" smtClean="0"/>
              <a:t>Updating Tuples:</a:t>
            </a:r>
            <a:endParaRPr lang="en-US" altLang="en-US" smtClean="0"/>
          </a:p>
        </p:txBody>
      </p:sp>
      <p:sp>
        <p:nvSpPr>
          <p:cNvPr id="13315" name="Content Placeholder 2"/>
          <p:cNvSpPr>
            <a:spLocks noGrp="1"/>
          </p:cNvSpPr>
          <p:nvPr>
            <p:ph idx="1"/>
          </p:nvPr>
        </p:nvSpPr>
        <p:spPr>
          <a:xfrm>
            <a:off x="609600" y="1295400"/>
            <a:ext cx="8153400" cy="4876800"/>
          </a:xfrm>
        </p:spPr>
        <p:txBody>
          <a:bodyPr/>
          <a:lstStyle/>
          <a:p>
            <a:r>
              <a:rPr lang="en-US" altLang="en-US" sz="2000" smtClean="0"/>
              <a:t>Tuples are immutable which means you cannot update them or change values of tuple elements. But we able able to take portions of an existing tuples to create a new tuples as follows:</a:t>
            </a:r>
          </a:p>
          <a:p>
            <a:r>
              <a:rPr lang="en-US" altLang="en-US" sz="2000" b="1" smtClean="0"/>
              <a:t>Example:</a:t>
            </a:r>
          </a:p>
          <a:p>
            <a:pPr lvl="1">
              <a:buFontTx/>
              <a:buNone/>
            </a:pPr>
            <a:r>
              <a:rPr lang="en-US" altLang="en-US" sz="2000" smtClean="0">
                <a:latin typeface="Courier New" panose="02070309020205020404" pitchFamily="49" charset="0"/>
                <a:cs typeface="Courier New" panose="02070309020205020404" pitchFamily="49" charset="0"/>
              </a:rPr>
              <a:t>tup1 = (12, 34.56); </a:t>
            </a:r>
          </a:p>
          <a:p>
            <a:pPr lvl="1">
              <a:buFontTx/>
              <a:buNone/>
            </a:pPr>
            <a:r>
              <a:rPr lang="en-US" altLang="en-US" sz="2000" smtClean="0">
                <a:latin typeface="Courier New" panose="02070309020205020404" pitchFamily="49" charset="0"/>
                <a:cs typeface="Courier New" panose="02070309020205020404" pitchFamily="49" charset="0"/>
              </a:rPr>
              <a:t>tup2 = ('abc', 'xyz'); </a:t>
            </a:r>
          </a:p>
          <a:p>
            <a:pPr lvl="1">
              <a:buFontTx/>
              <a:buNone/>
            </a:pPr>
            <a:r>
              <a:rPr lang="en-US" altLang="en-US" sz="2000" smtClean="0">
                <a:latin typeface="Courier New" panose="02070309020205020404" pitchFamily="49" charset="0"/>
                <a:cs typeface="Courier New" panose="02070309020205020404" pitchFamily="49" charset="0"/>
              </a:rPr>
              <a:t>tup3 = tup1 + tup2; </a:t>
            </a:r>
          </a:p>
          <a:p>
            <a:pPr lvl="1">
              <a:buFontTx/>
              <a:buNone/>
            </a:pPr>
            <a:r>
              <a:rPr lang="en-US" altLang="en-US" sz="2000" smtClean="0">
                <a:latin typeface="Courier New" panose="02070309020205020404" pitchFamily="49" charset="0"/>
                <a:cs typeface="Courier New" panose="02070309020205020404" pitchFamily="49" charset="0"/>
              </a:rPr>
              <a:t>print tup3; </a:t>
            </a:r>
          </a:p>
          <a:p>
            <a:pPr>
              <a:buFontTx/>
              <a:buNone/>
            </a:pPr>
            <a:r>
              <a:rPr lang="en-US" altLang="en-US" sz="2000" smtClean="0"/>
              <a:t>This will produce following result:</a:t>
            </a:r>
          </a:p>
          <a:p>
            <a:pPr>
              <a:buFontTx/>
              <a:buNone/>
            </a:pPr>
            <a:r>
              <a:rPr lang="en-US" altLang="en-US" sz="2000" smtClean="0">
                <a:latin typeface="Courier New" panose="02070309020205020404" pitchFamily="49" charset="0"/>
                <a:cs typeface="Courier New" panose="02070309020205020404" pitchFamily="49" charset="0"/>
              </a:rPr>
              <a:t>	(12, 34.56, 'abc', 'xyz') </a:t>
            </a:r>
          </a:p>
        </p:txBody>
      </p:sp>
    </p:spTree>
    <p:extLst>
      <p:ext uri="{BB962C8B-B14F-4D97-AF65-F5344CB8AC3E}">
        <p14:creationId xmlns:p14="http://schemas.microsoft.com/office/powerpoint/2010/main" val="3260354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09600" y="381000"/>
            <a:ext cx="8153400" cy="685800"/>
          </a:xfrm>
        </p:spPr>
        <p:txBody>
          <a:bodyPr>
            <a:normAutofit fontScale="90000"/>
          </a:bodyPr>
          <a:lstStyle/>
          <a:p>
            <a:r>
              <a:rPr lang="en-US" altLang="en-US" b="1" smtClean="0"/>
              <a:t>Delete Tuple Elements:</a:t>
            </a:r>
            <a:endParaRPr lang="en-US" altLang="en-US" smtClean="0"/>
          </a:p>
        </p:txBody>
      </p:sp>
      <p:sp>
        <p:nvSpPr>
          <p:cNvPr id="14339" name="Content Placeholder 2"/>
          <p:cNvSpPr>
            <a:spLocks noGrp="1"/>
          </p:cNvSpPr>
          <p:nvPr>
            <p:ph idx="1"/>
          </p:nvPr>
        </p:nvSpPr>
        <p:spPr>
          <a:xfrm>
            <a:off x="609600" y="1371600"/>
            <a:ext cx="8153400" cy="5105400"/>
          </a:xfrm>
        </p:spPr>
        <p:txBody>
          <a:bodyPr/>
          <a:lstStyle/>
          <a:p>
            <a:r>
              <a:rPr lang="en-US" altLang="en-US" sz="2000" smtClean="0"/>
              <a:t>Removing individual tuple elements is not possible. There is, of course, nothing wrong with putting together another tuple with the undesired elements discarded.</a:t>
            </a:r>
          </a:p>
          <a:p>
            <a:r>
              <a:rPr lang="en-US" altLang="en-US" sz="2000" smtClean="0"/>
              <a:t>To explicitly remove an entire tuple, just use the </a:t>
            </a:r>
            <a:r>
              <a:rPr lang="en-US" altLang="en-US" sz="2000" b="1" smtClean="0"/>
              <a:t>del</a:t>
            </a:r>
            <a:r>
              <a:rPr lang="en-US" altLang="en-US" sz="2000" smtClean="0"/>
              <a:t> statement:</a:t>
            </a:r>
          </a:p>
          <a:p>
            <a:r>
              <a:rPr lang="en-US" altLang="en-US" sz="2000" b="1" smtClean="0"/>
              <a:t>Example:</a:t>
            </a:r>
          </a:p>
          <a:p>
            <a:pPr lvl="1">
              <a:buFontTx/>
              <a:buNone/>
            </a:pPr>
            <a:r>
              <a:rPr lang="en-US" altLang="en-US" sz="1800" smtClean="0">
                <a:latin typeface="Courier New" panose="02070309020205020404" pitchFamily="49" charset="0"/>
                <a:cs typeface="Courier New" panose="02070309020205020404" pitchFamily="49" charset="0"/>
              </a:rPr>
              <a:t>tup = ('physics', 'chemistry', 1997, 2000); </a:t>
            </a:r>
          </a:p>
          <a:p>
            <a:pPr lvl="1">
              <a:buFontTx/>
              <a:buNone/>
            </a:pPr>
            <a:r>
              <a:rPr lang="en-US" altLang="en-US" sz="1800" smtClean="0">
                <a:latin typeface="Courier New" panose="02070309020205020404" pitchFamily="49" charset="0"/>
                <a:cs typeface="Courier New" panose="02070309020205020404" pitchFamily="49" charset="0"/>
              </a:rPr>
              <a:t>print tup; </a:t>
            </a:r>
          </a:p>
          <a:p>
            <a:pPr lvl="1">
              <a:buFontTx/>
              <a:buNone/>
            </a:pPr>
            <a:r>
              <a:rPr lang="en-US" altLang="en-US" sz="1800" smtClean="0">
                <a:latin typeface="Courier New" panose="02070309020205020404" pitchFamily="49" charset="0"/>
                <a:cs typeface="Courier New" panose="02070309020205020404" pitchFamily="49" charset="0"/>
              </a:rPr>
              <a:t>del tup; </a:t>
            </a:r>
          </a:p>
          <a:p>
            <a:pPr lvl="1">
              <a:buFontTx/>
              <a:buNone/>
            </a:pPr>
            <a:r>
              <a:rPr lang="en-US" altLang="en-US" sz="1800" smtClean="0">
                <a:latin typeface="Courier New" panose="02070309020205020404" pitchFamily="49" charset="0"/>
                <a:cs typeface="Courier New" panose="02070309020205020404" pitchFamily="49" charset="0"/>
              </a:rPr>
              <a:t>print "After deleting tup : " print tup; </a:t>
            </a:r>
          </a:p>
          <a:p>
            <a:r>
              <a:rPr lang="en-US" altLang="en-US" sz="2000" smtClean="0"/>
              <a:t>This will produce following result. </a:t>
            </a:r>
          </a:p>
          <a:p>
            <a:pPr lvl="1">
              <a:buFontTx/>
              <a:buNone/>
            </a:pPr>
            <a:r>
              <a:rPr lang="en-US" altLang="en-US" sz="1800" smtClean="0">
                <a:latin typeface="Courier New" panose="02070309020205020404" pitchFamily="49" charset="0"/>
                <a:cs typeface="Courier New" panose="02070309020205020404" pitchFamily="49" charset="0"/>
              </a:rPr>
              <a:t>('physics', 'chemistry', 1997, 2000) </a:t>
            </a:r>
          </a:p>
          <a:p>
            <a:pPr lvl="1">
              <a:buFontTx/>
              <a:buNone/>
            </a:pPr>
            <a:r>
              <a:rPr lang="en-US" altLang="en-US" sz="1800" smtClean="0">
                <a:latin typeface="Courier New" panose="02070309020205020404" pitchFamily="49" charset="0"/>
                <a:cs typeface="Courier New" panose="02070309020205020404" pitchFamily="49" charset="0"/>
              </a:rPr>
              <a:t>After deleting tup : Traceback (most recent call last): File "test.py", line 9, in &lt;module&gt; print tup; NameError: name 'tup' is not defined </a:t>
            </a:r>
          </a:p>
        </p:txBody>
      </p:sp>
    </p:spTree>
    <p:extLst>
      <p:ext uri="{BB962C8B-B14F-4D97-AF65-F5344CB8AC3E}">
        <p14:creationId xmlns:p14="http://schemas.microsoft.com/office/powerpoint/2010/main" val="963233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09600" y="381000"/>
            <a:ext cx="8153400" cy="685800"/>
          </a:xfrm>
        </p:spPr>
        <p:txBody>
          <a:bodyPr>
            <a:normAutofit fontScale="90000"/>
          </a:bodyPr>
          <a:lstStyle/>
          <a:p>
            <a:r>
              <a:rPr lang="en-US" altLang="en-US" b="1" smtClean="0"/>
              <a:t>Basic Tuples Operations:</a:t>
            </a:r>
            <a:endParaRPr lang="en-US" altLang="en-US" smtClean="0"/>
          </a:p>
        </p:txBody>
      </p:sp>
      <p:sp>
        <p:nvSpPr>
          <p:cNvPr id="15363" name="Content Placeholder 2"/>
          <p:cNvSpPr>
            <a:spLocks noGrp="1"/>
          </p:cNvSpPr>
          <p:nvPr>
            <p:ph idx="1"/>
          </p:nvPr>
        </p:nvSpPr>
        <p:spPr>
          <a:xfrm>
            <a:off x="609600" y="1371600"/>
            <a:ext cx="8153400" cy="4800600"/>
          </a:xfrm>
        </p:spPr>
        <p:txBody>
          <a:bodyPr/>
          <a:lstStyle/>
          <a:p>
            <a:r>
              <a:rPr lang="en-US" altLang="en-US" sz="2000" smtClean="0"/>
              <a:t>Tuples respond to the + and * operators much like strings; they mean concatenation and repetition here too, except that the result is a new tuple, not a string.</a:t>
            </a:r>
          </a:p>
          <a:p>
            <a:r>
              <a:rPr lang="en-US" altLang="en-US" sz="2000" smtClean="0"/>
              <a:t>In fact, tuples respond to all of the general sequence operations we used on strings in the prior chapter : </a:t>
            </a:r>
          </a:p>
          <a:p>
            <a:pPr>
              <a:buFontTx/>
              <a:buNone/>
            </a:pPr>
            <a:endParaRPr lang="en-US" altLang="en-US" smtClean="0"/>
          </a:p>
        </p:txBody>
      </p:sp>
      <p:graphicFrame>
        <p:nvGraphicFramePr>
          <p:cNvPr id="4" name="Table 3"/>
          <p:cNvGraphicFramePr>
            <a:graphicFrameLocks noGrp="1"/>
          </p:cNvGraphicFramePr>
          <p:nvPr/>
        </p:nvGraphicFramePr>
        <p:xfrm>
          <a:off x="914400" y="3200400"/>
          <a:ext cx="7543800" cy="2415540"/>
        </p:xfrm>
        <a:graphic>
          <a:graphicData uri="http://schemas.openxmlformats.org/drawingml/2006/table">
            <a:tbl>
              <a:tblPr/>
              <a:tblGrid>
                <a:gridCol w="2514600">
                  <a:extLst>
                    <a:ext uri="{9D8B030D-6E8A-4147-A177-3AD203B41FA5}">
                      <a16:colId xmlns:a16="http://schemas.microsoft.com/office/drawing/2014/main" val="3947643942"/>
                    </a:ext>
                  </a:extLst>
                </a:gridCol>
                <a:gridCol w="2514600">
                  <a:extLst>
                    <a:ext uri="{9D8B030D-6E8A-4147-A177-3AD203B41FA5}">
                      <a16:colId xmlns:a16="http://schemas.microsoft.com/office/drawing/2014/main" val="1984698788"/>
                    </a:ext>
                  </a:extLst>
                </a:gridCol>
                <a:gridCol w="2514600">
                  <a:extLst>
                    <a:ext uri="{9D8B030D-6E8A-4147-A177-3AD203B41FA5}">
                      <a16:colId xmlns:a16="http://schemas.microsoft.com/office/drawing/2014/main" val="1903618251"/>
                    </a:ext>
                  </a:extLst>
                </a:gridCol>
              </a:tblGrid>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Python Expression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Results</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Description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059153117"/>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len((1, 2, 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Length</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345317037"/>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(1, 2, 3) + (4, 5, 6)</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(1, 2, 3, 4, 5, 6)</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Concatenation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189079168"/>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['Hi!'] * 4</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('Hi!', 'Hi!', 'Hi!', 'Hi!')</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Repetition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2836936942"/>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3 in (1, 2, 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TRUE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Membership</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790336910"/>
                  </a:ext>
                </a:extLst>
              </a:tr>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for x in (1, 2, 3): print x,</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1 2 3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Iteration</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180607254"/>
                  </a:ext>
                </a:extLst>
              </a:tr>
            </a:tbl>
          </a:graphicData>
        </a:graphic>
      </p:graphicFrame>
    </p:spTree>
    <p:extLst>
      <p:ext uri="{BB962C8B-B14F-4D97-AF65-F5344CB8AC3E}">
        <p14:creationId xmlns:p14="http://schemas.microsoft.com/office/powerpoint/2010/main" val="40368741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609600" y="381000"/>
            <a:ext cx="8153400" cy="685800"/>
          </a:xfrm>
        </p:spPr>
        <p:txBody>
          <a:bodyPr>
            <a:normAutofit fontScale="90000"/>
          </a:bodyPr>
          <a:lstStyle/>
          <a:p>
            <a:r>
              <a:rPr lang="en-US" altLang="en-US" b="1" smtClean="0"/>
              <a:t>Indexing, Slicing, and Matrixes:</a:t>
            </a:r>
            <a:endParaRPr lang="en-US" altLang="en-US" smtClean="0"/>
          </a:p>
        </p:txBody>
      </p:sp>
      <p:sp>
        <p:nvSpPr>
          <p:cNvPr id="16387" name="Content Placeholder 2"/>
          <p:cNvSpPr>
            <a:spLocks noGrp="1"/>
          </p:cNvSpPr>
          <p:nvPr>
            <p:ph idx="1"/>
          </p:nvPr>
        </p:nvSpPr>
        <p:spPr>
          <a:xfrm>
            <a:off x="609600" y="1371600"/>
            <a:ext cx="8153400" cy="5105400"/>
          </a:xfrm>
        </p:spPr>
        <p:txBody>
          <a:bodyPr/>
          <a:lstStyle/>
          <a:p>
            <a:r>
              <a:rPr lang="en-US" altLang="en-US" sz="2000" smtClean="0"/>
              <a:t>Because tuples are sequences, indexing and slicing work the same way for tuples as they do for strings.</a:t>
            </a:r>
          </a:p>
          <a:p>
            <a:r>
              <a:rPr lang="en-US" altLang="en-US" sz="2000" smtClean="0"/>
              <a:t>Assuming following input:</a:t>
            </a:r>
          </a:p>
          <a:p>
            <a:pPr>
              <a:buFontTx/>
              <a:buNone/>
            </a:pPr>
            <a:r>
              <a:rPr lang="en-US" altLang="en-US" sz="2000" smtClean="0">
                <a:latin typeface="Courier New" panose="02070309020205020404" pitchFamily="49" charset="0"/>
                <a:cs typeface="Courier New" panose="02070309020205020404" pitchFamily="49" charset="0"/>
              </a:rPr>
              <a:t>	L = ('spam', 'Spam', 'SPAM!') </a:t>
            </a:r>
          </a:p>
          <a:p>
            <a:pPr>
              <a:buFontTx/>
              <a:buNone/>
            </a:pPr>
            <a:endParaRPr lang="en-US" altLang="en-US" sz="2000" smtClean="0">
              <a:latin typeface="Courier New" panose="02070309020205020404" pitchFamily="49" charset="0"/>
              <a:cs typeface="Courier New" panose="02070309020205020404" pitchFamily="49" charset="0"/>
            </a:endParaRPr>
          </a:p>
          <a:p>
            <a:pPr>
              <a:buFontTx/>
              <a:buNone/>
            </a:pPr>
            <a:endParaRPr lang="en-US" altLang="en-US" smtClean="0"/>
          </a:p>
        </p:txBody>
      </p:sp>
      <p:graphicFrame>
        <p:nvGraphicFramePr>
          <p:cNvPr id="4" name="Table 3"/>
          <p:cNvGraphicFramePr>
            <a:graphicFrameLocks noGrp="1"/>
          </p:cNvGraphicFramePr>
          <p:nvPr/>
        </p:nvGraphicFramePr>
        <p:xfrm>
          <a:off x="838200" y="2895600"/>
          <a:ext cx="7620000" cy="1670258"/>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557953">
                <a:tc>
                  <a:txBody>
                    <a:bodyPr/>
                    <a:lstStyle/>
                    <a:p>
                      <a:pPr algn="ctr" fontAlgn="ctr"/>
                      <a:r>
                        <a:rPr lang="en-US" sz="1800" b="1" i="0" u="none" strike="noStrike" dirty="0">
                          <a:solidFill>
                            <a:srgbClr val="000000"/>
                          </a:solidFill>
                          <a:latin typeface="Verdana"/>
                        </a:rPr>
                        <a:t>Python Expression</a:t>
                      </a:r>
                    </a:p>
                  </a:txBody>
                  <a:tcPr marL="9525" marR="9525" marT="9521" marB="0" anchor="ctr"/>
                </a:tc>
                <a:tc>
                  <a:txBody>
                    <a:bodyPr/>
                    <a:lstStyle/>
                    <a:p>
                      <a:pPr algn="ctr" fontAlgn="ctr"/>
                      <a:r>
                        <a:rPr lang="en-US" sz="1800" b="1" i="0" u="none" strike="noStrike">
                          <a:solidFill>
                            <a:srgbClr val="000000"/>
                          </a:solidFill>
                          <a:latin typeface="Verdana"/>
                        </a:rPr>
                        <a:t>Results</a:t>
                      </a:r>
                    </a:p>
                  </a:txBody>
                  <a:tcPr marL="9525" marR="9525" marT="9521" marB="0" anchor="ctr"/>
                </a:tc>
                <a:tc>
                  <a:txBody>
                    <a:bodyPr/>
                    <a:lstStyle/>
                    <a:p>
                      <a:pPr algn="ctr" fontAlgn="ctr"/>
                      <a:r>
                        <a:rPr lang="en-US" sz="1800" b="1" i="0" u="none" strike="noStrike">
                          <a:solidFill>
                            <a:srgbClr val="000000"/>
                          </a:solidFill>
                          <a:latin typeface="Verdana"/>
                        </a:rPr>
                        <a:t>Description</a:t>
                      </a:r>
                    </a:p>
                  </a:txBody>
                  <a:tcPr marL="9525" marR="9525" marT="9521" marB="0" anchor="ctr"/>
                </a:tc>
                <a:extLst>
                  <a:ext uri="{0D108BD9-81ED-4DB2-BD59-A6C34878D82A}">
                    <a16:rowId xmlns:a16="http://schemas.microsoft.com/office/drawing/2014/main" val="10000"/>
                  </a:ext>
                </a:extLst>
              </a:tr>
              <a:tr h="370699">
                <a:tc>
                  <a:txBody>
                    <a:bodyPr/>
                    <a:lstStyle/>
                    <a:p>
                      <a:pPr algn="l" fontAlgn="t"/>
                      <a:r>
                        <a:rPr lang="en-US" sz="1800" b="0" i="0" u="none" strike="noStrike" dirty="0">
                          <a:solidFill>
                            <a:srgbClr val="000000"/>
                          </a:solidFill>
                          <a:latin typeface="Verdana"/>
                        </a:rPr>
                        <a:t>L[2]</a:t>
                      </a:r>
                    </a:p>
                  </a:txBody>
                  <a:tcPr marL="9525" marR="9525" marT="9521" marB="0"/>
                </a:tc>
                <a:tc>
                  <a:txBody>
                    <a:bodyPr/>
                    <a:lstStyle/>
                    <a:p>
                      <a:pPr algn="l" fontAlgn="t"/>
                      <a:r>
                        <a:rPr lang="en-US" sz="1800" b="0" i="0" u="none" strike="noStrike">
                          <a:solidFill>
                            <a:srgbClr val="000000"/>
                          </a:solidFill>
                          <a:latin typeface="Verdana"/>
                        </a:rPr>
                        <a:t>'SPAM!'</a:t>
                      </a:r>
                    </a:p>
                  </a:txBody>
                  <a:tcPr marL="9525" marR="9525" marT="9521" marB="0"/>
                </a:tc>
                <a:tc>
                  <a:txBody>
                    <a:bodyPr/>
                    <a:lstStyle/>
                    <a:p>
                      <a:pPr algn="l" fontAlgn="t"/>
                      <a:r>
                        <a:rPr lang="en-US" sz="1800" b="0" i="0" u="none" strike="noStrike">
                          <a:solidFill>
                            <a:srgbClr val="000000"/>
                          </a:solidFill>
                          <a:latin typeface="Verdana"/>
                        </a:rPr>
                        <a:t>Offsets start at zero</a:t>
                      </a:r>
                    </a:p>
                  </a:txBody>
                  <a:tcPr marL="9525" marR="9525" marT="9521" marB="0"/>
                </a:tc>
                <a:extLst>
                  <a:ext uri="{0D108BD9-81ED-4DB2-BD59-A6C34878D82A}">
                    <a16:rowId xmlns:a16="http://schemas.microsoft.com/office/drawing/2014/main" val="10001"/>
                  </a:ext>
                </a:extLst>
              </a:tr>
              <a:tr h="370699">
                <a:tc>
                  <a:txBody>
                    <a:bodyPr/>
                    <a:lstStyle/>
                    <a:p>
                      <a:pPr algn="l" fontAlgn="t"/>
                      <a:r>
                        <a:rPr lang="en-US" sz="1800" b="0" i="0" u="none" strike="noStrike" dirty="0">
                          <a:solidFill>
                            <a:srgbClr val="000000"/>
                          </a:solidFill>
                          <a:latin typeface="Verdana"/>
                        </a:rPr>
                        <a:t>L[-2]</a:t>
                      </a:r>
                    </a:p>
                  </a:txBody>
                  <a:tcPr marL="9525" marR="9525" marT="9521" marB="0"/>
                </a:tc>
                <a:tc>
                  <a:txBody>
                    <a:bodyPr/>
                    <a:lstStyle/>
                    <a:p>
                      <a:pPr algn="l" fontAlgn="t"/>
                      <a:r>
                        <a:rPr lang="en-US" sz="1800" b="0" i="0" u="none" strike="noStrike" dirty="0">
                          <a:solidFill>
                            <a:srgbClr val="000000"/>
                          </a:solidFill>
                          <a:latin typeface="Verdana"/>
                        </a:rPr>
                        <a:t>'Spam'</a:t>
                      </a:r>
                    </a:p>
                  </a:txBody>
                  <a:tcPr marL="9525" marR="9525" marT="9521" marB="0"/>
                </a:tc>
                <a:tc>
                  <a:txBody>
                    <a:bodyPr/>
                    <a:lstStyle/>
                    <a:p>
                      <a:pPr algn="l" fontAlgn="t"/>
                      <a:r>
                        <a:rPr lang="en-US" sz="1800" b="0" i="0" u="none" strike="noStrike">
                          <a:solidFill>
                            <a:srgbClr val="000000"/>
                          </a:solidFill>
                          <a:latin typeface="Verdana"/>
                        </a:rPr>
                        <a:t>Negative: count from the right</a:t>
                      </a:r>
                    </a:p>
                  </a:txBody>
                  <a:tcPr marL="9525" marR="9525" marT="9521" marB="0"/>
                </a:tc>
                <a:extLst>
                  <a:ext uri="{0D108BD9-81ED-4DB2-BD59-A6C34878D82A}">
                    <a16:rowId xmlns:a16="http://schemas.microsoft.com/office/drawing/2014/main" val="10002"/>
                  </a:ext>
                </a:extLst>
              </a:tr>
              <a:tr h="370699">
                <a:tc>
                  <a:txBody>
                    <a:bodyPr/>
                    <a:lstStyle/>
                    <a:p>
                      <a:pPr algn="l" fontAlgn="t"/>
                      <a:r>
                        <a:rPr lang="en-US" sz="1800" b="0" i="0" u="none" strike="noStrike">
                          <a:solidFill>
                            <a:srgbClr val="000000"/>
                          </a:solidFill>
                          <a:latin typeface="Verdana"/>
                        </a:rPr>
                        <a:t>L[1:]</a:t>
                      </a:r>
                    </a:p>
                  </a:txBody>
                  <a:tcPr marL="9525" marR="9525" marT="9521" marB="0"/>
                </a:tc>
                <a:tc>
                  <a:txBody>
                    <a:bodyPr/>
                    <a:lstStyle/>
                    <a:p>
                      <a:pPr algn="l" fontAlgn="t"/>
                      <a:r>
                        <a:rPr lang="en-US" sz="1800" b="0" i="0" u="none" strike="noStrike" dirty="0">
                          <a:solidFill>
                            <a:srgbClr val="000000"/>
                          </a:solidFill>
                          <a:latin typeface="Verdana"/>
                        </a:rPr>
                        <a:t>['Spam', 'SPAM!']</a:t>
                      </a:r>
                    </a:p>
                  </a:txBody>
                  <a:tcPr marL="9525" marR="9525" marT="9521" marB="0"/>
                </a:tc>
                <a:tc>
                  <a:txBody>
                    <a:bodyPr/>
                    <a:lstStyle/>
                    <a:p>
                      <a:pPr algn="l" fontAlgn="t"/>
                      <a:r>
                        <a:rPr lang="en-US" sz="1800" b="0" i="0" u="none" strike="noStrike" dirty="0">
                          <a:solidFill>
                            <a:srgbClr val="000000"/>
                          </a:solidFill>
                          <a:latin typeface="Verdana"/>
                        </a:rPr>
                        <a:t>Slicing fetches sections</a:t>
                      </a:r>
                    </a:p>
                  </a:txBody>
                  <a:tcPr marL="9525" marR="9525" marT="9521"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225225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09600" y="381000"/>
            <a:ext cx="8153400" cy="685800"/>
          </a:xfrm>
        </p:spPr>
        <p:txBody>
          <a:bodyPr>
            <a:normAutofit fontScale="90000"/>
          </a:bodyPr>
          <a:lstStyle/>
          <a:p>
            <a:r>
              <a:rPr lang="en-US" altLang="en-US" b="1" smtClean="0"/>
              <a:t>No Enclosing Delimiters:</a:t>
            </a:r>
            <a:endParaRPr lang="en-US" altLang="en-US" smtClean="0"/>
          </a:p>
        </p:txBody>
      </p:sp>
      <p:sp>
        <p:nvSpPr>
          <p:cNvPr id="17411" name="Content Placeholder 2"/>
          <p:cNvSpPr>
            <a:spLocks noGrp="1"/>
          </p:cNvSpPr>
          <p:nvPr>
            <p:ph idx="1"/>
          </p:nvPr>
        </p:nvSpPr>
        <p:spPr>
          <a:xfrm>
            <a:off x="609600" y="1371600"/>
            <a:ext cx="8153400" cy="4800600"/>
          </a:xfrm>
        </p:spPr>
        <p:txBody>
          <a:bodyPr/>
          <a:lstStyle/>
          <a:p>
            <a:r>
              <a:rPr lang="en-US" altLang="en-US" sz="2000" smtClean="0"/>
              <a:t>Any set of multiple objects, comma-separated, written without identifying symbols, i.e., brackets for lists, parentheses for tuples, etc., default to tuples, as indicated in these short examples:</a:t>
            </a:r>
          </a:p>
          <a:p>
            <a:pPr lvl="1">
              <a:buFontTx/>
              <a:buNone/>
            </a:pPr>
            <a:r>
              <a:rPr lang="en-US" altLang="en-US" sz="1800" smtClean="0">
                <a:latin typeface="Courier New" panose="02070309020205020404" pitchFamily="49" charset="0"/>
                <a:cs typeface="Courier New" panose="02070309020205020404" pitchFamily="49" charset="0"/>
              </a:rPr>
              <a:t>print 'abc', -4.24e93, 18+6.6j, 'xyz'; </a:t>
            </a:r>
          </a:p>
          <a:p>
            <a:pPr lvl="1">
              <a:buFontTx/>
              <a:buNone/>
            </a:pPr>
            <a:r>
              <a:rPr lang="en-US" altLang="en-US" sz="1800" smtClean="0">
                <a:latin typeface="Courier New" panose="02070309020205020404" pitchFamily="49" charset="0"/>
                <a:cs typeface="Courier New" panose="02070309020205020404" pitchFamily="49" charset="0"/>
              </a:rPr>
              <a:t>u, v = 1, 2; </a:t>
            </a:r>
          </a:p>
          <a:p>
            <a:pPr lvl="1">
              <a:buFontTx/>
              <a:buNone/>
            </a:pPr>
            <a:r>
              <a:rPr lang="en-US" altLang="en-US" sz="1800" smtClean="0">
                <a:latin typeface="Courier New" panose="02070309020205020404" pitchFamily="49" charset="0"/>
                <a:cs typeface="Courier New" panose="02070309020205020404" pitchFamily="49" charset="0"/>
              </a:rPr>
              <a:t>print "Value of u , v : ", u,v; </a:t>
            </a:r>
          </a:p>
          <a:p>
            <a:pPr lvl="1">
              <a:buFontTx/>
              <a:buNone/>
            </a:pPr>
            <a:r>
              <a:rPr lang="en-US" altLang="en-US" sz="1800" smtClean="0">
                <a:latin typeface="Courier New" panose="02070309020205020404" pitchFamily="49" charset="0"/>
                <a:cs typeface="Courier New" panose="02070309020205020404" pitchFamily="49" charset="0"/>
              </a:rPr>
              <a:t>print var; </a:t>
            </a:r>
          </a:p>
          <a:p>
            <a:r>
              <a:rPr lang="en-US" altLang="en-US" sz="2000" smtClean="0"/>
              <a:t>This will reduce following result:</a:t>
            </a:r>
          </a:p>
          <a:p>
            <a:pPr lvl="1">
              <a:buFontTx/>
              <a:buNone/>
            </a:pPr>
            <a:r>
              <a:rPr lang="en-US" altLang="en-US" sz="1800" smtClean="0">
                <a:latin typeface="Courier New" panose="02070309020205020404" pitchFamily="49" charset="0"/>
                <a:cs typeface="Courier New" panose="02070309020205020404" pitchFamily="49" charset="0"/>
              </a:rPr>
              <a:t>abc -4.24e+93 (18+6.6j) xyz </a:t>
            </a:r>
          </a:p>
          <a:p>
            <a:pPr lvl="1">
              <a:buFontTx/>
              <a:buNone/>
            </a:pPr>
            <a:r>
              <a:rPr lang="en-US" altLang="en-US" sz="1800" smtClean="0">
                <a:latin typeface="Courier New" panose="02070309020205020404" pitchFamily="49" charset="0"/>
                <a:cs typeface="Courier New" panose="02070309020205020404" pitchFamily="49" charset="0"/>
              </a:rPr>
              <a:t>Value of u , v : 1 2 </a:t>
            </a:r>
          </a:p>
        </p:txBody>
      </p:sp>
    </p:spTree>
    <p:extLst>
      <p:ext uri="{BB962C8B-B14F-4D97-AF65-F5344CB8AC3E}">
        <p14:creationId xmlns:p14="http://schemas.microsoft.com/office/powerpoint/2010/main" val="4205350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b="1" smtClean="0"/>
              <a:t>Built-in Tuple Functions:</a:t>
            </a:r>
            <a:endParaRPr lang="en-US" altLang="en-US" smtClean="0"/>
          </a:p>
        </p:txBody>
      </p:sp>
      <p:graphicFrame>
        <p:nvGraphicFramePr>
          <p:cNvPr id="4" name="Content Placeholder 3"/>
          <p:cNvGraphicFramePr>
            <a:graphicFrameLocks noGrp="1"/>
          </p:cNvGraphicFramePr>
          <p:nvPr>
            <p:ph idx="1"/>
          </p:nvPr>
        </p:nvGraphicFramePr>
        <p:xfrm>
          <a:off x="609600" y="1600200"/>
          <a:ext cx="8153400" cy="4086225"/>
        </p:xfrm>
        <a:graphic>
          <a:graphicData uri="http://schemas.openxmlformats.org/drawingml/2006/table">
            <a:tbl>
              <a:tblPr/>
              <a:tblGrid>
                <a:gridCol w="762000">
                  <a:extLst>
                    <a:ext uri="{9D8B030D-6E8A-4147-A177-3AD203B41FA5}">
                      <a16:colId xmlns:a16="http://schemas.microsoft.com/office/drawing/2014/main" val="1513200481"/>
                    </a:ext>
                  </a:extLst>
                </a:gridCol>
                <a:gridCol w="7391400">
                  <a:extLst>
                    <a:ext uri="{9D8B030D-6E8A-4147-A177-3AD203B41FA5}">
                      <a16:colId xmlns:a16="http://schemas.microsoft.com/office/drawing/2014/main" val="3210968626"/>
                    </a:ext>
                  </a:extLst>
                </a:gridCol>
              </a:tblGrid>
              <a:tr h="371475">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SN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Function with Description</a:t>
                      </a:r>
                    </a:p>
                  </a:txBody>
                  <a:tcPr marL="9525" marR="9525" marT="9525"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127793163"/>
                  </a:ext>
                </a:extLst>
              </a:tr>
              <a:tr h="3714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1</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2"/>
                        </a:rPr>
                        <a:t>cmp(tuple1, tuple2)</a:t>
                      </a:r>
                      <a:endPar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948396640"/>
                  </a:ext>
                </a:extLst>
              </a:tr>
              <a:tr h="3714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Compares elements of both tuples.</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86294345"/>
                  </a:ext>
                </a:extLst>
              </a:tr>
              <a:tr h="3714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2</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3"/>
                        </a:rPr>
                        <a:t>len(tuple)</a:t>
                      </a:r>
                      <a:endPar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298022480"/>
                  </a:ext>
                </a:extLst>
              </a:tr>
              <a:tr h="3714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Gives the total length of the tuple.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628379100"/>
                  </a:ext>
                </a:extLst>
              </a:tr>
              <a:tr h="3714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3</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4"/>
                        </a:rPr>
                        <a:t>max(tuple)</a:t>
                      </a:r>
                      <a:endPar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498251648"/>
                  </a:ext>
                </a:extLst>
              </a:tr>
              <a:tr h="3714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Returns item from the tuple with max value.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3801719091"/>
                  </a:ext>
                </a:extLst>
              </a:tr>
              <a:tr h="3714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4</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5"/>
                        </a:rPr>
                        <a:t>min(tuple)</a:t>
                      </a:r>
                      <a:endPar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863671283"/>
                  </a:ext>
                </a:extLst>
              </a:tr>
              <a:tr h="3714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Returns item from the tuple with min value.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602509569"/>
                  </a:ext>
                </a:extLst>
              </a:tr>
              <a:tr h="371475">
                <a:tc rowSpan="2">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5</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hlinkClick r:id="rId6"/>
                        </a:rPr>
                        <a:t>tuple(seq)</a:t>
                      </a:r>
                      <a:endParaRPr kumimoji="0" lang="en-US" altLang="en-US" sz="1800" b="0" i="0" u="sng" strike="noStrike" cap="none" normalizeH="0" baseline="0" smtClean="0">
                        <a:ln>
                          <a:noFill/>
                        </a:ln>
                        <a:solidFill>
                          <a:srgbClr val="0000FF"/>
                        </a:solidFill>
                        <a:effectLst/>
                        <a:latin typeface="Calibri" panose="020F0502020204030204" pitchFamily="34" charset="0"/>
                        <a:cs typeface="Lucida Sans Unicode" panose="020B0602030504020204" pitchFamily="34" charset="0"/>
                      </a:endParaRP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550924955"/>
                  </a:ext>
                </a:extLst>
              </a:tr>
              <a:tr h="371475">
                <a:tc vMerge="1">
                  <a:txBody>
                    <a:bodyPr/>
                    <a:lstStyle/>
                    <a:p>
                      <a:endParaRPr lang="en-US"/>
                    </a:p>
                  </a:txBody>
                  <a:tcPr/>
                </a:tc>
                <a:tc>
                  <a:txBody>
                    <a:bodyPr/>
                    <a:lstStyle>
                      <a:lvl1pPr>
                        <a:spcBef>
                          <a:spcPct val="20000"/>
                        </a:spcBef>
                        <a:defRPr sz="2400">
                          <a:solidFill>
                            <a:schemeClr val="accent2"/>
                          </a:solidFill>
                          <a:latin typeface="Lucida Sans Unicode" panose="020B0602030504020204" pitchFamily="34" charset="0"/>
                          <a:cs typeface="Lucida Sans Unicode" panose="020B0602030504020204" pitchFamily="34" charset="0"/>
                        </a:defRPr>
                      </a:lvl1pPr>
                      <a:lvl2pPr marL="742950" indent="-285750">
                        <a:spcBef>
                          <a:spcPct val="20000"/>
                        </a:spcBef>
                        <a:defRPr sz="2000">
                          <a:solidFill>
                            <a:schemeClr val="accent2"/>
                          </a:solidFill>
                          <a:latin typeface="Lucida Sans Unicode" panose="020B0602030504020204" pitchFamily="34" charset="0"/>
                          <a:cs typeface="Lucida Sans Unicode" panose="020B0602030504020204" pitchFamily="34" charset="0"/>
                        </a:defRPr>
                      </a:lvl2pPr>
                      <a:lvl3pPr marL="1143000" indent="-228600">
                        <a:spcBef>
                          <a:spcPct val="20000"/>
                        </a:spcBef>
                        <a:defRPr sz="1900">
                          <a:solidFill>
                            <a:srgbClr val="666699"/>
                          </a:solidFill>
                          <a:latin typeface="Lucida Sans Unicode" panose="020B0602030504020204" pitchFamily="34" charset="0"/>
                          <a:cs typeface="Lucida Sans Unicode" panose="020B0602030504020204" pitchFamily="34" charset="0"/>
                        </a:defRPr>
                      </a:lvl3pPr>
                      <a:lvl4pPr marL="1600200" indent="-228600">
                        <a:spcBef>
                          <a:spcPct val="20000"/>
                        </a:spcBef>
                        <a:defRPr>
                          <a:solidFill>
                            <a:schemeClr val="accent2"/>
                          </a:solidFill>
                          <a:latin typeface="Lucida Sans Unicode" panose="020B0602030504020204" pitchFamily="34" charset="0"/>
                          <a:cs typeface="Lucida Sans Unicode" panose="020B0602030504020204" pitchFamily="34" charset="0"/>
                        </a:defRPr>
                      </a:lvl4pPr>
                      <a:lvl5pPr marL="2057400" indent="-228600">
                        <a:spcBef>
                          <a:spcPct val="20000"/>
                        </a:spcBef>
                        <a:defRPr>
                          <a:solidFill>
                            <a:srgbClr val="666699"/>
                          </a:solidFill>
                          <a:latin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defRPr>
                          <a:solidFill>
                            <a:srgbClr val="666699"/>
                          </a:solidFill>
                          <a:latin typeface="Lucida Sans Unicode" panose="020B0602030504020204" pitchFamily="34" charset="0"/>
                          <a:cs typeface="Lucida Sans Unicode" panose="020B0602030504020204" pitchFamily="34" charset="0"/>
                        </a:defRPr>
                      </a:lvl9pPr>
                    </a:lstStyle>
                    <a:p>
                      <a:pPr marL="0" marR="0" lvl="0" indent="0" algn="l" defTabSz="914400" rtl="0" eaLnBrk="1" fontAlgn="t"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rgbClr val="000000"/>
                          </a:solidFill>
                          <a:effectLst/>
                          <a:latin typeface="Verdana" panose="020B0604030504040204" pitchFamily="34" charset="0"/>
                          <a:cs typeface="Lucida Sans Unicode" panose="020B0602030504020204" pitchFamily="34" charset="0"/>
                        </a:rPr>
                        <a:t>Converts a list into tuple.</a:t>
                      </a:r>
                    </a:p>
                  </a:txBody>
                  <a:tcPr marL="9525" marR="9525" marT="9525"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790253298"/>
                  </a:ext>
                </a:extLst>
              </a:tr>
            </a:tbl>
          </a:graphicData>
        </a:graphic>
      </p:graphicFrame>
    </p:spTree>
    <p:extLst>
      <p:ext uri="{BB962C8B-B14F-4D97-AF65-F5344CB8AC3E}">
        <p14:creationId xmlns:p14="http://schemas.microsoft.com/office/powerpoint/2010/main" val="33322866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python-conditional-statement-pptx-2-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6768465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python-conditional-statement-pptx-3-638.jpg"/>
          <p:cNvPicPr>
            <a:picLocks noChangeAspect="1"/>
          </p:cNvPicPr>
          <p:nvPr/>
        </p:nvPicPr>
        <p:blipFill>
          <a:blip r:embed="rId2"/>
          <a:stretch>
            <a:fillRect/>
          </a:stretch>
        </p:blipFill>
        <p:spPr>
          <a:xfrm>
            <a:off x="0" y="306324"/>
            <a:ext cx="9144000" cy="6858000"/>
          </a:xfrm>
          <a:prstGeom prst="rect">
            <a:avLst/>
          </a:prstGeom>
        </p:spPr>
      </p:pic>
    </p:spTree>
    <p:extLst>
      <p:ext uri="{BB962C8B-B14F-4D97-AF65-F5344CB8AC3E}">
        <p14:creationId xmlns:p14="http://schemas.microsoft.com/office/powerpoint/2010/main" val="3965260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python-conditional-statement-pptx-4-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92031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python-conditional-statement-pptx-5-638.jpg"/>
          <p:cNvPicPr>
            <a:picLocks noChangeAspect="1"/>
          </p:cNvPicPr>
          <p:nvPr/>
        </p:nvPicPr>
        <p:blipFill>
          <a:blip r:embed="rId2"/>
          <a:stretch>
            <a:fillRect/>
          </a:stretch>
        </p:blipFill>
        <p:spPr>
          <a:xfrm>
            <a:off x="96252" y="0"/>
            <a:ext cx="9144000" cy="6858000"/>
          </a:xfrm>
          <a:prstGeom prst="rect">
            <a:avLst/>
          </a:prstGeom>
        </p:spPr>
      </p:pic>
    </p:spTree>
    <p:extLst>
      <p:ext uri="{BB962C8B-B14F-4D97-AF65-F5344CB8AC3E}">
        <p14:creationId xmlns:p14="http://schemas.microsoft.com/office/powerpoint/2010/main" val="3835692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python-conditional-statement-pptx-6-638.jpg"/>
          <p:cNvPicPr>
            <a:picLocks noChangeAspect="1"/>
          </p:cNvPicPr>
          <p:nvPr/>
        </p:nvPicPr>
        <p:blipFill>
          <a:blip r:embed="rId2"/>
          <a:stretch>
            <a:fillRect/>
          </a:stretch>
        </p:blipFill>
        <p:spPr>
          <a:xfrm>
            <a:off x="0" y="181195"/>
            <a:ext cx="9144000" cy="6858000"/>
          </a:xfrm>
          <a:prstGeom prst="rect">
            <a:avLst/>
          </a:prstGeom>
        </p:spPr>
      </p:pic>
    </p:spTree>
    <p:extLst>
      <p:ext uri="{BB962C8B-B14F-4D97-AF65-F5344CB8AC3E}">
        <p14:creationId xmlns:p14="http://schemas.microsoft.com/office/powerpoint/2010/main" val="28899754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python-conditional-statement-pptx-7-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0348986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python-conditional-statement-pptx-8-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4347274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python-conditional-statement-pptx-9-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7556662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python-conditional-statement-pptx-10-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6476684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python-conditional-statement-pptx-11-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42415739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python-conditional-statement-pptx-12-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6879198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python-conditional-statement-pptx-13-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40449159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python-conditional-statement-pptx-14-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40415555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5-python-conditional-statement-pptx-15-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1080158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6-python-conditional-statement-pptx-16-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6403884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7-python-conditional-statement-pptx-17-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7670446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8-python-conditional-statement-pptx-18-638.jpg"/>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858265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prstGeom prst="rect">
            <a:avLst/>
          </a:prstGeom>
          <a:noFill/>
          <a:ln>
            <a:noFill/>
          </a:ln>
        </p:spPr>
        <p:txBody>
          <a:bodyPr lIns="21431" tIns="21431" rIns="21431" bIns="21431" anchor="b" anchorCtr="0">
            <a:noAutofit/>
          </a:bodyPr>
          <a:lstStyle/>
          <a:p>
            <a:pPr>
              <a:buClr>
                <a:srgbClr val="FF00FF"/>
              </a:buClr>
              <a:buSzPct val="25000"/>
            </a:pPr>
            <a:r>
              <a:rPr lang="en-US" sz="4275" dirty="0">
                <a:solidFill>
                  <a:srgbClr val="FFD966"/>
                </a:solidFill>
                <a:latin typeface="Arial" charset="0"/>
                <a:ea typeface="Arial" charset="0"/>
                <a:cs typeface="Arial" charset="0"/>
                <a:sym typeface="Cabin"/>
              </a:rPr>
              <a:t>Loops and Iteration</a:t>
            </a:r>
          </a:p>
        </p:txBody>
      </p:sp>
    </p:spTree>
    <p:extLst>
      <p:ext uri="{BB962C8B-B14F-4D97-AF65-F5344CB8AC3E}">
        <p14:creationId xmlns:p14="http://schemas.microsoft.com/office/powerpoint/2010/main" val="11505477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prstGeom prst="rect">
            <a:avLst/>
          </a:prstGeom>
          <a:noFill/>
          <a:ln>
            <a:noFill/>
          </a:ln>
        </p:spPr>
        <p:txBody>
          <a:bodyPr lIns="21431" tIns="21431" rIns="21431" bIns="21431" anchor="b" anchorCtr="0">
            <a:noAutofit/>
          </a:bodyPr>
          <a:lstStyle/>
          <a:p>
            <a:pPr>
              <a:buClr>
                <a:srgbClr val="FF00FF"/>
              </a:buClr>
              <a:buSzPct val="25000"/>
            </a:pPr>
            <a:r>
              <a:rPr lang="en-US" sz="4275" dirty="0">
                <a:solidFill>
                  <a:srgbClr val="FFD966"/>
                </a:solidFill>
                <a:latin typeface="Arial" charset="0"/>
                <a:ea typeface="Arial" charset="0"/>
                <a:cs typeface="Arial" charset="0"/>
                <a:sym typeface="Cabin"/>
              </a:rPr>
              <a:t>Loops and Iteration</a:t>
            </a:r>
          </a:p>
        </p:txBody>
      </p:sp>
      <p:sp>
        <p:nvSpPr>
          <p:cNvPr id="204" name="Shape 204"/>
          <p:cNvSpPr txBox="1">
            <a:spLocks noGrp="1"/>
          </p:cNvSpPr>
          <p:nvPr>
            <p:ph type="body" idx="1"/>
          </p:nvPr>
        </p:nvSpPr>
        <p:spPr>
          <a:prstGeom prst="rect">
            <a:avLst/>
          </a:prstGeom>
          <a:noFill/>
          <a:ln>
            <a:noFill/>
          </a:ln>
        </p:spPr>
        <p:txBody>
          <a:bodyPr lIns="21431" tIns="21431" rIns="21431" bIns="21431" anchor="t" anchorCtr="0">
            <a:noAutofit/>
          </a:bodyPr>
          <a:lstStyle/>
          <a:p>
            <a:pPr marL="0" indent="0">
              <a:buClr>
                <a:schemeClr val="lt1"/>
              </a:buClr>
              <a:buSzPct val="25000"/>
            </a:pPr>
            <a:r>
              <a:rPr lang="en-US" sz="2700" dirty="0">
                <a:solidFill>
                  <a:schemeClr val="lt1"/>
                </a:solidFill>
                <a:latin typeface="Arial" charset="0"/>
                <a:ea typeface="Arial" charset="0"/>
                <a:cs typeface="Arial" charset="0"/>
                <a:sym typeface="Cabin"/>
              </a:rPr>
              <a:t>Chapter 5</a:t>
            </a:r>
          </a:p>
        </p:txBody>
      </p:sp>
      <p:sp>
        <p:nvSpPr>
          <p:cNvPr id="205" name="Shape 205"/>
          <p:cNvSpPr txBox="1"/>
          <p:nvPr/>
        </p:nvSpPr>
        <p:spPr>
          <a:xfrm>
            <a:off x="2213016" y="4771954"/>
            <a:ext cx="4710824" cy="571556"/>
          </a:xfrm>
          <a:prstGeom prst="rect">
            <a:avLst/>
          </a:prstGeom>
          <a:noFill/>
          <a:ln>
            <a:noFill/>
          </a:ln>
        </p:spPr>
        <p:txBody>
          <a:bodyPr lIns="0" tIns="0" rIns="0" bIns="0" anchor="ctr" anchorCtr="0">
            <a:noAutofit/>
          </a:bodyPr>
          <a:lstStyle/>
          <a:p>
            <a:pPr algn="ctr" defTabSz="514350">
              <a:buClr>
                <a:srgbClr val="FFFF00"/>
              </a:buClr>
              <a:buSzPct val="25000"/>
            </a:pPr>
            <a:r>
              <a:rPr lang="en-US" kern="0" dirty="0">
                <a:solidFill>
                  <a:srgbClr val="FFFF00"/>
                </a:solidFill>
                <a:latin typeface="Arial" charset="0"/>
                <a:ea typeface="Arial" charset="0"/>
                <a:cs typeface="Arial" charset="0"/>
                <a:sym typeface="Cabin"/>
              </a:rPr>
              <a:t>Python for Everybody</a:t>
            </a:r>
          </a:p>
          <a:p>
            <a:pPr algn="ctr" defTabSz="514350">
              <a:buClr>
                <a:srgbClr val="FFFF00"/>
              </a:buClr>
              <a:buSzPct val="25000"/>
            </a:pPr>
            <a:r>
              <a:rPr lang="en-US" u="sng" kern="0" dirty="0">
                <a:solidFill>
                  <a:srgbClr val="FFFF00"/>
                </a:solidFill>
                <a:latin typeface="Arial" charset="0"/>
                <a:ea typeface="Arial" charset="0"/>
                <a:cs typeface="Arial" charset="0"/>
                <a:sym typeface="Cabin"/>
                <a:hlinkClick r:id="rId3"/>
              </a:rPr>
              <a:t>www.py4e.com</a:t>
            </a:r>
          </a:p>
        </p:txBody>
      </p:sp>
      <p:pic>
        <p:nvPicPr>
          <p:cNvPr id="206" name="Shape 206"/>
          <p:cNvPicPr preferRelativeResize="0"/>
          <p:nvPr/>
        </p:nvPicPr>
        <p:blipFill rotWithShape="1">
          <a:blip r:embed="rId4">
            <a:alphaModFix/>
          </a:blip>
          <a:srcRect/>
          <a:stretch/>
        </p:blipFill>
        <p:spPr>
          <a:xfrm>
            <a:off x="7729066" y="4967535"/>
            <a:ext cx="1107337" cy="375975"/>
          </a:xfrm>
          <a:prstGeom prst="rect">
            <a:avLst/>
          </a:prstGeom>
          <a:noFill/>
          <a:ln>
            <a:noFill/>
          </a:ln>
        </p:spPr>
      </p:pic>
      <p:pic>
        <p:nvPicPr>
          <p:cNvPr id="6" name="Shape 208"/>
          <p:cNvPicPr preferRelativeResize="0"/>
          <p:nvPr/>
        </p:nvPicPr>
        <p:blipFill rotWithShape="1">
          <a:blip r:embed="rId5">
            <a:alphaModFix/>
          </a:blip>
          <a:srcRect/>
          <a:stretch/>
        </p:blipFill>
        <p:spPr>
          <a:xfrm>
            <a:off x="357328" y="4765267"/>
            <a:ext cx="576450" cy="576450"/>
          </a:xfrm>
          <a:prstGeom prst="rect">
            <a:avLst/>
          </a:prstGeom>
          <a:noFill/>
          <a:ln>
            <a:noFill/>
          </a:ln>
        </p:spPr>
      </p:pic>
      <p:pic>
        <p:nvPicPr>
          <p:cNvPr id="2" name="Picture 1"/>
          <p:cNvPicPr>
            <a:picLocks noChangeAspect="1"/>
          </p:cNvPicPr>
          <p:nvPr/>
        </p:nvPicPr>
        <p:blipFill>
          <a:blip r:embed="rId6"/>
          <a:stretch>
            <a:fillRect/>
          </a:stretch>
        </p:blipFill>
        <p:spPr>
          <a:xfrm>
            <a:off x="-17676" y="883394"/>
            <a:ext cx="9115082" cy="4895899"/>
          </a:xfrm>
          <a:prstGeom prst="rect">
            <a:avLst/>
          </a:prstGeom>
        </p:spPr>
      </p:pic>
    </p:spTree>
    <p:extLst>
      <p:ext uri="{BB962C8B-B14F-4D97-AF65-F5344CB8AC3E}">
        <p14:creationId xmlns:p14="http://schemas.microsoft.com/office/powerpoint/2010/main" val="10345309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prstGeom prst="rect">
            <a:avLst/>
          </a:prstGeom>
          <a:noFill/>
          <a:ln>
            <a:noFill/>
          </a:ln>
        </p:spPr>
        <p:txBody>
          <a:bodyPr lIns="21431" tIns="21431" rIns="21431" bIns="21431" anchor="b" anchorCtr="0">
            <a:noAutofit/>
          </a:bodyPr>
          <a:lstStyle/>
          <a:p>
            <a:pPr>
              <a:buClr>
                <a:srgbClr val="FF00FF"/>
              </a:buClr>
              <a:buSzPct val="25000"/>
            </a:pPr>
            <a:r>
              <a:rPr lang="en-US" sz="4275" dirty="0">
                <a:solidFill>
                  <a:srgbClr val="FFD966"/>
                </a:solidFill>
                <a:latin typeface="Arial" charset="0"/>
                <a:ea typeface="Arial" charset="0"/>
                <a:cs typeface="Arial" charset="0"/>
                <a:sym typeface="Cabin"/>
              </a:rPr>
              <a:t>Loops and Iteration</a:t>
            </a:r>
          </a:p>
        </p:txBody>
      </p:sp>
      <p:sp>
        <p:nvSpPr>
          <p:cNvPr id="204" name="Shape 204"/>
          <p:cNvSpPr txBox="1">
            <a:spLocks noGrp="1"/>
          </p:cNvSpPr>
          <p:nvPr>
            <p:ph type="body" idx="1"/>
          </p:nvPr>
        </p:nvSpPr>
        <p:spPr>
          <a:prstGeom prst="rect">
            <a:avLst/>
          </a:prstGeom>
          <a:noFill/>
          <a:ln>
            <a:noFill/>
          </a:ln>
        </p:spPr>
        <p:txBody>
          <a:bodyPr lIns="21431" tIns="21431" rIns="21431" bIns="21431" anchor="t" anchorCtr="0">
            <a:noAutofit/>
          </a:bodyPr>
          <a:lstStyle/>
          <a:p>
            <a:pPr marL="0" indent="0">
              <a:buClr>
                <a:schemeClr val="lt1"/>
              </a:buClr>
              <a:buSzPct val="25000"/>
            </a:pPr>
            <a:r>
              <a:rPr lang="en-US" sz="2700" dirty="0">
                <a:solidFill>
                  <a:schemeClr val="lt1"/>
                </a:solidFill>
                <a:latin typeface="Arial" charset="0"/>
                <a:ea typeface="Arial" charset="0"/>
                <a:cs typeface="Arial" charset="0"/>
                <a:sym typeface="Cabin"/>
              </a:rPr>
              <a:t>Chapter 5</a:t>
            </a:r>
          </a:p>
        </p:txBody>
      </p:sp>
      <p:sp>
        <p:nvSpPr>
          <p:cNvPr id="205" name="Shape 205"/>
          <p:cNvSpPr txBox="1"/>
          <p:nvPr/>
        </p:nvSpPr>
        <p:spPr>
          <a:xfrm>
            <a:off x="2213016" y="4771954"/>
            <a:ext cx="4710824" cy="571556"/>
          </a:xfrm>
          <a:prstGeom prst="rect">
            <a:avLst/>
          </a:prstGeom>
          <a:noFill/>
          <a:ln>
            <a:noFill/>
          </a:ln>
        </p:spPr>
        <p:txBody>
          <a:bodyPr lIns="0" tIns="0" rIns="0" bIns="0" anchor="ctr" anchorCtr="0">
            <a:noAutofit/>
          </a:bodyPr>
          <a:lstStyle/>
          <a:p>
            <a:pPr algn="ctr" defTabSz="514350">
              <a:buClr>
                <a:srgbClr val="FFFF00"/>
              </a:buClr>
              <a:buSzPct val="25000"/>
            </a:pPr>
            <a:r>
              <a:rPr lang="en-US" kern="0" dirty="0">
                <a:solidFill>
                  <a:srgbClr val="FFFF00"/>
                </a:solidFill>
                <a:latin typeface="Arial" charset="0"/>
                <a:ea typeface="Arial" charset="0"/>
                <a:cs typeface="Arial" charset="0"/>
                <a:sym typeface="Cabin"/>
              </a:rPr>
              <a:t>Python for Everybody</a:t>
            </a:r>
          </a:p>
          <a:p>
            <a:pPr algn="ctr" defTabSz="514350">
              <a:buClr>
                <a:srgbClr val="FFFF00"/>
              </a:buClr>
              <a:buSzPct val="25000"/>
            </a:pPr>
            <a:r>
              <a:rPr lang="en-US" u="sng" kern="0" dirty="0">
                <a:solidFill>
                  <a:srgbClr val="FFFF00"/>
                </a:solidFill>
                <a:latin typeface="Arial" charset="0"/>
                <a:ea typeface="Arial" charset="0"/>
                <a:cs typeface="Arial" charset="0"/>
                <a:sym typeface="Cabin"/>
                <a:hlinkClick r:id="rId3"/>
              </a:rPr>
              <a:t>www.py4e.com</a:t>
            </a:r>
          </a:p>
        </p:txBody>
      </p:sp>
      <p:pic>
        <p:nvPicPr>
          <p:cNvPr id="206" name="Shape 206"/>
          <p:cNvPicPr preferRelativeResize="0"/>
          <p:nvPr/>
        </p:nvPicPr>
        <p:blipFill rotWithShape="1">
          <a:blip r:embed="rId4">
            <a:alphaModFix/>
          </a:blip>
          <a:srcRect/>
          <a:stretch/>
        </p:blipFill>
        <p:spPr>
          <a:xfrm>
            <a:off x="7729066" y="4967535"/>
            <a:ext cx="1107337" cy="375975"/>
          </a:xfrm>
          <a:prstGeom prst="rect">
            <a:avLst/>
          </a:prstGeom>
          <a:noFill/>
          <a:ln>
            <a:noFill/>
          </a:ln>
        </p:spPr>
      </p:pic>
      <p:pic>
        <p:nvPicPr>
          <p:cNvPr id="6" name="Shape 208"/>
          <p:cNvPicPr preferRelativeResize="0"/>
          <p:nvPr/>
        </p:nvPicPr>
        <p:blipFill rotWithShape="1">
          <a:blip r:embed="rId5">
            <a:alphaModFix/>
          </a:blip>
          <a:srcRect/>
          <a:stretch/>
        </p:blipFill>
        <p:spPr>
          <a:xfrm>
            <a:off x="357328" y="4765267"/>
            <a:ext cx="576450" cy="576450"/>
          </a:xfrm>
          <a:prstGeom prst="rect">
            <a:avLst/>
          </a:prstGeom>
          <a:noFill/>
          <a:ln>
            <a:noFill/>
          </a:ln>
        </p:spPr>
      </p:pic>
      <p:pic>
        <p:nvPicPr>
          <p:cNvPr id="3" name="Picture 2"/>
          <p:cNvPicPr>
            <a:picLocks noChangeAspect="1"/>
          </p:cNvPicPr>
          <p:nvPr/>
        </p:nvPicPr>
        <p:blipFill>
          <a:blip r:embed="rId6"/>
          <a:stretch>
            <a:fillRect/>
          </a:stretch>
        </p:blipFill>
        <p:spPr>
          <a:xfrm>
            <a:off x="100012" y="857251"/>
            <a:ext cx="9043988" cy="5571044"/>
          </a:xfrm>
          <a:prstGeom prst="rect">
            <a:avLst/>
          </a:prstGeom>
        </p:spPr>
      </p:pic>
    </p:spTree>
    <p:extLst>
      <p:ext uri="{BB962C8B-B14F-4D97-AF65-F5344CB8AC3E}">
        <p14:creationId xmlns:p14="http://schemas.microsoft.com/office/powerpoint/2010/main" val="10245415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2662815" y="1317048"/>
            <a:ext cx="5824016" cy="674331"/>
          </a:xfrm>
          <a:prstGeom prst="rect">
            <a:avLst/>
          </a:prstGeom>
          <a:noFill/>
          <a:ln>
            <a:noFill/>
          </a:ln>
        </p:spPr>
        <p:txBody>
          <a:bodyPr lIns="21431" tIns="21431" rIns="21431" bIns="21431" anchor="ctr" anchorCtr="0">
            <a:noAutofit/>
          </a:bodyPr>
          <a:lstStyle/>
          <a:p>
            <a:pPr>
              <a:buClr>
                <a:schemeClr val="lt1"/>
              </a:buClr>
              <a:buSzPct val="25000"/>
            </a:pPr>
            <a:r>
              <a:rPr lang="en-US">
                <a:solidFill>
                  <a:srgbClr val="FFD966"/>
                </a:solidFill>
                <a:latin typeface="Arial" charset="0"/>
                <a:ea typeface="Arial" charset="0"/>
                <a:cs typeface="Arial" charset="0"/>
                <a:sym typeface="Cabin"/>
              </a:rPr>
              <a:t>Repeated Steps</a:t>
            </a:r>
          </a:p>
        </p:txBody>
      </p:sp>
      <p:sp>
        <p:nvSpPr>
          <p:cNvPr id="213" name="Shape 213"/>
          <p:cNvSpPr txBox="1"/>
          <p:nvPr/>
        </p:nvSpPr>
        <p:spPr>
          <a:xfrm>
            <a:off x="4323749" y="2077938"/>
            <a:ext cx="2379884" cy="2493112"/>
          </a:xfrm>
          <a:prstGeom prst="rect">
            <a:avLst/>
          </a:prstGeom>
          <a:noFill/>
          <a:ln>
            <a:noFill/>
          </a:ln>
        </p:spPr>
        <p:txBody>
          <a:bodyPr lIns="0" tIns="0" rIns="0" bIns="0" anchor="ctr" anchorCtr="0">
            <a:noAutofit/>
          </a:bodyPr>
          <a:lstStyle/>
          <a:p>
            <a:pPr defTabSz="514350">
              <a:buClr>
                <a:srgbClr val="FFFFFF"/>
              </a:buClr>
              <a:buSzPct val="25000"/>
            </a:pPr>
            <a:r>
              <a:rPr lang="en-US" sz="2025" b="1" kern="0" dirty="0">
                <a:solidFill>
                  <a:srgbClr val="FFFFFF"/>
                </a:solidFill>
                <a:latin typeface="Arial" charset="0"/>
                <a:ea typeface="Arial" charset="0"/>
                <a:cs typeface="Arial" charset="0"/>
                <a:sym typeface="Cabin"/>
              </a:rPr>
              <a:t>Program:</a:t>
            </a:r>
          </a:p>
          <a:p>
            <a:pPr algn="ctr" defTabSz="514350"/>
            <a:endParaRPr sz="2025" b="1" kern="0" dirty="0">
              <a:solidFill>
                <a:srgbClr val="FF7F00"/>
              </a:solidFill>
              <a:latin typeface="Arial" charset="0"/>
              <a:ea typeface="Arial" charset="0"/>
              <a:cs typeface="Arial" charset="0"/>
              <a:sym typeface="Cabin"/>
            </a:endParaRPr>
          </a:p>
          <a:p>
            <a:pPr defTabSz="514350">
              <a:buClr>
                <a:srgbClr val="00FF00"/>
              </a:buClr>
              <a:buSzPct val="25000"/>
            </a:pPr>
            <a:r>
              <a:rPr lang="en-US" sz="1688" b="1" kern="0" dirty="0">
                <a:solidFill>
                  <a:srgbClr val="00FF00"/>
                </a:solidFill>
                <a:latin typeface="Courier"/>
                <a:ea typeface="Courier"/>
                <a:cs typeface="Courier"/>
                <a:sym typeface="Courier New"/>
              </a:rPr>
              <a:t>n</a:t>
            </a:r>
            <a:r>
              <a:rPr lang="en-US" sz="1688" b="1" kern="0" dirty="0">
                <a:solidFill>
                  <a:srgbClr val="FFFF00"/>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00"/>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5</a:t>
            </a:r>
          </a:p>
          <a:p>
            <a:pPr defTabSz="514350">
              <a:buClr>
                <a:srgbClr val="FFFF00"/>
              </a:buClr>
              <a:buSzPct val="25000"/>
            </a:pPr>
            <a:r>
              <a:rPr lang="en-US" sz="1688" b="1" kern="0" dirty="0">
                <a:solidFill>
                  <a:srgbClr val="FFFF00"/>
                </a:solidFill>
                <a:latin typeface="Courier"/>
                <a:ea typeface="Courier"/>
                <a:cs typeface="Courier"/>
                <a:sym typeface="Courier New"/>
              </a:rPr>
              <a:t>while </a:t>
            </a:r>
            <a:r>
              <a:rPr lang="en-US" sz="1688" b="1" kern="0" dirty="0">
                <a:solidFill>
                  <a:srgbClr val="00FF00"/>
                </a:solidFill>
                <a:latin typeface="Courier"/>
                <a:ea typeface="Courier"/>
                <a:cs typeface="Courier"/>
                <a:sym typeface="Courier New"/>
              </a:rPr>
              <a:t>n</a:t>
            </a:r>
            <a:r>
              <a:rPr lang="en-US" sz="1688" b="1" kern="0" dirty="0">
                <a:solidFill>
                  <a:srgbClr val="FFFF00"/>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&gt;</a:t>
            </a:r>
            <a:r>
              <a:rPr lang="en-US" sz="1688" b="1" kern="0" dirty="0">
                <a:solidFill>
                  <a:srgbClr val="FFFF00"/>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0</a:t>
            </a:r>
            <a:r>
              <a:rPr lang="en-US" sz="1688" b="1" kern="0" dirty="0">
                <a:solidFill>
                  <a:srgbClr val="FFFF00"/>
                </a:solidFill>
                <a:latin typeface="Courier"/>
                <a:ea typeface="Courier"/>
                <a:cs typeface="Courier"/>
                <a:sym typeface="Courier New"/>
              </a:rPr>
              <a:t> :</a:t>
            </a:r>
          </a:p>
          <a:p>
            <a:pPr defTabSz="514350">
              <a:buClr>
                <a:srgbClr val="FFFF00"/>
              </a:buClr>
              <a:buSzPct val="25000"/>
            </a:pPr>
            <a:r>
              <a:rPr lang="en-US" sz="1688" b="1" kern="0" dirty="0">
                <a:solidFill>
                  <a:srgbClr val="FFFF00"/>
                </a:solidFill>
                <a:latin typeface="Courier"/>
                <a:ea typeface="Courier"/>
                <a:cs typeface="Courier"/>
                <a:sym typeface="Courier New"/>
              </a:rPr>
              <a:t>    print</a:t>
            </a:r>
            <a:r>
              <a:rPr lang="en-US" sz="1688" b="1" kern="0" dirty="0">
                <a:solidFill>
                  <a:srgbClr val="FFFFFF"/>
                </a:solidFill>
                <a:latin typeface="Courier"/>
                <a:ea typeface="Courier"/>
                <a:cs typeface="Courier"/>
                <a:sym typeface="Courier New"/>
              </a:rPr>
              <a:t>(</a:t>
            </a:r>
            <a:r>
              <a:rPr lang="en-US" sz="1688" b="1" kern="0" dirty="0">
                <a:solidFill>
                  <a:srgbClr val="00FF00"/>
                </a:solidFill>
                <a:latin typeface="Courier"/>
                <a:ea typeface="Courier"/>
                <a:cs typeface="Courier"/>
                <a:sym typeface="Courier New"/>
              </a:rPr>
              <a:t>n</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n</a:t>
            </a:r>
            <a:r>
              <a:rPr lang="en-US" sz="1688" b="1" kern="0" dirty="0">
                <a:solidFill>
                  <a:srgbClr val="FFFF00"/>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00"/>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n</a:t>
            </a:r>
            <a:r>
              <a:rPr lang="en-US" sz="1688" b="1" kern="0" dirty="0">
                <a:solidFill>
                  <a:srgbClr val="FFFF00"/>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00"/>
                </a:solidFill>
                <a:latin typeface="Courier"/>
                <a:ea typeface="Courier"/>
                <a:cs typeface="Courier"/>
                <a:sym typeface="Courier New"/>
              </a:rPr>
              <a:t> 1</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'Blastoff!'</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00FF00"/>
                </a:solidFill>
                <a:latin typeface="Courier"/>
                <a:ea typeface="Courier"/>
                <a:cs typeface="Courier"/>
                <a:sym typeface="Courier New"/>
              </a:rPr>
              <a:t>n</a:t>
            </a:r>
            <a:r>
              <a:rPr lang="en-US" sz="1688" b="1" kern="0" dirty="0">
                <a:solidFill>
                  <a:srgbClr val="FFFFFF"/>
                </a:solidFill>
                <a:latin typeface="Courier"/>
                <a:ea typeface="Courier"/>
                <a:cs typeface="Courier"/>
                <a:sym typeface="Courier New"/>
              </a:rPr>
              <a:t>)</a:t>
            </a:r>
          </a:p>
        </p:txBody>
      </p:sp>
      <p:cxnSp>
        <p:nvCxnSpPr>
          <p:cNvPr id="214" name="Shape 214"/>
          <p:cNvCxnSpPr/>
          <p:nvPr/>
        </p:nvCxnSpPr>
        <p:spPr>
          <a:xfrm rot="10800000">
            <a:off x="1435890" y="1983286"/>
            <a:ext cx="8036" cy="318789"/>
          </a:xfrm>
          <a:prstGeom prst="straightConnector1">
            <a:avLst/>
          </a:prstGeom>
          <a:noFill/>
          <a:ln w="76200" cap="rnd" cmpd="sng">
            <a:solidFill>
              <a:srgbClr val="00FFFF"/>
            </a:solidFill>
            <a:prstDash val="solid"/>
            <a:miter/>
            <a:headEnd type="stealth" w="med" len="med"/>
            <a:tailEnd type="none" w="med" len="med"/>
          </a:ln>
        </p:spPr>
      </p:cxnSp>
      <p:cxnSp>
        <p:nvCxnSpPr>
          <p:cNvPr id="215" name="Shape 215"/>
          <p:cNvCxnSpPr/>
          <p:nvPr/>
        </p:nvCxnSpPr>
        <p:spPr>
          <a:xfrm flipH="1">
            <a:off x="6198990" y="2848570"/>
            <a:ext cx="1101923" cy="288429"/>
          </a:xfrm>
          <a:prstGeom prst="straightConnector1">
            <a:avLst/>
          </a:prstGeom>
          <a:noFill/>
          <a:ln w="50800" cap="rnd" cmpd="sng">
            <a:solidFill>
              <a:srgbClr val="FF7F00"/>
            </a:solidFill>
            <a:prstDash val="solid"/>
            <a:miter/>
            <a:headEnd type="stealth" w="med" len="med"/>
            <a:tailEnd type="none" w="med" len="med"/>
          </a:ln>
        </p:spPr>
      </p:cxnSp>
      <p:sp>
        <p:nvSpPr>
          <p:cNvPr id="216" name="Shape 216"/>
          <p:cNvSpPr/>
          <p:nvPr/>
        </p:nvSpPr>
        <p:spPr>
          <a:xfrm>
            <a:off x="639362" y="2298505"/>
            <a:ext cx="1614431" cy="714318"/>
          </a:xfrm>
          <a:prstGeom prst="diamond">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69" kern="0">
                <a:solidFill>
                  <a:srgbClr val="00FF00"/>
                </a:solidFill>
                <a:latin typeface="Arial" charset="0"/>
                <a:ea typeface="Arial" charset="0"/>
                <a:cs typeface="Arial" charset="0"/>
                <a:sym typeface="Cabin"/>
              </a:rPr>
              <a:t>n &gt; 0 ?</a:t>
            </a:r>
          </a:p>
        </p:txBody>
      </p:sp>
      <p:cxnSp>
        <p:nvCxnSpPr>
          <p:cNvPr id="217" name="Shape 217"/>
          <p:cNvCxnSpPr/>
          <p:nvPr/>
        </p:nvCxnSpPr>
        <p:spPr>
          <a:xfrm rot="10800000" flipH="1">
            <a:off x="1434996" y="3012880"/>
            <a:ext cx="11608" cy="1303734"/>
          </a:xfrm>
          <a:prstGeom prst="straightConnector1">
            <a:avLst/>
          </a:prstGeom>
          <a:noFill/>
          <a:ln w="76200" cap="rnd" cmpd="sng">
            <a:solidFill>
              <a:srgbClr val="00FFFF"/>
            </a:solidFill>
            <a:prstDash val="solid"/>
            <a:miter/>
            <a:headEnd type="none" w="med" len="med"/>
            <a:tailEnd type="stealth" w="med" len="med"/>
          </a:ln>
        </p:spPr>
      </p:cxnSp>
      <p:cxnSp>
        <p:nvCxnSpPr>
          <p:cNvPr id="218" name="Shape 218"/>
          <p:cNvCxnSpPr/>
          <p:nvPr/>
        </p:nvCxnSpPr>
        <p:spPr>
          <a:xfrm rot="10800000">
            <a:off x="2246705" y="2652120"/>
            <a:ext cx="437555" cy="8930"/>
          </a:xfrm>
          <a:prstGeom prst="straightConnector1">
            <a:avLst/>
          </a:prstGeom>
          <a:noFill/>
          <a:ln w="76200" cap="rnd" cmpd="sng">
            <a:solidFill>
              <a:srgbClr val="00FFFF"/>
            </a:solidFill>
            <a:prstDash val="solid"/>
            <a:miter/>
            <a:headEnd type="none" w="med" len="med"/>
            <a:tailEnd type="none" w="med" len="med"/>
          </a:ln>
        </p:spPr>
      </p:cxnSp>
      <p:cxnSp>
        <p:nvCxnSpPr>
          <p:cNvPr id="219" name="Shape 219"/>
          <p:cNvCxnSpPr/>
          <p:nvPr/>
        </p:nvCxnSpPr>
        <p:spPr>
          <a:xfrm rot="10800000" flipH="1">
            <a:off x="2665508" y="2652120"/>
            <a:ext cx="8930" cy="362545"/>
          </a:xfrm>
          <a:prstGeom prst="straightConnector1">
            <a:avLst/>
          </a:prstGeom>
          <a:noFill/>
          <a:ln w="76200" cap="rnd" cmpd="sng">
            <a:solidFill>
              <a:srgbClr val="00FFFF"/>
            </a:solidFill>
            <a:prstDash val="solid"/>
            <a:miter/>
            <a:headEnd type="stealth" w="med" len="med"/>
            <a:tailEnd type="none" w="med" len="med"/>
          </a:ln>
        </p:spPr>
      </p:cxnSp>
      <p:cxnSp>
        <p:nvCxnSpPr>
          <p:cNvPr id="220" name="Shape 220"/>
          <p:cNvCxnSpPr/>
          <p:nvPr/>
        </p:nvCxnSpPr>
        <p:spPr>
          <a:xfrm flipH="1">
            <a:off x="2665515" y="4170223"/>
            <a:ext cx="2699" cy="168750"/>
          </a:xfrm>
          <a:prstGeom prst="straightConnector1">
            <a:avLst/>
          </a:prstGeom>
          <a:noFill/>
          <a:ln w="76200" cap="rnd" cmpd="sng">
            <a:solidFill>
              <a:srgbClr val="00FFFF"/>
            </a:solidFill>
            <a:prstDash val="solid"/>
            <a:miter/>
            <a:headEnd type="none" w="med" len="med"/>
            <a:tailEnd type="none" w="med" len="med"/>
          </a:ln>
        </p:spPr>
      </p:cxnSp>
      <p:cxnSp>
        <p:nvCxnSpPr>
          <p:cNvPr id="221" name="Shape 221"/>
          <p:cNvCxnSpPr/>
          <p:nvPr/>
        </p:nvCxnSpPr>
        <p:spPr>
          <a:xfrm>
            <a:off x="1443926" y="4340724"/>
            <a:ext cx="1230525" cy="8100"/>
          </a:xfrm>
          <a:prstGeom prst="straightConnector1">
            <a:avLst/>
          </a:prstGeom>
          <a:noFill/>
          <a:ln w="76200" cap="rnd" cmpd="sng">
            <a:solidFill>
              <a:srgbClr val="00FFFF"/>
            </a:solidFill>
            <a:prstDash val="solid"/>
            <a:miter/>
            <a:headEnd type="none" w="med" len="med"/>
            <a:tailEnd type="none" w="med" len="med"/>
          </a:ln>
        </p:spPr>
      </p:cxnSp>
      <p:cxnSp>
        <p:nvCxnSpPr>
          <p:cNvPr id="222" name="Shape 222"/>
          <p:cNvCxnSpPr/>
          <p:nvPr/>
        </p:nvCxnSpPr>
        <p:spPr>
          <a:xfrm flipH="1">
            <a:off x="439337" y="2661050"/>
            <a:ext cx="223242" cy="1785"/>
          </a:xfrm>
          <a:prstGeom prst="straightConnector1">
            <a:avLst/>
          </a:prstGeom>
          <a:noFill/>
          <a:ln w="76200" cap="rnd" cmpd="sng">
            <a:solidFill>
              <a:srgbClr val="00FFFF"/>
            </a:solidFill>
            <a:prstDash val="solid"/>
            <a:miter/>
            <a:headEnd type="none" w="med" len="med"/>
            <a:tailEnd type="stealth" w="med" len="med"/>
          </a:ln>
        </p:spPr>
      </p:cxnSp>
      <p:cxnSp>
        <p:nvCxnSpPr>
          <p:cNvPr id="223" name="Shape 223"/>
          <p:cNvCxnSpPr/>
          <p:nvPr/>
        </p:nvCxnSpPr>
        <p:spPr>
          <a:xfrm rot="10800000" flipH="1">
            <a:off x="1436782" y="4566645"/>
            <a:ext cx="8930" cy="362545"/>
          </a:xfrm>
          <a:prstGeom prst="straightConnector1">
            <a:avLst/>
          </a:prstGeom>
          <a:noFill/>
          <a:ln w="76200" cap="rnd" cmpd="sng">
            <a:solidFill>
              <a:srgbClr val="00FFFF"/>
            </a:solidFill>
            <a:prstDash val="solid"/>
            <a:miter/>
            <a:headEnd type="stealth" w="med" len="med"/>
            <a:tailEnd type="none" w="med" len="med"/>
          </a:ln>
        </p:spPr>
      </p:cxnSp>
      <p:cxnSp>
        <p:nvCxnSpPr>
          <p:cNvPr id="224" name="Shape 224"/>
          <p:cNvCxnSpPr/>
          <p:nvPr/>
        </p:nvCxnSpPr>
        <p:spPr>
          <a:xfrm rot="10800000">
            <a:off x="437502" y="2687817"/>
            <a:ext cx="20587" cy="1931513"/>
          </a:xfrm>
          <a:prstGeom prst="straightConnector1">
            <a:avLst/>
          </a:prstGeom>
          <a:noFill/>
          <a:ln w="76200" cap="rnd" cmpd="sng">
            <a:solidFill>
              <a:srgbClr val="00FFFF"/>
            </a:solidFill>
            <a:prstDash val="solid"/>
            <a:miter/>
            <a:headEnd type="stealth" w="med" len="med"/>
            <a:tailEnd type="none" w="med" len="med"/>
          </a:ln>
        </p:spPr>
      </p:cxnSp>
      <p:cxnSp>
        <p:nvCxnSpPr>
          <p:cNvPr id="225" name="Shape 225"/>
          <p:cNvCxnSpPr/>
          <p:nvPr/>
        </p:nvCxnSpPr>
        <p:spPr>
          <a:xfrm>
            <a:off x="449159" y="4576467"/>
            <a:ext cx="985838" cy="0"/>
          </a:xfrm>
          <a:prstGeom prst="straightConnector1">
            <a:avLst/>
          </a:prstGeom>
          <a:noFill/>
          <a:ln w="76200" cap="rnd" cmpd="sng">
            <a:solidFill>
              <a:srgbClr val="00FFFF"/>
            </a:solidFill>
            <a:prstDash val="solid"/>
            <a:miter/>
            <a:headEnd type="none" w="med" len="med"/>
            <a:tailEnd type="none" w="med" len="med"/>
          </a:ln>
        </p:spPr>
      </p:cxnSp>
      <p:cxnSp>
        <p:nvCxnSpPr>
          <p:cNvPr id="226" name="Shape 226"/>
          <p:cNvCxnSpPr/>
          <p:nvPr/>
        </p:nvCxnSpPr>
        <p:spPr>
          <a:xfrm rot="10800000">
            <a:off x="6188274" y="3351311"/>
            <a:ext cx="1144786" cy="619720"/>
          </a:xfrm>
          <a:prstGeom prst="straightConnector1">
            <a:avLst/>
          </a:prstGeom>
          <a:noFill/>
          <a:ln w="50800" cap="rnd" cmpd="sng">
            <a:solidFill>
              <a:srgbClr val="FF7F00"/>
            </a:solidFill>
            <a:prstDash val="solid"/>
            <a:miter/>
            <a:headEnd type="stealth" w="med" len="med"/>
            <a:tailEnd type="none" w="med" len="med"/>
          </a:ln>
        </p:spPr>
      </p:cxnSp>
      <p:sp>
        <p:nvSpPr>
          <p:cNvPr id="227" name="Shape 227"/>
          <p:cNvSpPr txBox="1"/>
          <p:nvPr/>
        </p:nvSpPr>
        <p:spPr>
          <a:xfrm>
            <a:off x="2874460" y="4691713"/>
            <a:ext cx="5973074" cy="935888"/>
          </a:xfrm>
          <a:prstGeom prst="rect">
            <a:avLst/>
          </a:prstGeom>
          <a:noFill/>
          <a:ln>
            <a:noFill/>
          </a:ln>
        </p:spPr>
        <p:txBody>
          <a:bodyPr lIns="0" tIns="0" rIns="0" bIns="0" anchor="ctr" anchorCtr="0">
            <a:noAutofit/>
          </a:bodyPr>
          <a:lstStyle/>
          <a:p>
            <a:pPr algn="ctr" defTabSz="514350">
              <a:buClr>
                <a:srgbClr val="FFFFFF"/>
              </a:buClr>
              <a:buSzPct val="25000"/>
            </a:pPr>
            <a:r>
              <a:rPr lang="en-US" kern="0">
                <a:solidFill>
                  <a:srgbClr val="FFFFFF"/>
                </a:solidFill>
                <a:latin typeface="Arial" charset="0"/>
                <a:ea typeface="Arial" charset="0"/>
                <a:cs typeface="Arial" charset="0"/>
                <a:sym typeface="Cabin"/>
              </a:rPr>
              <a:t>Loops (repeated steps) have </a:t>
            </a:r>
            <a:r>
              <a:rPr lang="en-US" kern="0">
                <a:solidFill>
                  <a:srgbClr val="00FF00"/>
                </a:solidFill>
                <a:latin typeface="Arial" charset="0"/>
                <a:ea typeface="Arial" charset="0"/>
                <a:cs typeface="Arial" charset="0"/>
                <a:sym typeface="Cabin"/>
              </a:rPr>
              <a:t>iteration variables</a:t>
            </a:r>
            <a:r>
              <a:rPr lang="en-US" kern="0">
                <a:solidFill>
                  <a:srgbClr val="FF0000"/>
                </a:solidFill>
                <a:latin typeface="Arial" charset="0"/>
                <a:ea typeface="Arial" charset="0"/>
                <a:cs typeface="Arial" charset="0"/>
                <a:sym typeface="Cabin"/>
              </a:rPr>
              <a:t> </a:t>
            </a:r>
            <a:r>
              <a:rPr lang="en-US" kern="0">
                <a:solidFill>
                  <a:srgbClr val="FFFFFF"/>
                </a:solidFill>
                <a:latin typeface="Arial" charset="0"/>
                <a:ea typeface="Arial" charset="0"/>
                <a:cs typeface="Arial" charset="0"/>
                <a:sym typeface="Cabin"/>
              </a:rPr>
              <a:t>that change each time through a loop.  </a:t>
            </a:r>
            <a:r>
              <a:rPr lang="en-US" kern="0" dirty="0">
                <a:solidFill>
                  <a:srgbClr val="FFFFFF"/>
                </a:solidFill>
                <a:latin typeface="Arial" charset="0"/>
                <a:ea typeface="Arial" charset="0"/>
                <a:cs typeface="Arial" charset="0"/>
                <a:sym typeface="Cabin"/>
              </a:rPr>
              <a:t>Often these </a:t>
            </a:r>
            <a:r>
              <a:rPr lang="en-US" kern="0" dirty="0">
                <a:solidFill>
                  <a:srgbClr val="00FF00"/>
                </a:solidFill>
                <a:latin typeface="Arial" charset="0"/>
                <a:ea typeface="Arial" charset="0"/>
                <a:cs typeface="Arial" charset="0"/>
                <a:sym typeface="Cabin"/>
              </a:rPr>
              <a:t>iteration variables </a:t>
            </a:r>
            <a:r>
              <a:rPr lang="en-US" kern="0" dirty="0">
                <a:solidFill>
                  <a:srgbClr val="FFFFFF"/>
                </a:solidFill>
                <a:latin typeface="Arial" charset="0"/>
                <a:ea typeface="Arial" charset="0"/>
                <a:cs typeface="Arial" charset="0"/>
                <a:sym typeface="Cabin"/>
              </a:rPr>
              <a:t>go through a sequence of numbers.</a:t>
            </a:r>
          </a:p>
        </p:txBody>
      </p:sp>
      <p:sp>
        <p:nvSpPr>
          <p:cNvPr id="228" name="Shape 228"/>
          <p:cNvSpPr txBox="1"/>
          <p:nvPr/>
        </p:nvSpPr>
        <p:spPr>
          <a:xfrm>
            <a:off x="144657" y="2234211"/>
            <a:ext cx="407194" cy="350043"/>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No</a:t>
            </a:r>
          </a:p>
        </p:txBody>
      </p:sp>
      <p:sp>
        <p:nvSpPr>
          <p:cNvPr id="229" name="Shape 229"/>
          <p:cNvSpPr txBox="1"/>
          <p:nvPr/>
        </p:nvSpPr>
        <p:spPr>
          <a:xfrm>
            <a:off x="625074" y="4913117"/>
            <a:ext cx="1643063" cy="421481"/>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print('Blastoff')</a:t>
            </a:r>
          </a:p>
        </p:txBody>
      </p:sp>
      <p:sp>
        <p:nvSpPr>
          <p:cNvPr id="230" name="Shape 230"/>
          <p:cNvSpPr txBox="1"/>
          <p:nvPr/>
        </p:nvSpPr>
        <p:spPr>
          <a:xfrm>
            <a:off x="2460124" y="2234211"/>
            <a:ext cx="515965" cy="350043"/>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Yes</a:t>
            </a:r>
          </a:p>
        </p:txBody>
      </p:sp>
      <p:sp>
        <p:nvSpPr>
          <p:cNvPr id="231" name="Shape 231"/>
          <p:cNvSpPr txBox="1"/>
          <p:nvPr/>
        </p:nvSpPr>
        <p:spPr>
          <a:xfrm>
            <a:off x="625075" y="1569842"/>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n = 5</a:t>
            </a:r>
          </a:p>
        </p:txBody>
      </p:sp>
      <p:sp>
        <p:nvSpPr>
          <p:cNvPr id="232" name="Shape 232"/>
          <p:cNvSpPr txBox="1"/>
          <p:nvPr/>
        </p:nvSpPr>
        <p:spPr>
          <a:xfrm>
            <a:off x="1853800" y="3020023"/>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a:t>
            </a:r>
            <a:r>
              <a:rPr lang="en-US" sz="1969" kern="0" dirty="0">
                <a:solidFill>
                  <a:srgbClr val="00FF00"/>
                </a:solidFill>
                <a:latin typeface="Arial" charset="0"/>
                <a:ea typeface="Arial" charset="0"/>
                <a:cs typeface="Arial" charset="0"/>
                <a:sym typeface="Cabin"/>
              </a:rPr>
              <a:t>n</a:t>
            </a:r>
            <a:r>
              <a:rPr lang="en-US" sz="1969" kern="0" dirty="0">
                <a:solidFill>
                  <a:srgbClr val="FFFFFF"/>
                </a:solidFill>
                <a:latin typeface="Arial" charset="0"/>
                <a:ea typeface="Arial" charset="0"/>
                <a:cs typeface="Arial" charset="0"/>
                <a:sym typeface="Cabin"/>
              </a:rPr>
              <a:t>)</a:t>
            </a:r>
          </a:p>
        </p:txBody>
      </p:sp>
      <p:sp>
        <p:nvSpPr>
          <p:cNvPr id="233" name="Shape 233"/>
          <p:cNvSpPr txBox="1"/>
          <p:nvPr/>
        </p:nvSpPr>
        <p:spPr>
          <a:xfrm>
            <a:off x="7425929" y="1985070"/>
            <a:ext cx="971493" cy="2693249"/>
          </a:xfrm>
          <a:prstGeom prst="rect">
            <a:avLst/>
          </a:prstGeom>
          <a:noFill/>
          <a:ln>
            <a:noFill/>
          </a:ln>
        </p:spPr>
        <p:txBody>
          <a:bodyPr lIns="0" tIns="0" rIns="0" bIns="0" anchor="ctr" anchorCtr="0">
            <a:noAutofit/>
          </a:bodyPr>
          <a:lstStyle/>
          <a:p>
            <a:pPr defTabSz="514350">
              <a:buClr>
                <a:srgbClr val="FFFFFF"/>
              </a:buClr>
              <a:buSzPct val="25000"/>
            </a:pPr>
            <a:r>
              <a:rPr lang="en-US" sz="2025" kern="0">
                <a:solidFill>
                  <a:srgbClr val="FFFFFF"/>
                </a:solidFill>
                <a:latin typeface="Arial" charset="0"/>
                <a:ea typeface="Arial" charset="0"/>
                <a:cs typeface="Arial" charset="0"/>
                <a:sym typeface="Cabin"/>
              </a:rPr>
              <a:t>Output:</a:t>
            </a:r>
          </a:p>
          <a:p>
            <a:pPr algn="ctr" defTabSz="514350"/>
            <a:endParaRPr sz="2025" kern="0">
              <a:solidFill>
                <a:srgbClr val="FF00FF"/>
              </a:solidFill>
              <a:latin typeface="Arial" charset="0"/>
              <a:ea typeface="Arial" charset="0"/>
              <a:cs typeface="Arial" charset="0"/>
              <a:sym typeface="Cabin"/>
            </a:endParaRPr>
          </a:p>
          <a:p>
            <a:pPr defTabSz="514350">
              <a:buClr>
                <a:srgbClr val="FF00FF"/>
              </a:buClr>
              <a:buSzPct val="25000"/>
            </a:pPr>
            <a:r>
              <a:rPr lang="en-US" sz="2025" kern="0">
                <a:solidFill>
                  <a:srgbClr val="FFFF00"/>
                </a:solidFill>
                <a:latin typeface="Arial" charset="0"/>
                <a:ea typeface="Arial" charset="0"/>
                <a:cs typeface="Arial" charset="0"/>
                <a:sym typeface="Cabin"/>
              </a:rPr>
              <a:t>5</a:t>
            </a:r>
          </a:p>
          <a:p>
            <a:pPr defTabSz="514350">
              <a:buClr>
                <a:srgbClr val="FF00FF"/>
              </a:buClr>
              <a:buSzPct val="25000"/>
            </a:pPr>
            <a:r>
              <a:rPr lang="en-US" sz="2025" kern="0">
                <a:solidFill>
                  <a:srgbClr val="FFFF00"/>
                </a:solidFill>
                <a:latin typeface="Arial" charset="0"/>
                <a:ea typeface="Arial" charset="0"/>
                <a:cs typeface="Arial" charset="0"/>
                <a:sym typeface="Cabin"/>
              </a:rPr>
              <a:t>4</a:t>
            </a:r>
          </a:p>
          <a:p>
            <a:pPr defTabSz="514350">
              <a:buClr>
                <a:srgbClr val="FF00FF"/>
              </a:buClr>
              <a:buSzPct val="25000"/>
            </a:pPr>
            <a:r>
              <a:rPr lang="en-US" sz="2025" kern="0">
                <a:solidFill>
                  <a:srgbClr val="FFFF00"/>
                </a:solidFill>
                <a:latin typeface="Arial" charset="0"/>
                <a:ea typeface="Arial" charset="0"/>
                <a:cs typeface="Arial" charset="0"/>
                <a:sym typeface="Cabin"/>
              </a:rPr>
              <a:t>3</a:t>
            </a:r>
          </a:p>
          <a:p>
            <a:pPr defTabSz="514350">
              <a:buClr>
                <a:srgbClr val="FF00FF"/>
              </a:buClr>
              <a:buSzPct val="25000"/>
            </a:pPr>
            <a:r>
              <a:rPr lang="en-US" sz="2025" kern="0">
                <a:solidFill>
                  <a:srgbClr val="FFFF00"/>
                </a:solidFill>
                <a:latin typeface="Arial" charset="0"/>
                <a:ea typeface="Arial" charset="0"/>
                <a:cs typeface="Arial" charset="0"/>
                <a:sym typeface="Cabin"/>
              </a:rPr>
              <a:t>2</a:t>
            </a:r>
          </a:p>
          <a:p>
            <a:pPr defTabSz="514350">
              <a:buClr>
                <a:srgbClr val="FF00FF"/>
              </a:buClr>
              <a:buSzPct val="25000"/>
            </a:pPr>
            <a:r>
              <a:rPr lang="en-US" sz="2025" kern="0">
                <a:solidFill>
                  <a:srgbClr val="FFFF00"/>
                </a:solidFill>
                <a:latin typeface="Arial" charset="0"/>
                <a:ea typeface="Arial" charset="0"/>
                <a:cs typeface="Arial" charset="0"/>
                <a:sym typeface="Cabin"/>
              </a:rPr>
              <a:t>1</a:t>
            </a:r>
          </a:p>
          <a:p>
            <a:pPr defTabSz="514350">
              <a:buClr>
                <a:srgbClr val="FF00FF"/>
              </a:buClr>
              <a:buSzPct val="25000"/>
            </a:pPr>
            <a:r>
              <a:rPr lang="en-US" sz="2025" kern="0">
                <a:solidFill>
                  <a:srgbClr val="FFFF00"/>
                </a:solidFill>
                <a:latin typeface="Arial" charset="0"/>
                <a:ea typeface="Arial" charset="0"/>
                <a:cs typeface="Arial" charset="0"/>
                <a:sym typeface="Cabin"/>
              </a:rPr>
              <a:t>Blastoff! </a:t>
            </a:r>
          </a:p>
          <a:p>
            <a:pPr defTabSz="514350">
              <a:buClr>
                <a:srgbClr val="FF00FF"/>
              </a:buClr>
              <a:buSzPct val="25000"/>
            </a:pPr>
            <a:r>
              <a:rPr lang="en-US" sz="2025" kern="0">
                <a:solidFill>
                  <a:srgbClr val="FFFF00"/>
                </a:solidFill>
                <a:latin typeface="Arial" charset="0"/>
                <a:ea typeface="Arial" charset="0"/>
                <a:cs typeface="Arial" charset="0"/>
                <a:sym typeface="Cabin"/>
              </a:rPr>
              <a:t>0</a:t>
            </a:r>
          </a:p>
        </p:txBody>
      </p:sp>
      <p:sp>
        <p:nvSpPr>
          <p:cNvPr id="234" name="Shape 234"/>
          <p:cNvSpPr txBox="1"/>
          <p:nvPr/>
        </p:nvSpPr>
        <p:spPr>
          <a:xfrm>
            <a:off x="1846656" y="3705823"/>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 n = n -1</a:t>
            </a:r>
          </a:p>
        </p:txBody>
      </p:sp>
      <p:cxnSp>
        <p:nvCxnSpPr>
          <p:cNvPr id="235" name="Shape 235"/>
          <p:cNvCxnSpPr/>
          <p:nvPr/>
        </p:nvCxnSpPr>
        <p:spPr>
          <a:xfrm flipH="1">
            <a:off x="2662815" y="3489261"/>
            <a:ext cx="2699" cy="168750"/>
          </a:xfrm>
          <a:prstGeom prst="straightConnector1">
            <a:avLst/>
          </a:prstGeom>
          <a:noFill/>
          <a:ln w="76200" cap="rnd" cmpd="sng">
            <a:solidFill>
              <a:srgbClr val="00FFFF"/>
            </a:solidFill>
            <a:prstDash val="solid"/>
            <a:miter/>
            <a:headEnd type="none" w="med" len="med"/>
            <a:tailEnd type="none" w="med" len="med"/>
          </a:ln>
        </p:spPr>
      </p:cxnSp>
    </p:spTree>
    <p:extLst>
      <p:ext uri="{BB962C8B-B14F-4D97-AF65-F5344CB8AC3E}">
        <p14:creationId xmlns:p14="http://schemas.microsoft.com/office/powerpoint/2010/main" val="41391929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Shape 240"/>
          <p:cNvSpPr txBox="1">
            <a:spLocks noGrp="1"/>
          </p:cNvSpPr>
          <p:nvPr>
            <p:ph type="title"/>
          </p:nvPr>
        </p:nvSpPr>
        <p:spPr>
          <a:xfrm>
            <a:off x="3841622" y="1317048"/>
            <a:ext cx="4645209" cy="968896"/>
          </a:xfrm>
          <a:prstGeom prst="rect">
            <a:avLst/>
          </a:prstGeom>
          <a:noFill/>
          <a:ln>
            <a:noFill/>
          </a:ln>
        </p:spPr>
        <p:txBody>
          <a:bodyPr lIns="21431" tIns="21431" rIns="21431" bIns="21431" anchor="ctr" anchorCtr="0">
            <a:noAutofit/>
          </a:bodyPr>
          <a:lstStyle/>
          <a:p>
            <a:pPr>
              <a:buClr>
                <a:srgbClr val="FF00FF"/>
              </a:buClr>
              <a:buSzPct val="25000"/>
            </a:pPr>
            <a:r>
              <a:rPr lang="en-US" dirty="0">
                <a:solidFill>
                  <a:srgbClr val="FFD966"/>
                </a:solidFill>
                <a:latin typeface="Arial" charset="0"/>
                <a:ea typeface="Arial" charset="0"/>
                <a:cs typeface="Arial" charset="0"/>
                <a:sym typeface="Cabin"/>
              </a:rPr>
              <a:t>An Infinite Loop</a:t>
            </a:r>
          </a:p>
        </p:txBody>
      </p:sp>
      <p:sp>
        <p:nvSpPr>
          <p:cNvPr id="241" name="Shape 241"/>
          <p:cNvSpPr txBox="1"/>
          <p:nvPr/>
        </p:nvSpPr>
        <p:spPr>
          <a:xfrm>
            <a:off x="4980075" y="2646759"/>
            <a:ext cx="2823579" cy="1557394"/>
          </a:xfrm>
          <a:prstGeom prst="rect">
            <a:avLst/>
          </a:prstGeom>
          <a:noFill/>
          <a:ln>
            <a:noFill/>
          </a:ln>
        </p:spPr>
        <p:txBody>
          <a:bodyPr lIns="0" tIns="0" rIns="0" bIns="0" anchor="ctr" anchorCtr="0">
            <a:noAutofit/>
          </a:bodyPr>
          <a:lstStyle/>
          <a:p>
            <a:pPr defTabSz="514350">
              <a:buClr>
                <a:srgbClr val="00FF00"/>
              </a:buClr>
              <a:buSzPct val="25000"/>
            </a:pPr>
            <a:r>
              <a:rPr lang="en-US" sz="1688" b="1" kern="0" dirty="0">
                <a:solidFill>
                  <a:srgbClr val="00FF00"/>
                </a:solidFill>
                <a:latin typeface="Courier"/>
                <a:ea typeface="Courier"/>
                <a:cs typeface="Courier"/>
                <a:sym typeface="Courier New"/>
              </a:rPr>
              <a:t>n</a:t>
            </a:r>
            <a:r>
              <a:rPr lang="en-US" sz="1688" b="1" kern="0" dirty="0">
                <a:solidFill>
                  <a:srgbClr val="FFFF00"/>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00"/>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5</a:t>
            </a:r>
          </a:p>
          <a:p>
            <a:pPr defTabSz="514350">
              <a:buClr>
                <a:srgbClr val="FFFF00"/>
              </a:buClr>
              <a:buSzPct val="25000"/>
            </a:pPr>
            <a:r>
              <a:rPr lang="en-US" sz="1688" b="1" kern="0" dirty="0">
                <a:solidFill>
                  <a:srgbClr val="FFFF00"/>
                </a:solidFill>
                <a:latin typeface="Courier"/>
                <a:ea typeface="Courier"/>
                <a:cs typeface="Courier"/>
                <a:sym typeface="Courier New"/>
              </a:rPr>
              <a:t>while </a:t>
            </a:r>
            <a:r>
              <a:rPr lang="en-US" sz="1688" b="1" kern="0" dirty="0">
                <a:solidFill>
                  <a:srgbClr val="00FF00"/>
                </a:solidFill>
                <a:latin typeface="Courier"/>
                <a:ea typeface="Courier"/>
                <a:cs typeface="Courier"/>
                <a:sym typeface="Courier New"/>
              </a:rPr>
              <a:t>n</a:t>
            </a:r>
            <a:r>
              <a:rPr lang="en-US" sz="1688" b="1" kern="0" dirty="0">
                <a:solidFill>
                  <a:srgbClr val="FFFF00"/>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&gt;</a:t>
            </a:r>
            <a:r>
              <a:rPr lang="en-US" sz="1688" b="1" kern="0" dirty="0">
                <a:solidFill>
                  <a:srgbClr val="FFFF00"/>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0</a:t>
            </a:r>
            <a:r>
              <a:rPr lang="en-US" sz="1688" b="1" kern="0" dirty="0">
                <a:solidFill>
                  <a:srgbClr val="FFFF00"/>
                </a:solidFill>
                <a:latin typeface="Courier"/>
                <a:ea typeface="Courier"/>
                <a:cs typeface="Courier"/>
                <a:sym typeface="Courier New"/>
              </a:rPr>
              <a:t> :</a:t>
            </a:r>
          </a:p>
          <a:p>
            <a:pPr defTabSz="514350">
              <a:buClr>
                <a:srgbClr val="FFFF00"/>
              </a:buClr>
              <a:buSzPct val="25000"/>
            </a:pPr>
            <a:r>
              <a:rPr lang="en-US" sz="1688" b="1" kern="0" dirty="0">
                <a:solidFill>
                  <a:srgbClr val="FFFF00"/>
                </a:solidFill>
                <a:latin typeface="Courier"/>
                <a:ea typeface="Courier"/>
                <a:cs typeface="Courier"/>
                <a:sym typeface="Courier New"/>
              </a:rPr>
              <a:t>    print</a:t>
            </a:r>
            <a:r>
              <a:rPr lang="en-US" sz="1688" b="1" kern="0" dirty="0">
                <a:solidFill>
                  <a:srgbClr val="FF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'Lather'</a:t>
            </a:r>
            <a:r>
              <a:rPr lang="en-US" b="1" kern="0" dirty="0">
                <a:solidFill>
                  <a:srgbClr val="FFFFFF"/>
                </a:solidFill>
                <a:latin typeface="Arial" charset="0"/>
                <a:ea typeface="Arial" charset="0"/>
                <a:cs typeface="Arial" charset="0"/>
                <a:sym typeface="Cabin"/>
              </a:rPr>
              <a:t>)</a:t>
            </a:r>
            <a:endParaRPr lang="en-US" sz="1688" b="1" kern="0" dirty="0">
              <a:solidFill>
                <a:srgbClr val="FF9900"/>
              </a:solidFill>
              <a:latin typeface="Courier"/>
              <a:ea typeface="Courier"/>
              <a:cs typeface="Courier"/>
              <a:sym typeface="Courier New"/>
            </a:endParaRPr>
          </a:p>
          <a:p>
            <a:pPr defTabSz="514350">
              <a:buClr>
                <a:srgbClr val="FFFF00"/>
              </a:buClr>
              <a:buSzPct val="25000"/>
            </a:pPr>
            <a:r>
              <a:rPr lang="en-US" sz="1688" b="1" kern="0" dirty="0">
                <a:solidFill>
                  <a:srgbClr val="FFFF00"/>
                </a:solidFill>
                <a:latin typeface="Courier"/>
                <a:ea typeface="Courier"/>
                <a:cs typeface="Courier"/>
                <a:sym typeface="Courier New"/>
              </a:rPr>
              <a:t>    print</a:t>
            </a:r>
            <a:r>
              <a:rPr lang="en-US" sz="1688" b="1" kern="0" dirty="0">
                <a:solidFill>
                  <a:srgbClr val="FF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'Rinse'</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'Dry off!'</a:t>
            </a:r>
            <a:r>
              <a:rPr lang="en-US" sz="1688" b="1" kern="0" dirty="0">
                <a:solidFill>
                  <a:srgbClr val="FFFFFF"/>
                </a:solidFill>
                <a:latin typeface="Courier"/>
                <a:ea typeface="Courier"/>
                <a:cs typeface="Courier"/>
                <a:sym typeface="Courier New"/>
              </a:rPr>
              <a:t>)</a:t>
            </a:r>
          </a:p>
        </p:txBody>
      </p:sp>
      <p:cxnSp>
        <p:nvCxnSpPr>
          <p:cNvPr id="242" name="Shape 242"/>
          <p:cNvCxnSpPr/>
          <p:nvPr/>
        </p:nvCxnSpPr>
        <p:spPr>
          <a:xfrm rot="10800000">
            <a:off x="1596628" y="2031506"/>
            <a:ext cx="8036" cy="318789"/>
          </a:xfrm>
          <a:prstGeom prst="straightConnector1">
            <a:avLst/>
          </a:prstGeom>
          <a:noFill/>
          <a:ln w="76200" cap="rnd" cmpd="sng">
            <a:solidFill>
              <a:srgbClr val="00FFFF"/>
            </a:solidFill>
            <a:prstDash val="solid"/>
            <a:miter/>
            <a:headEnd type="stealth" w="med" len="med"/>
            <a:tailEnd type="none" w="med" len="med"/>
          </a:ln>
        </p:spPr>
      </p:cxnSp>
      <p:sp>
        <p:nvSpPr>
          <p:cNvPr id="243" name="Shape 243"/>
          <p:cNvSpPr/>
          <p:nvPr/>
        </p:nvSpPr>
        <p:spPr>
          <a:xfrm>
            <a:off x="800100" y="2346725"/>
            <a:ext cx="1614488" cy="714375"/>
          </a:xfrm>
          <a:prstGeom prst="diamond">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69" kern="0">
                <a:solidFill>
                  <a:srgbClr val="00FF00"/>
                </a:solidFill>
                <a:latin typeface="Comic Sans MS"/>
                <a:ea typeface="Comic Sans MS"/>
                <a:cs typeface="Comic Sans MS"/>
                <a:sym typeface="Comic Sans MS"/>
              </a:rPr>
              <a:t>n &gt; 0 ?</a:t>
            </a:r>
          </a:p>
        </p:txBody>
      </p:sp>
      <p:cxnSp>
        <p:nvCxnSpPr>
          <p:cNvPr id="244" name="Shape 244"/>
          <p:cNvCxnSpPr/>
          <p:nvPr/>
        </p:nvCxnSpPr>
        <p:spPr>
          <a:xfrm rot="10800000" flipH="1">
            <a:off x="1595734" y="3061100"/>
            <a:ext cx="11608" cy="1303734"/>
          </a:xfrm>
          <a:prstGeom prst="straightConnector1">
            <a:avLst/>
          </a:prstGeom>
          <a:noFill/>
          <a:ln w="76200" cap="rnd" cmpd="sng">
            <a:solidFill>
              <a:srgbClr val="00FFFF"/>
            </a:solidFill>
            <a:prstDash val="solid"/>
            <a:miter/>
            <a:headEnd type="none" w="med" len="med"/>
            <a:tailEnd type="stealth" w="med" len="med"/>
          </a:ln>
        </p:spPr>
      </p:cxnSp>
      <p:cxnSp>
        <p:nvCxnSpPr>
          <p:cNvPr id="245" name="Shape 245"/>
          <p:cNvCxnSpPr/>
          <p:nvPr/>
        </p:nvCxnSpPr>
        <p:spPr>
          <a:xfrm rot="10800000">
            <a:off x="2364567" y="2700269"/>
            <a:ext cx="460856" cy="4388"/>
          </a:xfrm>
          <a:prstGeom prst="straightConnector1">
            <a:avLst/>
          </a:prstGeom>
          <a:noFill/>
          <a:ln w="76200" cap="rnd" cmpd="sng">
            <a:solidFill>
              <a:srgbClr val="00FFFF"/>
            </a:solidFill>
            <a:prstDash val="solid"/>
            <a:miter/>
            <a:headEnd type="none" w="med" len="med"/>
            <a:tailEnd type="none" w="med" len="med"/>
          </a:ln>
        </p:spPr>
      </p:cxnSp>
      <p:cxnSp>
        <p:nvCxnSpPr>
          <p:cNvPr id="246" name="Shape 246"/>
          <p:cNvCxnSpPr/>
          <p:nvPr/>
        </p:nvCxnSpPr>
        <p:spPr>
          <a:xfrm rot="10800000" flipH="1">
            <a:off x="2826246" y="2700340"/>
            <a:ext cx="8930" cy="362545"/>
          </a:xfrm>
          <a:prstGeom prst="straightConnector1">
            <a:avLst/>
          </a:prstGeom>
          <a:noFill/>
          <a:ln w="76200" cap="rnd" cmpd="sng">
            <a:solidFill>
              <a:srgbClr val="00FFFF"/>
            </a:solidFill>
            <a:prstDash val="solid"/>
            <a:miter/>
            <a:headEnd type="stealth" w="med" len="med"/>
            <a:tailEnd type="none" w="med" len="med"/>
          </a:ln>
        </p:spPr>
      </p:cxnSp>
      <p:cxnSp>
        <p:nvCxnSpPr>
          <p:cNvPr id="247" name="Shape 247"/>
          <p:cNvCxnSpPr>
            <a:stCxn id="248" idx="2"/>
          </p:cNvCxnSpPr>
          <p:nvPr/>
        </p:nvCxnSpPr>
        <p:spPr>
          <a:xfrm>
            <a:off x="2856603" y="4175524"/>
            <a:ext cx="0" cy="189309"/>
          </a:xfrm>
          <a:prstGeom prst="straightConnector1">
            <a:avLst/>
          </a:prstGeom>
          <a:noFill/>
          <a:ln w="76200" cap="rnd" cmpd="sng">
            <a:solidFill>
              <a:srgbClr val="00FFFF"/>
            </a:solidFill>
            <a:prstDash val="solid"/>
            <a:miter/>
            <a:headEnd type="none" w="med" len="med"/>
            <a:tailEnd type="none" w="med" len="med"/>
          </a:ln>
        </p:spPr>
      </p:cxnSp>
      <p:cxnSp>
        <p:nvCxnSpPr>
          <p:cNvPr id="249" name="Shape 249"/>
          <p:cNvCxnSpPr/>
          <p:nvPr/>
        </p:nvCxnSpPr>
        <p:spPr>
          <a:xfrm>
            <a:off x="1604664" y="4346082"/>
            <a:ext cx="1230510" cy="8036"/>
          </a:xfrm>
          <a:prstGeom prst="straightConnector1">
            <a:avLst/>
          </a:prstGeom>
          <a:noFill/>
          <a:ln w="76200" cap="rnd" cmpd="sng">
            <a:solidFill>
              <a:srgbClr val="00FFFF"/>
            </a:solidFill>
            <a:prstDash val="solid"/>
            <a:miter/>
            <a:headEnd type="none" w="med" len="med"/>
            <a:tailEnd type="none" w="med" len="med"/>
          </a:ln>
        </p:spPr>
      </p:cxnSp>
      <p:cxnSp>
        <p:nvCxnSpPr>
          <p:cNvPr id="250" name="Shape 250"/>
          <p:cNvCxnSpPr/>
          <p:nvPr/>
        </p:nvCxnSpPr>
        <p:spPr>
          <a:xfrm flipH="1">
            <a:off x="600075" y="2709270"/>
            <a:ext cx="223242" cy="1785"/>
          </a:xfrm>
          <a:prstGeom prst="straightConnector1">
            <a:avLst/>
          </a:prstGeom>
          <a:noFill/>
          <a:ln w="76200" cap="rnd" cmpd="sng">
            <a:solidFill>
              <a:srgbClr val="00FFFF"/>
            </a:solidFill>
            <a:prstDash val="solid"/>
            <a:miter/>
            <a:headEnd type="none" w="med" len="med"/>
            <a:tailEnd type="stealth" w="med" len="med"/>
          </a:ln>
        </p:spPr>
      </p:cxnSp>
      <p:cxnSp>
        <p:nvCxnSpPr>
          <p:cNvPr id="251" name="Shape 251"/>
          <p:cNvCxnSpPr/>
          <p:nvPr/>
        </p:nvCxnSpPr>
        <p:spPr>
          <a:xfrm rot="10800000" flipH="1">
            <a:off x="1597520" y="4614865"/>
            <a:ext cx="8930" cy="362545"/>
          </a:xfrm>
          <a:prstGeom prst="straightConnector1">
            <a:avLst/>
          </a:prstGeom>
          <a:noFill/>
          <a:ln w="76200" cap="rnd" cmpd="sng">
            <a:solidFill>
              <a:srgbClr val="00FFFF"/>
            </a:solidFill>
            <a:prstDash val="solid"/>
            <a:miter/>
            <a:headEnd type="stealth" w="med" len="med"/>
            <a:tailEnd type="none" w="med" len="med"/>
          </a:ln>
        </p:spPr>
      </p:cxnSp>
      <p:cxnSp>
        <p:nvCxnSpPr>
          <p:cNvPr id="252" name="Shape 252"/>
          <p:cNvCxnSpPr/>
          <p:nvPr/>
        </p:nvCxnSpPr>
        <p:spPr>
          <a:xfrm rot="10800000">
            <a:off x="598240" y="2736037"/>
            <a:ext cx="20587" cy="1931513"/>
          </a:xfrm>
          <a:prstGeom prst="straightConnector1">
            <a:avLst/>
          </a:prstGeom>
          <a:noFill/>
          <a:ln w="76200" cap="rnd" cmpd="sng">
            <a:solidFill>
              <a:srgbClr val="00FFFF"/>
            </a:solidFill>
            <a:prstDash val="solid"/>
            <a:miter/>
            <a:headEnd type="stealth" w="med" len="med"/>
            <a:tailEnd type="none" w="med" len="med"/>
          </a:ln>
        </p:spPr>
      </p:cxnSp>
      <p:cxnSp>
        <p:nvCxnSpPr>
          <p:cNvPr id="253" name="Shape 253"/>
          <p:cNvCxnSpPr/>
          <p:nvPr/>
        </p:nvCxnSpPr>
        <p:spPr>
          <a:xfrm>
            <a:off x="609897" y="4624688"/>
            <a:ext cx="985838" cy="0"/>
          </a:xfrm>
          <a:prstGeom prst="straightConnector1">
            <a:avLst/>
          </a:prstGeom>
          <a:noFill/>
          <a:ln w="76200" cap="rnd" cmpd="sng">
            <a:solidFill>
              <a:srgbClr val="00FFFF"/>
            </a:solidFill>
            <a:prstDash val="solid"/>
            <a:miter/>
            <a:headEnd type="none" w="med" len="med"/>
            <a:tailEnd type="none" w="med" len="med"/>
          </a:ln>
        </p:spPr>
      </p:cxnSp>
      <p:sp>
        <p:nvSpPr>
          <p:cNvPr id="254" name="Shape 254"/>
          <p:cNvSpPr txBox="1"/>
          <p:nvPr/>
        </p:nvSpPr>
        <p:spPr>
          <a:xfrm>
            <a:off x="305395" y="2282431"/>
            <a:ext cx="407194" cy="350043"/>
          </a:xfrm>
          <a:prstGeom prst="rect">
            <a:avLst/>
          </a:prstGeom>
          <a:noFill/>
          <a:ln w="9525" cap="flat" cmpd="sng">
            <a:no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No</a:t>
            </a:r>
          </a:p>
        </p:txBody>
      </p:sp>
      <p:sp>
        <p:nvSpPr>
          <p:cNvPr id="255" name="Shape 255"/>
          <p:cNvSpPr txBox="1"/>
          <p:nvPr/>
        </p:nvSpPr>
        <p:spPr>
          <a:xfrm>
            <a:off x="785812" y="4961337"/>
            <a:ext cx="1643063" cy="421481"/>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print('Dry off!')</a:t>
            </a:r>
          </a:p>
        </p:txBody>
      </p:sp>
      <p:sp>
        <p:nvSpPr>
          <p:cNvPr id="256" name="Shape 256"/>
          <p:cNvSpPr txBox="1"/>
          <p:nvPr/>
        </p:nvSpPr>
        <p:spPr>
          <a:xfrm>
            <a:off x="2620863" y="2282431"/>
            <a:ext cx="604539" cy="350043"/>
          </a:xfrm>
          <a:prstGeom prst="rect">
            <a:avLst/>
          </a:prstGeom>
          <a:noFill/>
          <a:ln w="9525" cap="flat" cmpd="sng">
            <a:no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Yes</a:t>
            </a:r>
          </a:p>
        </p:txBody>
      </p:sp>
      <p:sp>
        <p:nvSpPr>
          <p:cNvPr id="257" name="Shape 257"/>
          <p:cNvSpPr txBox="1"/>
          <p:nvPr/>
        </p:nvSpPr>
        <p:spPr>
          <a:xfrm>
            <a:off x="785813" y="1618062"/>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n = 5</a:t>
            </a:r>
          </a:p>
        </p:txBody>
      </p:sp>
      <p:sp>
        <p:nvSpPr>
          <p:cNvPr id="258" name="Shape 258"/>
          <p:cNvSpPr txBox="1"/>
          <p:nvPr/>
        </p:nvSpPr>
        <p:spPr>
          <a:xfrm>
            <a:off x="1915422" y="3068244"/>
            <a:ext cx="1893079" cy="42058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a:t>
            </a:r>
            <a:r>
              <a:rPr lang="en-US" sz="1969" kern="0" dirty="0">
                <a:solidFill>
                  <a:srgbClr val="FF9900"/>
                </a:solidFill>
                <a:latin typeface="Arial" charset="0"/>
                <a:ea typeface="Arial" charset="0"/>
                <a:cs typeface="Arial" charset="0"/>
                <a:sym typeface="Cabin"/>
              </a:rPr>
              <a:t>'Lather'</a:t>
            </a:r>
            <a:r>
              <a:rPr lang="en-US" sz="1969" kern="0" dirty="0">
                <a:solidFill>
                  <a:srgbClr val="FFFFFF"/>
                </a:solidFill>
                <a:latin typeface="Arial" charset="0"/>
                <a:ea typeface="Arial" charset="0"/>
                <a:cs typeface="Arial" charset="0"/>
                <a:sym typeface="Cabin"/>
              </a:rPr>
              <a:t>)</a:t>
            </a:r>
          </a:p>
        </p:txBody>
      </p:sp>
      <p:sp>
        <p:nvSpPr>
          <p:cNvPr id="248" name="Shape 248"/>
          <p:cNvSpPr txBox="1"/>
          <p:nvPr/>
        </p:nvSpPr>
        <p:spPr>
          <a:xfrm>
            <a:off x="1904705" y="3754044"/>
            <a:ext cx="1903796" cy="421481"/>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a:t>
            </a:r>
            <a:r>
              <a:rPr lang="en-US" sz="1969" kern="0" dirty="0">
                <a:solidFill>
                  <a:srgbClr val="FF9900"/>
                </a:solidFill>
                <a:latin typeface="Arial" charset="0"/>
                <a:ea typeface="Arial" charset="0"/>
                <a:cs typeface="Arial" charset="0"/>
                <a:sym typeface="Cabin"/>
              </a:rPr>
              <a:t>'Rinse'</a:t>
            </a:r>
            <a:r>
              <a:rPr lang="en-US" sz="1969" kern="0" dirty="0">
                <a:solidFill>
                  <a:srgbClr val="FFFFFF"/>
                </a:solidFill>
                <a:latin typeface="Arial" charset="0"/>
                <a:ea typeface="Arial" charset="0"/>
                <a:cs typeface="Arial" charset="0"/>
                <a:sym typeface="Cabin"/>
              </a:rPr>
              <a:t>)</a:t>
            </a:r>
          </a:p>
        </p:txBody>
      </p:sp>
      <p:sp>
        <p:nvSpPr>
          <p:cNvPr id="259" name="Shape 259"/>
          <p:cNvSpPr txBox="1"/>
          <p:nvPr/>
        </p:nvSpPr>
        <p:spPr>
          <a:xfrm>
            <a:off x="4666443" y="5026753"/>
            <a:ext cx="3820388" cy="349987"/>
          </a:xfrm>
          <a:prstGeom prst="rect">
            <a:avLst/>
          </a:prstGeom>
          <a:noFill/>
          <a:ln>
            <a:noFill/>
          </a:ln>
        </p:spPr>
        <p:txBody>
          <a:bodyPr lIns="0" tIns="0" rIns="0" bIns="0" anchor="ctr" anchorCtr="0">
            <a:noAutofit/>
          </a:bodyPr>
          <a:lstStyle/>
          <a:p>
            <a:pPr algn="ctr" defTabSz="514350">
              <a:buClr>
                <a:srgbClr val="FF00FF"/>
              </a:buClr>
              <a:buSzPct val="25000"/>
            </a:pPr>
            <a:r>
              <a:rPr lang="en-US" sz="2025" kern="0">
                <a:solidFill>
                  <a:srgbClr val="00FF00"/>
                </a:solidFill>
                <a:latin typeface="Arial" charset="0"/>
                <a:ea typeface="Arial" charset="0"/>
                <a:cs typeface="Arial" charset="0"/>
                <a:sym typeface="Cabin"/>
              </a:rPr>
              <a:t>What is wrong with this loop?</a:t>
            </a:r>
          </a:p>
        </p:txBody>
      </p:sp>
      <p:cxnSp>
        <p:nvCxnSpPr>
          <p:cNvPr id="260" name="Shape 260"/>
          <p:cNvCxnSpPr>
            <a:stCxn id="258" idx="2"/>
            <a:endCxn id="248" idx="0"/>
          </p:cNvCxnSpPr>
          <p:nvPr/>
        </p:nvCxnSpPr>
        <p:spPr>
          <a:xfrm flipH="1">
            <a:off x="2856603" y="3488831"/>
            <a:ext cx="5358" cy="265213"/>
          </a:xfrm>
          <a:prstGeom prst="straightConnector1">
            <a:avLst/>
          </a:prstGeom>
          <a:noFill/>
          <a:ln w="76200" cap="rnd" cmpd="sng">
            <a:solidFill>
              <a:srgbClr val="00FFFF"/>
            </a:solidFill>
            <a:prstDash val="solid"/>
            <a:miter/>
            <a:headEnd type="none" w="med" len="med"/>
            <a:tailEnd type="none" w="med" len="med"/>
          </a:ln>
        </p:spPr>
      </p:cxnSp>
    </p:spTree>
    <p:extLst>
      <p:ext uri="{BB962C8B-B14F-4D97-AF65-F5344CB8AC3E}">
        <p14:creationId xmlns:p14="http://schemas.microsoft.com/office/powerpoint/2010/main" val="35548753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Shape 240"/>
          <p:cNvSpPr txBox="1">
            <a:spLocks noGrp="1"/>
          </p:cNvSpPr>
          <p:nvPr>
            <p:ph type="title"/>
          </p:nvPr>
        </p:nvSpPr>
        <p:spPr>
          <a:xfrm>
            <a:off x="3841622" y="1317048"/>
            <a:ext cx="4645209" cy="968896"/>
          </a:xfrm>
          <a:prstGeom prst="rect">
            <a:avLst/>
          </a:prstGeom>
          <a:noFill/>
          <a:ln>
            <a:noFill/>
          </a:ln>
        </p:spPr>
        <p:txBody>
          <a:bodyPr lIns="21431" tIns="21431" rIns="21431" bIns="21431" anchor="ctr" anchorCtr="0">
            <a:noAutofit/>
          </a:bodyPr>
          <a:lstStyle/>
          <a:p>
            <a:pPr>
              <a:buClr>
                <a:srgbClr val="FF00FF"/>
              </a:buClr>
              <a:buSzPct val="25000"/>
            </a:pPr>
            <a:r>
              <a:rPr lang="en-US" dirty="0">
                <a:solidFill>
                  <a:srgbClr val="FFD966"/>
                </a:solidFill>
                <a:latin typeface="Arial" charset="0"/>
                <a:ea typeface="Arial" charset="0"/>
                <a:cs typeface="Arial" charset="0"/>
                <a:sym typeface="Cabin"/>
              </a:rPr>
              <a:t>Another Loop</a:t>
            </a:r>
          </a:p>
        </p:txBody>
      </p:sp>
      <p:sp>
        <p:nvSpPr>
          <p:cNvPr id="241" name="Shape 241"/>
          <p:cNvSpPr txBox="1"/>
          <p:nvPr/>
        </p:nvSpPr>
        <p:spPr>
          <a:xfrm>
            <a:off x="4980075" y="2646759"/>
            <a:ext cx="2823579" cy="1557394"/>
          </a:xfrm>
          <a:prstGeom prst="rect">
            <a:avLst/>
          </a:prstGeom>
          <a:noFill/>
          <a:ln>
            <a:noFill/>
          </a:ln>
        </p:spPr>
        <p:txBody>
          <a:bodyPr lIns="0" tIns="0" rIns="0" bIns="0" anchor="ctr" anchorCtr="0">
            <a:noAutofit/>
          </a:bodyPr>
          <a:lstStyle/>
          <a:p>
            <a:pPr defTabSz="514350">
              <a:buClr>
                <a:srgbClr val="00FF00"/>
              </a:buClr>
              <a:buSzPct val="25000"/>
            </a:pPr>
            <a:r>
              <a:rPr lang="en-US" sz="1688" b="1" kern="0" dirty="0">
                <a:solidFill>
                  <a:srgbClr val="00FF00"/>
                </a:solidFill>
                <a:latin typeface="Courier"/>
                <a:ea typeface="Courier"/>
                <a:cs typeface="Courier"/>
                <a:sym typeface="Courier New"/>
              </a:rPr>
              <a:t>n</a:t>
            </a:r>
            <a:r>
              <a:rPr lang="en-US" sz="1688" b="1" kern="0" dirty="0">
                <a:solidFill>
                  <a:srgbClr val="FFFF00"/>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00"/>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0</a:t>
            </a:r>
          </a:p>
          <a:p>
            <a:pPr defTabSz="514350">
              <a:buClr>
                <a:srgbClr val="FFFF00"/>
              </a:buClr>
              <a:buSzPct val="25000"/>
            </a:pPr>
            <a:r>
              <a:rPr lang="en-US" sz="1688" b="1" kern="0" dirty="0">
                <a:solidFill>
                  <a:srgbClr val="FFFF00"/>
                </a:solidFill>
                <a:latin typeface="Courier"/>
                <a:ea typeface="Courier"/>
                <a:cs typeface="Courier"/>
                <a:sym typeface="Courier New"/>
              </a:rPr>
              <a:t>while </a:t>
            </a:r>
            <a:r>
              <a:rPr lang="en-US" sz="1688" b="1" kern="0" dirty="0">
                <a:solidFill>
                  <a:srgbClr val="00FF00"/>
                </a:solidFill>
                <a:latin typeface="Courier"/>
                <a:ea typeface="Courier"/>
                <a:cs typeface="Courier"/>
                <a:sym typeface="Courier New"/>
              </a:rPr>
              <a:t>n</a:t>
            </a:r>
            <a:r>
              <a:rPr lang="en-US" sz="1688" b="1" kern="0" dirty="0">
                <a:solidFill>
                  <a:srgbClr val="FFFF00"/>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&gt;</a:t>
            </a:r>
            <a:r>
              <a:rPr lang="en-US" sz="1688" b="1" kern="0" dirty="0">
                <a:solidFill>
                  <a:srgbClr val="FFFF00"/>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0</a:t>
            </a:r>
            <a:r>
              <a:rPr lang="en-US" sz="1688" b="1" kern="0" dirty="0">
                <a:solidFill>
                  <a:srgbClr val="FFFF00"/>
                </a:solidFill>
                <a:latin typeface="Courier"/>
                <a:ea typeface="Courier"/>
                <a:cs typeface="Courier"/>
                <a:sym typeface="Courier New"/>
              </a:rPr>
              <a:t> :</a:t>
            </a:r>
          </a:p>
          <a:p>
            <a:pPr defTabSz="514350">
              <a:buClr>
                <a:srgbClr val="FFFF00"/>
              </a:buClr>
              <a:buSzPct val="25000"/>
            </a:pPr>
            <a:r>
              <a:rPr lang="en-US" sz="1688" b="1" kern="0" dirty="0">
                <a:solidFill>
                  <a:srgbClr val="FFFF00"/>
                </a:solidFill>
                <a:latin typeface="Courier"/>
                <a:ea typeface="Courier"/>
                <a:cs typeface="Courier"/>
                <a:sym typeface="Courier New"/>
              </a:rPr>
              <a:t>    print</a:t>
            </a:r>
            <a:r>
              <a:rPr lang="en-US" sz="1688" b="1" kern="0" dirty="0">
                <a:solidFill>
                  <a:srgbClr val="FF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'Lather'</a:t>
            </a:r>
            <a:r>
              <a:rPr lang="en-US" b="1" kern="0" dirty="0">
                <a:solidFill>
                  <a:srgbClr val="FFFFFF"/>
                </a:solidFill>
                <a:latin typeface="Arial" charset="0"/>
                <a:ea typeface="Arial" charset="0"/>
                <a:cs typeface="Arial" charset="0"/>
                <a:sym typeface="Cabin"/>
              </a:rPr>
              <a:t>)</a:t>
            </a:r>
            <a:endParaRPr lang="en-US" sz="1688" b="1" kern="0" dirty="0">
              <a:solidFill>
                <a:srgbClr val="FF9900"/>
              </a:solidFill>
              <a:latin typeface="Courier"/>
              <a:ea typeface="Courier"/>
              <a:cs typeface="Courier"/>
              <a:sym typeface="Courier New"/>
            </a:endParaRPr>
          </a:p>
          <a:p>
            <a:pPr defTabSz="514350">
              <a:buClr>
                <a:srgbClr val="FFFF00"/>
              </a:buClr>
              <a:buSzPct val="25000"/>
            </a:pPr>
            <a:r>
              <a:rPr lang="en-US" sz="1688" b="1" kern="0" dirty="0">
                <a:solidFill>
                  <a:srgbClr val="FFFF00"/>
                </a:solidFill>
                <a:latin typeface="Courier"/>
                <a:ea typeface="Courier"/>
                <a:cs typeface="Courier"/>
                <a:sym typeface="Courier New"/>
              </a:rPr>
              <a:t>    print</a:t>
            </a:r>
            <a:r>
              <a:rPr lang="en-US" sz="1688" b="1" kern="0" dirty="0">
                <a:solidFill>
                  <a:srgbClr val="FF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'Rinse'</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'Dry off!'</a:t>
            </a:r>
            <a:r>
              <a:rPr lang="en-US" sz="1688" b="1" kern="0" dirty="0">
                <a:solidFill>
                  <a:srgbClr val="FFFFFF"/>
                </a:solidFill>
                <a:latin typeface="Courier"/>
                <a:ea typeface="Courier"/>
                <a:cs typeface="Courier"/>
                <a:sym typeface="Courier New"/>
              </a:rPr>
              <a:t>)</a:t>
            </a:r>
          </a:p>
        </p:txBody>
      </p:sp>
      <p:cxnSp>
        <p:nvCxnSpPr>
          <p:cNvPr id="242" name="Shape 242"/>
          <p:cNvCxnSpPr/>
          <p:nvPr/>
        </p:nvCxnSpPr>
        <p:spPr>
          <a:xfrm rot="10800000">
            <a:off x="1596628" y="2031506"/>
            <a:ext cx="8036" cy="318789"/>
          </a:xfrm>
          <a:prstGeom prst="straightConnector1">
            <a:avLst/>
          </a:prstGeom>
          <a:noFill/>
          <a:ln w="76200" cap="rnd" cmpd="sng">
            <a:solidFill>
              <a:srgbClr val="00FFFF"/>
            </a:solidFill>
            <a:prstDash val="solid"/>
            <a:miter/>
            <a:headEnd type="stealth" w="med" len="med"/>
            <a:tailEnd type="none" w="med" len="med"/>
          </a:ln>
        </p:spPr>
      </p:cxnSp>
      <p:sp>
        <p:nvSpPr>
          <p:cNvPr id="243" name="Shape 243"/>
          <p:cNvSpPr/>
          <p:nvPr/>
        </p:nvSpPr>
        <p:spPr>
          <a:xfrm>
            <a:off x="800100" y="2346725"/>
            <a:ext cx="1614488" cy="714375"/>
          </a:xfrm>
          <a:prstGeom prst="diamond">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69" kern="0">
                <a:solidFill>
                  <a:srgbClr val="00FF00"/>
                </a:solidFill>
                <a:latin typeface="Comic Sans MS"/>
                <a:ea typeface="Comic Sans MS"/>
                <a:cs typeface="Comic Sans MS"/>
                <a:sym typeface="Comic Sans MS"/>
              </a:rPr>
              <a:t>n &gt; 0 ?</a:t>
            </a:r>
          </a:p>
        </p:txBody>
      </p:sp>
      <p:cxnSp>
        <p:nvCxnSpPr>
          <p:cNvPr id="244" name="Shape 244"/>
          <p:cNvCxnSpPr/>
          <p:nvPr/>
        </p:nvCxnSpPr>
        <p:spPr>
          <a:xfrm rot="10800000" flipH="1">
            <a:off x="1595734" y="3061100"/>
            <a:ext cx="11608" cy="1303734"/>
          </a:xfrm>
          <a:prstGeom prst="straightConnector1">
            <a:avLst/>
          </a:prstGeom>
          <a:noFill/>
          <a:ln w="76200" cap="rnd" cmpd="sng">
            <a:solidFill>
              <a:srgbClr val="00FFFF"/>
            </a:solidFill>
            <a:prstDash val="solid"/>
            <a:miter/>
            <a:headEnd type="none" w="med" len="med"/>
            <a:tailEnd type="stealth" w="med" len="med"/>
          </a:ln>
        </p:spPr>
      </p:cxnSp>
      <p:cxnSp>
        <p:nvCxnSpPr>
          <p:cNvPr id="245" name="Shape 245"/>
          <p:cNvCxnSpPr/>
          <p:nvPr/>
        </p:nvCxnSpPr>
        <p:spPr>
          <a:xfrm rot="10800000">
            <a:off x="2364567" y="2700269"/>
            <a:ext cx="460856" cy="4388"/>
          </a:xfrm>
          <a:prstGeom prst="straightConnector1">
            <a:avLst/>
          </a:prstGeom>
          <a:noFill/>
          <a:ln w="76200" cap="rnd" cmpd="sng">
            <a:solidFill>
              <a:srgbClr val="00FFFF"/>
            </a:solidFill>
            <a:prstDash val="solid"/>
            <a:miter/>
            <a:headEnd type="none" w="med" len="med"/>
            <a:tailEnd type="none" w="med" len="med"/>
          </a:ln>
        </p:spPr>
      </p:cxnSp>
      <p:cxnSp>
        <p:nvCxnSpPr>
          <p:cNvPr id="246" name="Shape 246"/>
          <p:cNvCxnSpPr/>
          <p:nvPr/>
        </p:nvCxnSpPr>
        <p:spPr>
          <a:xfrm rot="10800000" flipH="1">
            <a:off x="2826246" y="2700340"/>
            <a:ext cx="8930" cy="362545"/>
          </a:xfrm>
          <a:prstGeom prst="straightConnector1">
            <a:avLst/>
          </a:prstGeom>
          <a:noFill/>
          <a:ln w="76200" cap="rnd" cmpd="sng">
            <a:solidFill>
              <a:srgbClr val="00FFFF"/>
            </a:solidFill>
            <a:prstDash val="solid"/>
            <a:miter/>
            <a:headEnd type="stealth" w="med" len="med"/>
            <a:tailEnd type="none" w="med" len="med"/>
          </a:ln>
        </p:spPr>
      </p:cxnSp>
      <p:cxnSp>
        <p:nvCxnSpPr>
          <p:cNvPr id="247" name="Shape 247"/>
          <p:cNvCxnSpPr>
            <a:stCxn id="248" idx="2"/>
          </p:cNvCxnSpPr>
          <p:nvPr/>
        </p:nvCxnSpPr>
        <p:spPr>
          <a:xfrm>
            <a:off x="2856603" y="4175524"/>
            <a:ext cx="0" cy="189309"/>
          </a:xfrm>
          <a:prstGeom prst="straightConnector1">
            <a:avLst/>
          </a:prstGeom>
          <a:noFill/>
          <a:ln w="76200" cap="rnd" cmpd="sng">
            <a:solidFill>
              <a:srgbClr val="00FFFF"/>
            </a:solidFill>
            <a:prstDash val="solid"/>
            <a:miter/>
            <a:headEnd type="none" w="med" len="med"/>
            <a:tailEnd type="none" w="med" len="med"/>
          </a:ln>
        </p:spPr>
      </p:cxnSp>
      <p:cxnSp>
        <p:nvCxnSpPr>
          <p:cNvPr id="249" name="Shape 249"/>
          <p:cNvCxnSpPr/>
          <p:nvPr/>
        </p:nvCxnSpPr>
        <p:spPr>
          <a:xfrm>
            <a:off x="1604664" y="4346082"/>
            <a:ext cx="1230510" cy="8036"/>
          </a:xfrm>
          <a:prstGeom prst="straightConnector1">
            <a:avLst/>
          </a:prstGeom>
          <a:noFill/>
          <a:ln w="76200" cap="rnd" cmpd="sng">
            <a:solidFill>
              <a:srgbClr val="00FFFF"/>
            </a:solidFill>
            <a:prstDash val="solid"/>
            <a:miter/>
            <a:headEnd type="none" w="med" len="med"/>
            <a:tailEnd type="none" w="med" len="med"/>
          </a:ln>
        </p:spPr>
      </p:cxnSp>
      <p:cxnSp>
        <p:nvCxnSpPr>
          <p:cNvPr id="250" name="Shape 250"/>
          <p:cNvCxnSpPr/>
          <p:nvPr/>
        </p:nvCxnSpPr>
        <p:spPr>
          <a:xfrm flipH="1">
            <a:off x="600075" y="2709270"/>
            <a:ext cx="223242" cy="1785"/>
          </a:xfrm>
          <a:prstGeom prst="straightConnector1">
            <a:avLst/>
          </a:prstGeom>
          <a:noFill/>
          <a:ln w="76200" cap="rnd" cmpd="sng">
            <a:solidFill>
              <a:srgbClr val="00FFFF"/>
            </a:solidFill>
            <a:prstDash val="solid"/>
            <a:miter/>
            <a:headEnd type="none" w="med" len="med"/>
            <a:tailEnd type="stealth" w="med" len="med"/>
          </a:ln>
        </p:spPr>
      </p:cxnSp>
      <p:cxnSp>
        <p:nvCxnSpPr>
          <p:cNvPr id="251" name="Shape 251"/>
          <p:cNvCxnSpPr/>
          <p:nvPr/>
        </p:nvCxnSpPr>
        <p:spPr>
          <a:xfrm rot="10800000" flipH="1">
            <a:off x="1597520" y="4614865"/>
            <a:ext cx="8930" cy="362545"/>
          </a:xfrm>
          <a:prstGeom prst="straightConnector1">
            <a:avLst/>
          </a:prstGeom>
          <a:noFill/>
          <a:ln w="76200" cap="rnd" cmpd="sng">
            <a:solidFill>
              <a:srgbClr val="00FFFF"/>
            </a:solidFill>
            <a:prstDash val="solid"/>
            <a:miter/>
            <a:headEnd type="stealth" w="med" len="med"/>
            <a:tailEnd type="none" w="med" len="med"/>
          </a:ln>
        </p:spPr>
      </p:cxnSp>
      <p:cxnSp>
        <p:nvCxnSpPr>
          <p:cNvPr id="252" name="Shape 252"/>
          <p:cNvCxnSpPr/>
          <p:nvPr/>
        </p:nvCxnSpPr>
        <p:spPr>
          <a:xfrm rot="10800000">
            <a:off x="598240" y="2736037"/>
            <a:ext cx="20587" cy="1931513"/>
          </a:xfrm>
          <a:prstGeom prst="straightConnector1">
            <a:avLst/>
          </a:prstGeom>
          <a:noFill/>
          <a:ln w="76200" cap="rnd" cmpd="sng">
            <a:solidFill>
              <a:srgbClr val="00FFFF"/>
            </a:solidFill>
            <a:prstDash val="solid"/>
            <a:miter/>
            <a:headEnd type="stealth" w="med" len="med"/>
            <a:tailEnd type="none" w="med" len="med"/>
          </a:ln>
        </p:spPr>
      </p:cxnSp>
      <p:cxnSp>
        <p:nvCxnSpPr>
          <p:cNvPr id="253" name="Shape 253"/>
          <p:cNvCxnSpPr/>
          <p:nvPr/>
        </p:nvCxnSpPr>
        <p:spPr>
          <a:xfrm>
            <a:off x="609897" y="4624688"/>
            <a:ext cx="985838" cy="0"/>
          </a:xfrm>
          <a:prstGeom prst="straightConnector1">
            <a:avLst/>
          </a:prstGeom>
          <a:noFill/>
          <a:ln w="76200" cap="rnd" cmpd="sng">
            <a:solidFill>
              <a:srgbClr val="00FFFF"/>
            </a:solidFill>
            <a:prstDash val="solid"/>
            <a:miter/>
            <a:headEnd type="none" w="med" len="med"/>
            <a:tailEnd type="none" w="med" len="med"/>
          </a:ln>
        </p:spPr>
      </p:cxnSp>
      <p:sp>
        <p:nvSpPr>
          <p:cNvPr id="254" name="Shape 254"/>
          <p:cNvSpPr txBox="1"/>
          <p:nvPr/>
        </p:nvSpPr>
        <p:spPr>
          <a:xfrm>
            <a:off x="305395" y="2282431"/>
            <a:ext cx="407194" cy="350043"/>
          </a:xfrm>
          <a:prstGeom prst="rect">
            <a:avLst/>
          </a:prstGeom>
          <a:noFill/>
          <a:ln w="9525" cap="flat" cmpd="sng">
            <a:no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No</a:t>
            </a:r>
          </a:p>
        </p:txBody>
      </p:sp>
      <p:sp>
        <p:nvSpPr>
          <p:cNvPr id="255" name="Shape 255"/>
          <p:cNvSpPr txBox="1"/>
          <p:nvPr/>
        </p:nvSpPr>
        <p:spPr>
          <a:xfrm>
            <a:off x="785812" y="4961337"/>
            <a:ext cx="1643063" cy="421481"/>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print('Dry off!')</a:t>
            </a:r>
          </a:p>
        </p:txBody>
      </p:sp>
      <p:sp>
        <p:nvSpPr>
          <p:cNvPr id="256" name="Shape 256"/>
          <p:cNvSpPr txBox="1"/>
          <p:nvPr/>
        </p:nvSpPr>
        <p:spPr>
          <a:xfrm>
            <a:off x="2620863" y="2282431"/>
            <a:ext cx="604539" cy="350043"/>
          </a:xfrm>
          <a:prstGeom prst="rect">
            <a:avLst/>
          </a:prstGeom>
          <a:noFill/>
          <a:ln w="9525" cap="flat" cmpd="sng">
            <a:no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Yes</a:t>
            </a:r>
          </a:p>
        </p:txBody>
      </p:sp>
      <p:sp>
        <p:nvSpPr>
          <p:cNvPr id="257" name="Shape 257"/>
          <p:cNvSpPr txBox="1"/>
          <p:nvPr/>
        </p:nvSpPr>
        <p:spPr>
          <a:xfrm>
            <a:off x="785813" y="1618062"/>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n = 0</a:t>
            </a:r>
          </a:p>
        </p:txBody>
      </p:sp>
      <p:sp>
        <p:nvSpPr>
          <p:cNvPr id="258" name="Shape 258"/>
          <p:cNvSpPr txBox="1"/>
          <p:nvPr/>
        </p:nvSpPr>
        <p:spPr>
          <a:xfrm>
            <a:off x="1915422" y="3068244"/>
            <a:ext cx="1893079" cy="42058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a:t>
            </a:r>
            <a:r>
              <a:rPr lang="en-US" sz="1969" kern="0" dirty="0">
                <a:solidFill>
                  <a:srgbClr val="FF9900"/>
                </a:solidFill>
                <a:latin typeface="Arial" charset="0"/>
                <a:ea typeface="Arial" charset="0"/>
                <a:cs typeface="Arial" charset="0"/>
                <a:sym typeface="Cabin"/>
              </a:rPr>
              <a:t>'Lather'</a:t>
            </a:r>
            <a:r>
              <a:rPr lang="en-US" sz="1969" kern="0" dirty="0">
                <a:solidFill>
                  <a:srgbClr val="FFFFFF"/>
                </a:solidFill>
                <a:latin typeface="Arial" charset="0"/>
                <a:ea typeface="Arial" charset="0"/>
                <a:cs typeface="Arial" charset="0"/>
                <a:sym typeface="Cabin"/>
              </a:rPr>
              <a:t>)</a:t>
            </a:r>
          </a:p>
        </p:txBody>
      </p:sp>
      <p:sp>
        <p:nvSpPr>
          <p:cNvPr id="248" name="Shape 248"/>
          <p:cNvSpPr txBox="1"/>
          <p:nvPr/>
        </p:nvSpPr>
        <p:spPr>
          <a:xfrm>
            <a:off x="1904705" y="3754044"/>
            <a:ext cx="1903796" cy="421481"/>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a:t>
            </a:r>
            <a:r>
              <a:rPr lang="en-US" sz="1969" kern="0" dirty="0">
                <a:solidFill>
                  <a:srgbClr val="FF9900"/>
                </a:solidFill>
                <a:latin typeface="Arial" charset="0"/>
                <a:ea typeface="Arial" charset="0"/>
                <a:cs typeface="Arial" charset="0"/>
                <a:sym typeface="Cabin"/>
              </a:rPr>
              <a:t>'Rinse'</a:t>
            </a:r>
            <a:r>
              <a:rPr lang="en-US" sz="1969" kern="0" dirty="0">
                <a:solidFill>
                  <a:srgbClr val="FFFFFF"/>
                </a:solidFill>
                <a:latin typeface="Arial" charset="0"/>
                <a:ea typeface="Arial" charset="0"/>
                <a:cs typeface="Arial" charset="0"/>
                <a:sym typeface="Cabin"/>
              </a:rPr>
              <a:t>)</a:t>
            </a:r>
          </a:p>
        </p:txBody>
      </p:sp>
      <p:sp>
        <p:nvSpPr>
          <p:cNvPr id="259" name="Shape 259"/>
          <p:cNvSpPr txBox="1"/>
          <p:nvPr/>
        </p:nvSpPr>
        <p:spPr>
          <a:xfrm>
            <a:off x="4666443" y="5026753"/>
            <a:ext cx="3545599" cy="349987"/>
          </a:xfrm>
          <a:prstGeom prst="rect">
            <a:avLst/>
          </a:prstGeom>
          <a:noFill/>
          <a:ln>
            <a:noFill/>
          </a:ln>
        </p:spPr>
        <p:txBody>
          <a:bodyPr lIns="0" tIns="0" rIns="0" bIns="0" anchor="ctr" anchorCtr="0">
            <a:noAutofit/>
          </a:bodyPr>
          <a:lstStyle/>
          <a:p>
            <a:pPr algn="ctr" defTabSz="514350">
              <a:buClr>
                <a:srgbClr val="FF00FF"/>
              </a:buClr>
              <a:buSzPct val="25000"/>
            </a:pPr>
            <a:r>
              <a:rPr lang="en-US" sz="2025" kern="0" dirty="0">
                <a:solidFill>
                  <a:srgbClr val="00FF00"/>
                </a:solidFill>
                <a:latin typeface="Arial" charset="0"/>
                <a:ea typeface="Arial" charset="0"/>
                <a:cs typeface="Arial" charset="0"/>
                <a:sym typeface="Cabin"/>
              </a:rPr>
              <a:t>What is this loop doing?</a:t>
            </a:r>
          </a:p>
        </p:txBody>
      </p:sp>
      <p:cxnSp>
        <p:nvCxnSpPr>
          <p:cNvPr id="260" name="Shape 260"/>
          <p:cNvCxnSpPr>
            <a:stCxn id="258" idx="2"/>
            <a:endCxn id="248" idx="0"/>
          </p:cNvCxnSpPr>
          <p:nvPr/>
        </p:nvCxnSpPr>
        <p:spPr>
          <a:xfrm flipH="1">
            <a:off x="2856603" y="3488831"/>
            <a:ext cx="5358" cy="265213"/>
          </a:xfrm>
          <a:prstGeom prst="straightConnector1">
            <a:avLst/>
          </a:prstGeom>
          <a:noFill/>
          <a:ln w="76200" cap="rnd" cmpd="sng">
            <a:solidFill>
              <a:srgbClr val="00FFFF"/>
            </a:solidFill>
            <a:prstDash val="solid"/>
            <a:miter/>
            <a:headEnd type="none" w="med" len="med"/>
            <a:tailEnd type="none" w="med" len="med"/>
          </a:ln>
        </p:spPr>
      </p:cxnSp>
    </p:spTree>
    <p:extLst>
      <p:ext uri="{BB962C8B-B14F-4D97-AF65-F5344CB8AC3E}">
        <p14:creationId xmlns:p14="http://schemas.microsoft.com/office/powerpoint/2010/main" val="40570533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Shape 292"/>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FF00"/>
              </a:buClr>
              <a:buSzPct val="25000"/>
            </a:pPr>
            <a:r>
              <a:rPr lang="en-US" sz="4275" dirty="0">
                <a:solidFill>
                  <a:srgbClr val="FFD966"/>
                </a:solidFill>
                <a:latin typeface="Arial" charset="0"/>
                <a:ea typeface="Arial" charset="0"/>
                <a:cs typeface="Arial" charset="0"/>
                <a:sym typeface="Cabin"/>
              </a:rPr>
              <a:t>Breaking Out of a Loop</a:t>
            </a:r>
          </a:p>
        </p:txBody>
      </p:sp>
      <p:sp>
        <p:nvSpPr>
          <p:cNvPr id="293" name="Shape 293"/>
          <p:cNvSpPr txBox="1">
            <a:spLocks noGrp="1"/>
          </p:cNvSpPr>
          <p:nvPr>
            <p:ph type="body" idx="1"/>
          </p:nvPr>
        </p:nvSpPr>
        <p:spPr>
          <a:xfrm>
            <a:off x="650081" y="2321719"/>
            <a:ext cx="7836750" cy="1519327"/>
          </a:xfrm>
          <a:prstGeom prst="rect">
            <a:avLst/>
          </a:prstGeom>
          <a:noFill/>
          <a:ln>
            <a:noFill/>
          </a:ln>
        </p:spPr>
        <p:txBody>
          <a:bodyPr lIns="21431" tIns="21431" rIns="21431" bIns="21431" anchor="ctr" anchorCtr="0">
            <a:noAutofit/>
          </a:bodyPr>
          <a:lstStyle/>
          <a:p>
            <a:pPr marL="421481" indent="-300038">
              <a:spcBef>
                <a:spcPts val="0"/>
              </a:spcBef>
              <a:buSzPct val="171000"/>
            </a:pPr>
            <a:r>
              <a:rPr lang="en-US" sz="2025" dirty="0">
                <a:solidFill>
                  <a:schemeClr val="lt1"/>
                </a:solidFill>
                <a:latin typeface="Arial" charset="0"/>
                <a:ea typeface="Arial" charset="0"/>
                <a:cs typeface="Arial" charset="0"/>
                <a:sym typeface="Cabin"/>
              </a:rPr>
              <a:t>The </a:t>
            </a:r>
            <a:r>
              <a:rPr lang="en-US" sz="2025" dirty="0">
                <a:solidFill>
                  <a:srgbClr val="FFFF00"/>
                </a:solidFill>
                <a:latin typeface="Arial" charset="0"/>
                <a:ea typeface="Arial" charset="0"/>
                <a:cs typeface="Arial" charset="0"/>
                <a:sym typeface="Cabin"/>
              </a:rPr>
              <a:t>break</a:t>
            </a:r>
            <a:r>
              <a:rPr lang="en-US" sz="2025" dirty="0">
                <a:solidFill>
                  <a:schemeClr val="lt1"/>
                </a:solidFill>
                <a:latin typeface="Arial" charset="0"/>
                <a:ea typeface="Arial" charset="0"/>
                <a:cs typeface="Arial" charset="0"/>
                <a:sym typeface="Cabin"/>
              </a:rPr>
              <a:t> statement ends the current loop and jumps to the statement immediately following the loop</a:t>
            </a:r>
          </a:p>
          <a:p>
            <a:pPr marL="421481" indent="-300038">
              <a:buSzPct val="171000"/>
            </a:pPr>
            <a:r>
              <a:rPr lang="en-US" sz="2025" dirty="0">
                <a:solidFill>
                  <a:schemeClr val="lt1"/>
                </a:solidFill>
                <a:latin typeface="Arial" charset="0"/>
                <a:ea typeface="Arial" charset="0"/>
                <a:cs typeface="Arial" charset="0"/>
                <a:sym typeface="Cabin"/>
              </a:rPr>
              <a:t>It is like a loop test that can happen anywhere in the body of the loop</a:t>
            </a:r>
          </a:p>
        </p:txBody>
      </p:sp>
      <p:sp>
        <p:nvSpPr>
          <p:cNvPr id="294" name="Shape 294"/>
          <p:cNvSpPr txBox="1"/>
          <p:nvPr/>
        </p:nvSpPr>
        <p:spPr>
          <a:xfrm>
            <a:off x="6084689" y="3783509"/>
            <a:ext cx="1369743" cy="1662708"/>
          </a:xfrm>
          <a:prstGeom prst="rect">
            <a:avLst/>
          </a:prstGeom>
          <a:noFill/>
          <a:ln>
            <a:noFill/>
          </a:ln>
        </p:spPr>
        <p:txBody>
          <a:bodyPr lIns="0" tIns="0" rIns="0" bIns="0" anchor="ctr" anchorCtr="0">
            <a:noAutofit/>
          </a:bodyPr>
          <a:lstStyle/>
          <a:p>
            <a:pPr defTabSz="514350">
              <a:buClr>
                <a:srgbClr val="FFFFFF"/>
              </a:buClr>
              <a:buSzPct val="25000"/>
            </a:pPr>
            <a:r>
              <a:rPr lang="en-US" sz="2025" kern="0">
                <a:solidFill>
                  <a:srgbClr val="FFFFFF"/>
                </a:solidFill>
                <a:latin typeface="Arial" charset="0"/>
                <a:ea typeface="Arial" charset="0"/>
                <a:cs typeface="Arial" charset="0"/>
                <a:sym typeface="Cabin"/>
              </a:rPr>
              <a:t>&gt; </a:t>
            </a:r>
            <a:r>
              <a:rPr lang="en-US" kern="0">
                <a:solidFill>
                  <a:srgbClr val="00FF00"/>
                </a:solidFill>
                <a:latin typeface="Arial" charset="0"/>
                <a:ea typeface="Arial" charset="0"/>
                <a:cs typeface="Arial" charset="0"/>
                <a:sym typeface="Cabin"/>
              </a:rPr>
              <a:t>hello there</a:t>
            </a:r>
          </a:p>
          <a:p>
            <a:pPr defTabSz="514350">
              <a:buClr>
                <a:srgbClr val="FFFFFF"/>
              </a:buClr>
              <a:buSzPct val="25000"/>
            </a:pPr>
            <a:r>
              <a:rPr lang="en-US" kern="0" dirty="0">
                <a:solidFill>
                  <a:srgbClr val="FFFFFF"/>
                </a:solidFill>
                <a:latin typeface="Arial" charset="0"/>
                <a:ea typeface="Arial" charset="0"/>
                <a:cs typeface="Arial" charset="0"/>
                <a:sym typeface="Cabin"/>
              </a:rPr>
              <a:t>hello there</a:t>
            </a:r>
          </a:p>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finished</a:t>
            </a:r>
          </a:p>
          <a:p>
            <a:pPr defTabSz="514350">
              <a:buClr>
                <a:srgbClr val="FFFFFF"/>
              </a:buClr>
              <a:buSzPct val="25000"/>
            </a:pPr>
            <a:r>
              <a:rPr lang="en-US" kern="0" dirty="0">
                <a:solidFill>
                  <a:srgbClr val="FFFFFF"/>
                </a:solidFill>
                <a:latin typeface="Arial" charset="0"/>
                <a:ea typeface="Arial" charset="0"/>
                <a:cs typeface="Arial" charset="0"/>
                <a:sym typeface="Cabin"/>
              </a:rPr>
              <a:t>finished</a:t>
            </a:r>
          </a:p>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done</a:t>
            </a:r>
          </a:p>
          <a:p>
            <a:pPr defTabSz="514350">
              <a:buClr>
                <a:srgbClr val="FFFFFF"/>
              </a:buClr>
              <a:buSzPct val="25000"/>
            </a:pPr>
            <a:r>
              <a:rPr lang="en-US" kern="0" dirty="0">
                <a:solidFill>
                  <a:srgbClr val="FFFFFF"/>
                </a:solidFill>
                <a:latin typeface="Arial" charset="0"/>
                <a:ea typeface="Arial" charset="0"/>
                <a:cs typeface="Arial" charset="0"/>
                <a:sym typeface="Cabin"/>
              </a:rPr>
              <a:t>Done!</a:t>
            </a:r>
          </a:p>
        </p:txBody>
      </p:sp>
      <p:sp>
        <p:nvSpPr>
          <p:cNvPr id="295" name="Shape 295"/>
          <p:cNvSpPr txBox="1"/>
          <p:nvPr/>
        </p:nvSpPr>
        <p:spPr>
          <a:xfrm>
            <a:off x="2123241" y="3841045"/>
            <a:ext cx="3617156" cy="1677502"/>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while</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True</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input(</a:t>
            </a:r>
            <a:r>
              <a:rPr lang="en-US" sz="1688" b="1" kern="0" dirty="0">
                <a:solidFill>
                  <a:srgbClr val="FFFFFF"/>
                </a:solidFill>
                <a:latin typeface="Courier"/>
                <a:ea typeface="Courier"/>
                <a:cs typeface="Courier"/>
                <a:sym typeface="Courier New"/>
              </a:rPr>
              <a:t>'&gt; '</a:t>
            </a:r>
            <a:r>
              <a:rPr lang="en-US" sz="1688" b="1" kern="0" dirty="0">
                <a:solidFill>
                  <a:srgbClr val="FF99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 </a:t>
            </a:r>
            <a:r>
              <a:rPr lang="en-US" sz="1688" b="1" kern="0" dirty="0">
                <a:solidFill>
                  <a:srgbClr val="FFFFFF"/>
                </a:solidFill>
                <a:latin typeface="Courier"/>
                <a:ea typeface="Courier"/>
                <a:cs typeface="Courier"/>
                <a:sym typeface="Courier New"/>
              </a:rPr>
              <a:t>'done'</a:t>
            </a:r>
            <a:r>
              <a:rPr lang="en-US" sz="1688" b="1" kern="0" dirty="0">
                <a:solidFill>
                  <a:srgbClr val="FF7F00"/>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break</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('Done!')</a:t>
            </a:r>
          </a:p>
        </p:txBody>
      </p:sp>
    </p:spTree>
    <p:extLst>
      <p:ext uri="{BB962C8B-B14F-4D97-AF65-F5344CB8AC3E}">
        <p14:creationId xmlns:p14="http://schemas.microsoft.com/office/powerpoint/2010/main" val="41021697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Shape 300"/>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FF00"/>
              </a:buClr>
              <a:buSzPct val="25000"/>
            </a:pPr>
            <a:r>
              <a:rPr lang="en-US" sz="4275">
                <a:solidFill>
                  <a:srgbClr val="FFD966"/>
                </a:solidFill>
                <a:latin typeface="Arial" charset="0"/>
                <a:ea typeface="Arial" charset="0"/>
                <a:cs typeface="Arial" charset="0"/>
                <a:sym typeface="Cabin"/>
              </a:rPr>
              <a:t>Breaking Out of a Loop</a:t>
            </a:r>
          </a:p>
        </p:txBody>
      </p:sp>
      <p:sp>
        <p:nvSpPr>
          <p:cNvPr id="301" name="Shape 301"/>
          <p:cNvSpPr txBox="1">
            <a:spLocks noGrp="1"/>
          </p:cNvSpPr>
          <p:nvPr>
            <p:ph type="body" idx="1"/>
          </p:nvPr>
        </p:nvSpPr>
        <p:spPr>
          <a:xfrm>
            <a:off x="650081" y="2321719"/>
            <a:ext cx="7836750" cy="1519327"/>
          </a:xfrm>
          <a:prstGeom prst="rect">
            <a:avLst/>
          </a:prstGeom>
          <a:noFill/>
          <a:ln>
            <a:noFill/>
          </a:ln>
        </p:spPr>
        <p:txBody>
          <a:bodyPr lIns="21431" tIns="21431" rIns="21431" bIns="21431" anchor="ctr" anchorCtr="0">
            <a:noAutofit/>
          </a:bodyPr>
          <a:lstStyle/>
          <a:p>
            <a:pPr marL="421481" indent="-300038">
              <a:spcBef>
                <a:spcPts val="0"/>
              </a:spcBef>
              <a:buSzPct val="171000"/>
            </a:pPr>
            <a:r>
              <a:rPr lang="en-US" sz="2025" dirty="0">
                <a:solidFill>
                  <a:schemeClr val="lt1"/>
                </a:solidFill>
                <a:latin typeface="Arial" charset="0"/>
                <a:ea typeface="Arial" charset="0"/>
                <a:cs typeface="Arial" charset="0"/>
                <a:sym typeface="Cabin"/>
              </a:rPr>
              <a:t>The </a:t>
            </a:r>
            <a:r>
              <a:rPr lang="en-US" sz="2025" dirty="0">
                <a:solidFill>
                  <a:srgbClr val="FFFF00"/>
                </a:solidFill>
                <a:latin typeface="Arial" charset="0"/>
                <a:ea typeface="Arial" charset="0"/>
                <a:cs typeface="Arial" charset="0"/>
                <a:sym typeface="Cabin"/>
              </a:rPr>
              <a:t>break</a:t>
            </a:r>
            <a:r>
              <a:rPr lang="en-US" sz="2025" dirty="0">
                <a:solidFill>
                  <a:schemeClr val="lt1"/>
                </a:solidFill>
                <a:latin typeface="Arial" charset="0"/>
                <a:ea typeface="Arial" charset="0"/>
                <a:cs typeface="Arial" charset="0"/>
                <a:sym typeface="Cabin"/>
              </a:rPr>
              <a:t> statement ends the current loop and jumps to the statement immediately following the loop</a:t>
            </a:r>
          </a:p>
          <a:p>
            <a:pPr marL="421481" indent="-300038">
              <a:buSzPct val="171000"/>
            </a:pPr>
            <a:r>
              <a:rPr lang="en-US" sz="2025" dirty="0">
                <a:solidFill>
                  <a:schemeClr val="lt1"/>
                </a:solidFill>
                <a:latin typeface="Arial" charset="0"/>
                <a:ea typeface="Arial" charset="0"/>
                <a:cs typeface="Arial" charset="0"/>
                <a:sym typeface="Cabin"/>
              </a:rPr>
              <a:t>It is like a loop test that can happen anywhere in the body of the loop</a:t>
            </a:r>
          </a:p>
        </p:txBody>
      </p:sp>
      <p:sp>
        <p:nvSpPr>
          <p:cNvPr id="303" name="Shape 303"/>
          <p:cNvSpPr txBox="1"/>
          <p:nvPr/>
        </p:nvSpPr>
        <p:spPr>
          <a:xfrm>
            <a:off x="6084689" y="3783508"/>
            <a:ext cx="1369743" cy="1869919"/>
          </a:xfrm>
          <a:prstGeom prst="rect">
            <a:avLst/>
          </a:prstGeom>
          <a:noFill/>
          <a:ln>
            <a:noFill/>
          </a:ln>
        </p:spPr>
        <p:txBody>
          <a:bodyPr lIns="0" tIns="0" rIns="0" bIns="0" anchor="ctr" anchorCtr="0">
            <a:noAutofit/>
          </a:bodyPr>
          <a:lstStyle/>
          <a:p>
            <a:pPr defTabSz="514350">
              <a:buClr>
                <a:srgbClr val="FFFFFF"/>
              </a:buClr>
              <a:buSzPct val="25000"/>
            </a:pPr>
            <a:r>
              <a:rPr lang="en-US" kern="0">
                <a:solidFill>
                  <a:srgbClr val="FFFFFF"/>
                </a:solidFill>
                <a:latin typeface="Arial" charset="0"/>
                <a:ea typeface="Arial" charset="0"/>
                <a:cs typeface="Arial" charset="0"/>
                <a:sym typeface="Cabin"/>
              </a:rPr>
              <a:t>&gt; </a:t>
            </a:r>
            <a:r>
              <a:rPr lang="en-US" kern="0">
                <a:solidFill>
                  <a:srgbClr val="00FF00"/>
                </a:solidFill>
                <a:latin typeface="Arial" charset="0"/>
                <a:ea typeface="Arial" charset="0"/>
                <a:cs typeface="Arial" charset="0"/>
                <a:sym typeface="Cabin"/>
              </a:rPr>
              <a:t>hello there</a:t>
            </a:r>
          </a:p>
          <a:p>
            <a:pPr defTabSz="514350">
              <a:buClr>
                <a:srgbClr val="FFFFFF"/>
              </a:buClr>
              <a:buSzPct val="25000"/>
            </a:pPr>
            <a:r>
              <a:rPr lang="en-US" kern="0">
                <a:solidFill>
                  <a:srgbClr val="FFFFFF"/>
                </a:solidFill>
                <a:latin typeface="Arial" charset="0"/>
                <a:ea typeface="Arial" charset="0"/>
                <a:cs typeface="Arial" charset="0"/>
                <a:sym typeface="Cabin"/>
              </a:rPr>
              <a:t>hello there</a:t>
            </a:r>
          </a:p>
          <a:p>
            <a:pPr defTabSz="514350">
              <a:buClr>
                <a:srgbClr val="FFFFFF"/>
              </a:buClr>
              <a:buSzPct val="25000"/>
            </a:pPr>
            <a:r>
              <a:rPr lang="en-US" kern="0">
                <a:solidFill>
                  <a:srgbClr val="FFFFFF"/>
                </a:solidFill>
                <a:latin typeface="Arial" charset="0"/>
                <a:ea typeface="Arial" charset="0"/>
                <a:cs typeface="Arial" charset="0"/>
                <a:sym typeface="Cabin"/>
              </a:rPr>
              <a:t>&gt; </a:t>
            </a:r>
            <a:r>
              <a:rPr lang="en-US" kern="0">
                <a:solidFill>
                  <a:srgbClr val="00FF00"/>
                </a:solidFill>
                <a:latin typeface="Arial" charset="0"/>
                <a:ea typeface="Arial" charset="0"/>
                <a:cs typeface="Arial" charset="0"/>
                <a:sym typeface="Cabin"/>
              </a:rPr>
              <a:t>finished</a:t>
            </a:r>
          </a:p>
          <a:p>
            <a:pPr defTabSz="514350">
              <a:buClr>
                <a:srgbClr val="FFFFFF"/>
              </a:buClr>
              <a:buSzPct val="25000"/>
            </a:pPr>
            <a:r>
              <a:rPr lang="en-US" kern="0">
                <a:solidFill>
                  <a:srgbClr val="FFFFFF"/>
                </a:solidFill>
                <a:latin typeface="Arial" charset="0"/>
                <a:ea typeface="Arial" charset="0"/>
                <a:cs typeface="Arial" charset="0"/>
                <a:sym typeface="Cabin"/>
              </a:rPr>
              <a:t>finished</a:t>
            </a:r>
          </a:p>
          <a:p>
            <a:pPr defTabSz="514350">
              <a:buClr>
                <a:srgbClr val="FFFFFF"/>
              </a:buClr>
              <a:buSzPct val="25000"/>
            </a:pPr>
            <a:r>
              <a:rPr lang="en-US" kern="0">
                <a:solidFill>
                  <a:srgbClr val="FFFFFF"/>
                </a:solidFill>
                <a:latin typeface="Arial" charset="0"/>
                <a:ea typeface="Arial" charset="0"/>
                <a:cs typeface="Arial" charset="0"/>
                <a:sym typeface="Cabin"/>
              </a:rPr>
              <a:t>&gt; </a:t>
            </a:r>
            <a:r>
              <a:rPr lang="en-US" kern="0">
                <a:solidFill>
                  <a:srgbClr val="00FF00"/>
                </a:solidFill>
                <a:latin typeface="Arial" charset="0"/>
                <a:ea typeface="Arial" charset="0"/>
                <a:cs typeface="Arial" charset="0"/>
                <a:sym typeface="Cabin"/>
              </a:rPr>
              <a:t>done</a:t>
            </a:r>
          </a:p>
          <a:p>
            <a:pPr defTabSz="514350">
              <a:buClr>
                <a:srgbClr val="FFFFFF"/>
              </a:buClr>
              <a:buSzPct val="25000"/>
            </a:pPr>
            <a:r>
              <a:rPr lang="en-US" kern="0">
                <a:solidFill>
                  <a:srgbClr val="FFFFFF"/>
                </a:solidFill>
                <a:latin typeface="Arial" charset="0"/>
                <a:ea typeface="Arial" charset="0"/>
                <a:cs typeface="Arial" charset="0"/>
                <a:sym typeface="Cabin"/>
              </a:rPr>
              <a:t>Done!</a:t>
            </a:r>
          </a:p>
        </p:txBody>
      </p:sp>
      <p:cxnSp>
        <p:nvCxnSpPr>
          <p:cNvPr id="304" name="Shape 304"/>
          <p:cNvCxnSpPr/>
          <p:nvPr/>
        </p:nvCxnSpPr>
        <p:spPr>
          <a:xfrm flipH="1" flipV="1">
            <a:off x="1734046" y="5113112"/>
            <a:ext cx="323354" cy="196481"/>
          </a:xfrm>
          <a:prstGeom prst="straightConnector1">
            <a:avLst/>
          </a:prstGeom>
          <a:noFill/>
          <a:ln w="50800" cap="rnd" cmpd="sng">
            <a:solidFill>
              <a:srgbClr val="FFFF00"/>
            </a:solidFill>
            <a:prstDash val="solid"/>
            <a:miter/>
            <a:headEnd type="stealth" w="med" len="med"/>
            <a:tailEnd type="none" w="med" len="med"/>
          </a:ln>
        </p:spPr>
      </p:cxnSp>
      <p:cxnSp>
        <p:nvCxnSpPr>
          <p:cNvPr id="305" name="Shape 305"/>
          <p:cNvCxnSpPr/>
          <p:nvPr/>
        </p:nvCxnSpPr>
        <p:spPr>
          <a:xfrm flipV="1">
            <a:off x="1701999" y="4803279"/>
            <a:ext cx="1311771" cy="300036"/>
          </a:xfrm>
          <a:prstGeom prst="straightConnector1">
            <a:avLst/>
          </a:prstGeom>
          <a:noFill/>
          <a:ln w="50800" cap="rnd" cmpd="sng">
            <a:solidFill>
              <a:srgbClr val="FFFF00"/>
            </a:solidFill>
            <a:prstDash val="solid"/>
            <a:miter/>
            <a:headEnd type="stealth" w="med" len="med"/>
            <a:tailEnd type="none" w="med" len="med"/>
          </a:ln>
        </p:spPr>
      </p:cxnSp>
      <p:sp>
        <p:nvSpPr>
          <p:cNvPr id="8" name="Shape 295"/>
          <p:cNvSpPr txBox="1"/>
          <p:nvPr/>
        </p:nvSpPr>
        <p:spPr>
          <a:xfrm>
            <a:off x="2123241" y="3841045"/>
            <a:ext cx="3617156" cy="1677502"/>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while</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True</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input(</a:t>
            </a:r>
            <a:r>
              <a:rPr lang="en-US" sz="1688" b="1" kern="0" dirty="0">
                <a:solidFill>
                  <a:srgbClr val="FFFFFF"/>
                </a:solidFill>
                <a:latin typeface="Courier"/>
                <a:ea typeface="Courier"/>
                <a:cs typeface="Courier"/>
                <a:sym typeface="Courier New"/>
              </a:rPr>
              <a:t>'&gt; '</a:t>
            </a:r>
            <a:r>
              <a:rPr lang="en-US" sz="1688" b="1" kern="0" dirty="0">
                <a:solidFill>
                  <a:srgbClr val="FF99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9900"/>
                </a:solidFill>
                <a:latin typeface="Courier"/>
                <a:ea typeface="Courier"/>
                <a:cs typeface="Courier"/>
                <a:sym typeface="Courier New"/>
              </a:rPr>
              <a:t> </a:t>
            </a:r>
            <a:r>
              <a:rPr lang="en-US" sz="1688" b="1" kern="0" dirty="0">
                <a:solidFill>
                  <a:srgbClr val="FFFFFF"/>
                </a:solidFill>
                <a:latin typeface="Courier"/>
                <a:ea typeface="Courier"/>
                <a:cs typeface="Courier"/>
                <a:sym typeface="Courier New"/>
              </a:rPr>
              <a:t>'done'</a:t>
            </a:r>
            <a:r>
              <a:rPr lang="en-US" sz="1688" b="1" kern="0" dirty="0">
                <a:solidFill>
                  <a:srgbClr val="FF7F00"/>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break</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('Done!')</a:t>
            </a:r>
          </a:p>
        </p:txBody>
      </p:sp>
    </p:spTree>
    <p:extLst>
      <p:ext uri="{BB962C8B-B14F-4D97-AF65-F5344CB8AC3E}">
        <p14:creationId xmlns:p14="http://schemas.microsoft.com/office/powerpoint/2010/main" val="31082257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cxnSp>
        <p:nvCxnSpPr>
          <p:cNvPr id="310" name="Shape 310"/>
          <p:cNvCxnSpPr/>
          <p:nvPr/>
        </p:nvCxnSpPr>
        <p:spPr>
          <a:xfrm rot="10800000">
            <a:off x="6197139" y="1170703"/>
            <a:ext cx="8100" cy="318768"/>
          </a:xfrm>
          <a:prstGeom prst="straightConnector1">
            <a:avLst/>
          </a:prstGeom>
          <a:noFill/>
          <a:ln w="76200" cap="rnd" cmpd="sng">
            <a:solidFill>
              <a:srgbClr val="00FFFF"/>
            </a:solidFill>
            <a:prstDash val="solid"/>
            <a:miter/>
            <a:headEnd type="stealth" w="med" len="med"/>
            <a:tailEnd type="none" w="med" len="med"/>
          </a:ln>
        </p:spPr>
      </p:cxnSp>
      <p:sp>
        <p:nvSpPr>
          <p:cNvPr id="311" name="Shape 311"/>
          <p:cNvSpPr/>
          <p:nvPr/>
        </p:nvSpPr>
        <p:spPr>
          <a:xfrm>
            <a:off x="5400675" y="1485900"/>
            <a:ext cx="1614431" cy="714318"/>
          </a:xfrm>
          <a:prstGeom prst="diamond">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2025" kern="0">
                <a:solidFill>
                  <a:srgbClr val="FF9900"/>
                </a:solidFill>
                <a:latin typeface="Arial" charset="0"/>
                <a:ea typeface="Arial" charset="0"/>
                <a:cs typeface="Arial" charset="0"/>
                <a:sym typeface="Cabin"/>
              </a:rPr>
              <a:t>True ?</a:t>
            </a:r>
          </a:p>
        </p:txBody>
      </p:sp>
      <p:cxnSp>
        <p:nvCxnSpPr>
          <p:cNvPr id="312" name="Shape 312"/>
          <p:cNvCxnSpPr/>
          <p:nvPr/>
        </p:nvCxnSpPr>
        <p:spPr>
          <a:xfrm rot="10800000" flipH="1">
            <a:off x="6179119" y="2221763"/>
            <a:ext cx="28856" cy="2224462"/>
          </a:xfrm>
          <a:prstGeom prst="straightConnector1">
            <a:avLst/>
          </a:prstGeom>
          <a:noFill/>
          <a:ln w="76200" cap="rnd" cmpd="sng">
            <a:solidFill>
              <a:srgbClr val="00FFFF"/>
            </a:solidFill>
            <a:prstDash val="solid"/>
            <a:miter/>
            <a:headEnd type="none" w="med" len="med"/>
            <a:tailEnd type="stealth" w="med" len="med"/>
          </a:ln>
        </p:spPr>
      </p:cxnSp>
      <p:cxnSp>
        <p:nvCxnSpPr>
          <p:cNvPr id="313" name="Shape 313"/>
          <p:cNvCxnSpPr/>
          <p:nvPr/>
        </p:nvCxnSpPr>
        <p:spPr>
          <a:xfrm rot="10800000">
            <a:off x="6965143" y="1839502"/>
            <a:ext cx="437568" cy="8943"/>
          </a:xfrm>
          <a:prstGeom prst="straightConnector1">
            <a:avLst/>
          </a:prstGeom>
          <a:noFill/>
          <a:ln w="76200" cap="rnd" cmpd="sng">
            <a:solidFill>
              <a:srgbClr val="00FFFF"/>
            </a:solidFill>
            <a:prstDash val="solid"/>
            <a:miter/>
            <a:headEnd type="none" w="med" len="med"/>
            <a:tailEnd type="none" w="med" len="med"/>
          </a:ln>
        </p:spPr>
      </p:cxnSp>
      <p:cxnSp>
        <p:nvCxnSpPr>
          <p:cNvPr id="314" name="Shape 314"/>
          <p:cNvCxnSpPr>
            <a:stCxn id="315" idx="0"/>
            <a:endCxn id="316" idx="2"/>
          </p:cNvCxnSpPr>
          <p:nvPr/>
        </p:nvCxnSpPr>
        <p:spPr>
          <a:xfrm rot="10800000" flipH="1">
            <a:off x="7408096" y="2629013"/>
            <a:ext cx="28519" cy="1150031"/>
          </a:xfrm>
          <a:prstGeom prst="straightConnector1">
            <a:avLst/>
          </a:prstGeom>
          <a:noFill/>
          <a:ln w="76200" cap="rnd" cmpd="sng">
            <a:solidFill>
              <a:srgbClr val="00FFFF"/>
            </a:solidFill>
            <a:prstDash val="solid"/>
            <a:miter/>
            <a:headEnd type="none" w="med" len="med"/>
            <a:tailEnd type="none" w="med" len="med"/>
          </a:ln>
        </p:spPr>
      </p:cxnSp>
      <p:cxnSp>
        <p:nvCxnSpPr>
          <p:cNvPr id="317" name="Shape 317"/>
          <p:cNvCxnSpPr/>
          <p:nvPr/>
        </p:nvCxnSpPr>
        <p:spPr>
          <a:xfrm>
            <a:off x="6172313" y="4446225"/>
            <a:ext cx="1250943" cy="0"/>
          </a:xfrm>
          <a:prstGeom prst="straightConnector1">
            <a:avLst/>
          </a:prstGeom>
          <a:noFill/>
          <a:ln w="76200" cap="rnd" cmpd="sng">
            <a:solidFill>
              <a:srgbClr val="00FFFF"/>
            </a:solidFill>
            <a:prstDash val="solid"/>
            <a:miter/>
            <a:headEnd type="none" w="med" len="med"/>
            <a:tailEnd type="none" w="med" len="med"/>
          </a:ln>
        </p:spPr>
      </p:cxnSp>
      <p:cxnSp>
        <p:nvCxnSpPr>
          <p:cNvPr id="318" name="Shape 318"/>
          <p:cNvCxnSpPr/>
          <p:nvPr/>
        </p:nvCxnSpPr>
        <p:spPr>
          <a:xfrm flipH="1">
            <a:off x="5200636" y="1848445"/>
            <a:ext cx="223256" cy="1856"/>
          </a:xfrm>
          <a:prstGeom prst="straightConnector1">
            <a:avLst/>
          </a:prstGeom>
          <a:noFill/>
          <a:ln w="76200" cap="rnd" cmpd="sng">
            <a:solidFill>
              <a:srgbClr val="00FFFF"/>
            </a:solidFill>
            <a:prstDash val="solid"/>
            <a:miter/>
            <a:headEnd type="none" w="med" len="med"/>
            <a:tailEnd type="stealth" w="med" len="med"/>
          </a:ln>
        </p:spPr>
      </p:cxnSp>
      <p:cxnSp>
        <p:nvCxnSpPr>
          <p:cNvPr id="319" name="Shape 319"/>
          <p:cNvCxnSpPr/>
          <p:nvPr/>
        </p:nvCxnSpPr>
        <p:spPr>
          <a:xfrm rot="10800000" flipH="1">
            <a:off x="6155233" y="4732804"/>
            <a:ext cx="8943" cy="362475"/>
          </a:xfrm>
          <a:prstGeom prst="straightConnector1">
            <a:avLst/>
          </a:prstGeom>
          <a:noFill/>
          <a:ln w="76200" cap="rnd" cmpd="sng">
            <a:solidFill>
              <a:srgbClr val="00FFFF"/>
            </a:solidFill>
            <a:prstDash val="solid"/>
            <a:miter/>
            <a:headEnd type="stealth" w="med" len="med"/>
            <a:tailEnd type="none" w="med" len="med"/>
          </a:ln>
        </p:spPr>
      </p:cxnSp>
      <p:cxnSp>
        <p:nvCxnSpPr>
          <p:cNvPr id="320" name="Shape 320"/>
          <p:cNvCxnSpPr/>
          <p:nvPr/>
        </p:nvCxnSpPr>
        <p:spPr>
          <a:xfrm rot="10800000" flipH="1">
            <a:off x="5176539" y="1843094"/>
            <a:ext cx="33075" cy="2899462"/>
          </a:xfrm>
          <a:prstGeom prst="straightConnector1">
            <a:avLst/>
          </a:prstGeom>
          <a:noFill/>
          <a:ln w="76200" cap="rnd" cmpd="sng">
            <a:solidFill>
              <a:srgbClr val="00FFFF"/>
            </a:solidFill>
            <a:prstDash val="solid"/>
            <a:miter/>
            <a:headEnd type="stealth" w="med" len="med"/>
            <a:tailEnd type="none" w="med" len="med"/>
          </a:ln>
        </p:spPr>
      </p:cxnSp>
      <p:cxnSp>
        <p:nvCxnSpPr>
          <p:cNvPr id="321" name="Shape 321"/>
          <p:cNvCxnSpPr/>
          <p:nvPr/>
        </p:nvCxnSpPr>
        <p:spPr>
          <a:xfrm>
            <a:off x="5184084" y="4721738"/>
            <a:ext cx="969300" cy="20756"/>
          </a:xfrm>
          <a:prstGeom prst="straightConnector1">
            <a:avLst/>
          </a:prstGeom>
          <a:noFill/>
          <a:ln w="76200" cap="rnd" cmpd="sng">
            <a:solidFill>
              <a:srgbClr val="00FFFF"/>
            </a:solidFill>
            <a:prstDash val="solid"/>
            <a:miter/>
            <a:headEnd type="none" w="med" len="med"/>
            <a:tailEnd type="none" w="med" len="med"/>
          </a:ln>
        </p:spPr>
      </p:cxnSp>
      <p:sp>
        <p:nvSpPr>
          <p:cNvPr id="322" name="Shape 322"/>
          <p:cNvSpPr txBox="1"/>
          <p:nvPr/>
        </p:nvSpPr>
        <p:spPr>
          <a:xfrm>
            <a:off x="4905970" y="1421607"/>
            <a:ext cx="407194"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No</a:t>
            </a:r>
          </a:p>
        </p:txBody>
      </p:sp>
      <p:sp>
        <p:nvSpPr>
          <p:cNvPr id="323" name="Shape 323"/>
          <p:cNvSpPr txBox="1"/>
          <p:nvPr/>
        </p:nvSpPr>
        <p:spPr>
          <a:xfrm>
            <a:off x="5343525" y="5079207"/>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print('Done')</a:t>
            </a:r>
          </a:p>
        </p:txBody>
      </p:sp>
      <p:sp>
        <p:nvSpPr>
          <p:cNvPr id="324" name="Shape 324"/>
          <p:cNvSpPr txBox="1"/>
          <p:nvPr/>
        </p:nvSpPr>
        <p:spPr>
          <a:xfrm>
            <a:off x="7221438" y="1421607"/>
            <a:ext cx="590133"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dirty="0">
                <a:solidFill>
                  <a:srgbClr val="FFFFFF"/>
                </a:solidFill>
                <a:latin typeface="Arial" charset="0"/>
                <a:ea typeface="Arial" charset="0"/>
                <a:cs typeface="Arial" charset="0"/>
                <a:sym typeface="Cabin"/>
              </a:rPr>
              <a:t>Yes</a:t>
            </a:r>
          </a:p>
        </p:txBody>
      </p:sp>
      <p:sp>
        <p:nvSpPr>
          <p:cNvPr id="316" name="Shape 316"/>
          <p:cNvSpPr txBox="1"/>
          <p:nvPr/>
        </p:nvSpPr>
        <p:spPr>
          <a:xfrm>
            <a:off x="6615113" y="2207419"/>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a:t>
            </a:r>
          </a:p>
        </p:txBody>
      </p:sp>
      <p:sp>
        <p:nvSpPr>
          <p:cNvPr id="315" name="Shape 315"/>
          <p:cNvSpPr txBox="1"/>
          <p:nvPr/>
        </p:nvSpPr>
        <p:spPr>
          <a:xfrm>
            <a:off x="6586538" y="3779044"/>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a:t>
            </a:r>
          </a:p>
        </p:txBody>
      </p:sp>
      <p:cxnSp>
        <p:nvCxnSpPr>
          <p:cNvPr id="325" name="Shape 325"/>
          <p:cNvCxnSpPr/>
          <p:nvPr/>
        </p:nvCxnSpPr>
        <p:spPr>
          <a:xfrm rot="10800000">
            <a:off x="8334021" y="3489700"/>
            <a:ext cx="571556" cy="838518"/>
          </a:xfrm>
          <a:prstGeom prst="straightConnector1">
            <a:avLst/>
          </a:prstGeom>
          <a:noFill/>
          <a:ln w="76200" cap="rnd" cmpd="sng">
            <a:solidFill>
              <a:srgbClr val="FFFF00"/>
            </a:solidFill>
            <a:prstDash val="solid"/>
            <a:miter/>
            <a:headEnd type="stealth" w="med" len="med"/>
            <a:tailEnd type="none" w="med" len="med"/>
          </a:ln>
        </p:spPr>
      </p:cxnSp>
      <p:cxnSp>
        <p:nvCxnSpPr>
          <p:cNvPr id="326" name="Shape 326"/>
          <p:cNvCxnSpPr/>
          <p:nvPr/>
        </p:nvCxnSpPr>
        <p:spPr>
          <a:xfrm rot="10800000" flipH="1">
            <a:off x="6723161" y="4313988"/>
            <a:ext cx="2165400" cy="757181"/>
          </a:xfrm>
          <a:prstGeom prst="straightConnector1">
            <a:avLst/>
          </a:prstGeom>
          <a:noFill/>
          <a:ln w="76200" cap="rnd" cmpd="sng">
            <a:solidFill>
              <a:srgbClr val="FFFF00"/>
            </a:solidFill>
            <a:prstDash val="solid"/>
            <a:miter/>
            <a:headEnd type="stealth" w="med" len="med"/>
            <a:tailEnd type="none" w="med" len="med"/>
          </a:ln>
        </p:spPr>
      </p:cxnSp>
      <p:sp>
        <p:nvSpPr>
          <p:cNvPr id="327" name="Shape 327"/>
          <p:cNvSpPr txBox="1"/>
          <p:nvPr/>
        </p:nvSpPr>
        <p:spPr>
          <a:xfrm>
            <a:off x="985838" y="1529648"/>
            <a:ext cx="3688875" cy="1869919"/>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while</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True</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input(</a:t>
            </a:r>
            <a:r>
              <a:rPr lang="en-US" sz="1688" b="1" kern="0" dirty="0">
                <a:solidFill>
                  <a:srgbClr val="FFFFFF"/>
                </a:solidFill>
                <a:latin typeface="Courier"/>
                <a:ea typeface="Courier"/>
                <a:cs typeface="Courier"/>
                <a:sym typeface="Courier New"/>
              </a:rPr>
              <a:t>'&gt; '</a:t>
            </a:r>
            <a:r>
              <a:rPr lang="en-US" sz="1688" b="1" kern="0" dirty="0">
                <a:solidFill>
                  <a:srgbClr val="FF99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'done'</a:t>
            </a:r>
            <a:r>
              <a:rPr lang="en-US" sz="1688" b="1" kern="0" dirty="0">
                <a:solidFill>
                  <a:srgbClr val="FFFF00"/>
                </a:solidFill>
                <a:latin typeface="Courier"/>
                <a:ea typeface="Courier"/>
                <a:cs typeface="Courier"/>
                <a:sym typeface="Courier New"/>
              </a:rPr>
              <a:t> :</a:t>
            </a:r>
            <a:r>
              <a:rPr lang="en-US" sz="1688" b="1" kern="0" dirty="0">
                <a:solidFill>
                  <a:srgbClr val="FFFFFF"/>
                </a:solidFill>
                <a:latin typeface="Courier"/>
                <a:ea typeface="Courier"/>
                <a:cs typeface="Courier"/>
                <a:sym typeface="Courier New"/>
              </a:rPr>
              <a:t> </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break</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('Done!')</a:t>
            </a:r>
          </a:p>
        </p:txBody>
      </p:sp>
      <p:cxnSp>
        <p:nvCxnSpPr>
          <p:cNvPr id="328" name="Shape 328"/>
          <p:cNvCxnSpPr/>
          <p:nvPr/>
        </p:nvCxnSpPr>
        <p:spPr>
          <a:xfrm rot="10800000">
            <a:off x="741881" y="2828334"/>
            <a:ext cx="196256" cy="306281"/>
          </a:xfrm>
          <a:prstGeom prst="straightConnector1">
            <a:avLst/>
          </a:prstGeom>
          <a:noFill/>
          <a:ln w="50800" cap="rnd" cmpd="sng">
            <a:solidFill>
              <a:srgbClr val="FFFF00"/>
            </a:solidFill>
            <a:prstDash val="solid"/>
            <a:miter/>
            <a:headEnd type="stealth" w="med" len="med"/>
            <a:tailEnd type="none" w="med" len="med"/>
          </a:ln>
        </p:spPr>
      </p:cxnSp>
      <p:cxnSp>
        <p:nvCxnSpPr>
          <p:cNvPr id="329" name="Shape 329"/>
          <p:cNvCxnSpPr/>
          <p:nvPr/>
        </p:nvCxnSpPr>
        <p:spPr>
          <a:xfrm rot="10800000" flipH="1">
            <a:off x="712091" y="2610113"/>
            <a:ext cx="1005244" cy="212118"/>
          </a:xfrm>
          <a:prstGeom prst="straightConnector1">
            <a:avLst/>
          </a:prstGeom>
          <a:noFill/>
          <a:ln w="50800" cap="rnd" cmpd="sng">
            <a:solidFill>
              <a:srgbClr val="FFFF00"/>
            </a:solidFill>
            <a:prstDash val="solid"/>
            <a:miter/>
            <a:headEnd type="stealth" w="med" len="med"/>
            <a:tailEnd type="none" w="med" len="med"/>
          </a:ln>
        </p:spPr>
      </p:cxnSp>
      <p:cxnSp>
        <p:nvCxnSpPr>
          <p:cNvPr id="330" name="Shape 330"/>
          <p:cNvCxnSpPr/>
          <p:nvPr/>
        </p:nvCxnSpPr>
        <p:spPr>
          <a:xfrm rot="10800000">
            <a:off x="7430288" y="2649502"/>
            <a:ext cx="577631" cy="348637"/>
          </a:xfrm>
          <a:prstGeom prst="straightConnector1">
            <a:avLst/>
          </a:prstGeom>
          <a:noFill/>
          <a:ln w="76200" cap="rnd" cmpd="sng">
            <a:solidFill>
              <a:srgbClr val="00FFFF"/>
            </a:solidFill>
            <a:prstDash val="solid"/>
            <a:miter/>
            <a:headEnd type="none" w="med" len="med"/>
            <a:tailEnd type="none" w="med" len="med"/>
          </a:ln>
        </p:spPr>
      </p:cxnSp>
      <p:pic>
        <p:nvPicPr>
          <p:cNvPr id="331" name="Shape 331"/>
          <p:cNvPicPr preferRelativeResize="0"/>
          <p:nvPr/>
        </p:nvPicPr>
        <p:blipFill rotWithShape="1">
          <a:blip r:embed="rId3">
            <a:alphaModFix/>
          </a:blip>
          <a:srcRect/>
          <a:stretch/>
        </p:blipFill>
        <p:spPr>
          <a:xfrm>
            <a:off x="1724816" y="3754486"/>
            <a:ext cx="1228724" cy="1147465"/>
          </a:xfrm>
          <a:prstGeom prst="rect">
            <a:avLst/>
          </a:prstGeom>
          <a:noFill/>
          <a:ln>
            <a:noFill/>
          </a:ln>
        </p:spPr>
      </p:pic>
      <p:sp>
        <p:nvSpPr>
          <p:cNvPr id="332" name="Shape 332"/>
          <p:cNvSpPr txBox="1"/>
          <p:nvPr/>
        </p:nvSpPr>
        <p:spPr>
          <a:xfrm>
            <a:off x="233558" y="4998392"/>
            <a:ext cx="4846162" cy="300037"/>
          </a:xfrm>
          <a:prstGeom prst="rect">
            <a:avLst/>
          </a:prstGeom>
          <a:noFill/>
          <a:ln>
            <a:noFill/>
          </a:ln>
        </p:spPr>
        <p:txBody>
          <a:bodyPr lIns="0" tIns="0" rIns="0" bIns="0" anchor="ctr" anchorCtr="0">
            <a:noAutofit/>
          </a:bodyPr>
          <a:lstStyle/>
          <a:p>
            <a:pPr algn="ctr" defTabSz="514350">
              <a:buClr>
                <a:srgbClr val="FFFF00"/>
              </a:buClr>
              <a:buSzPct val="25000"/>
            </a:pPr>
            <a:r>
              <a:rPr lang="en-US" sz="1350" u="sng" kern="0" dirty="0">
                <a:solidFill>
                  <a:srgbClr val="FFFF00"/>
                </a:solidFill>
                <a:latin typeface="Arial" charset="0"/>
                <a:ea typeface="Arial" charset="0"/>
                <a:cs typeface="Arial" charset="0"/>
                <a:sym typeface="Cabin"/>
                <a:hlinkClick r:id="rId4"/>
              </a:rPr>
              <a:t>http://en.wikipedia.org/wiki/Transporter_(Star_Trek)</a:t>
            </a:r>
          </a:p>
        </p:txBody>
      </p:sp>
      <p:sp>
        <p:nvSpPr>
          <p:cNvPr id="333" name="Shape 333"/>
          <p:cNvSpPr txBox="1"/>
          <p:nvPr/>
        </p:nvSpPr>
        <p:spPr>
          <a:xfrm>
            <a:off x="7686675" y="3036094"/>
            <a:ext cx="1228669"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break</a:t>
            </a:r>
          </a:p>
        </p:txBody>
      </p:sp>
      <p:cxnSp>
        <p:nvCxnSpPr>
          <p:cNvPr id="334" name="Shape 334"/>
          <p:cNvCxnSpPr/>
          <p:nvPr/>
        </p:nvCxnSpPr>
        <p:spPr>
          <a:xfrm rot="10800000">
            <a:off x="7432629" y="4188037"/>
            <a:ext cx="8100" cy="318768"/>
          </a:xfrm>
          <a:prstGeom prst="straightConnector1">
            <a:avLst/>
          </a:prstGeom>
          <a:noFill/>
          <a:ln w="76200" cap="rnd" cmpd="sng">
            <a:solidFill>
              <a:srgbClr val="00FFFF"/>
            </a:solidFill>
            <a:prstDash val="solid"/>
            <a:miter/>
            <a:headEnd type="stealth" w="med" len="med"/>
            <a:tailEnd type="none" w="med" len="med"/>
          </a:ln>
        </p:spPr>
      </p:cxnSp>
      <p:cxnSp>
        <p:nvCxnSpPr>
          <p:cNvPr id="335" name="Shape 335"/>
          <p:cNvCxnSpPr/>
          <p:nvPr/>
        </p:nvCxnSpPr>
        <p:spPr>
          <a:xfrm rot="10800000">
            <a:off x="7384802" y="1872984"/>
            <a:ext cx="8100" cy="318768"/>
          </a:xfrm>
          <a:prstGeom prst="straightConnector1">
            <a:avLst/>
          </a:prstGeom>
          <a:noFill/>
          <a:ln w="76200" cap="rnd" cmpd="sng">
            <a:solidFill>
              <a:srgbClr val="00FFFF"/>
            </a:solidFill>
            <a:prstDash val="solid"/>
            <a:miter/>
            <a:headEnd type="stealth" w="med" len="med"/>
            <a:tailEnd type="none" w="med" len="med"/>
          </a:ln>
        </p:spPr>
      </p:cxnSp>
    </p:spTree>
    <p:extLst>
      <p:ext uri="{BB962C8B-B14F-4D97-AF65-F5344CB8AC3E}">
        <p14:creationId xmlns:p14="http://schemas.microsoft.com/office/powerpoint/2010/main" val="11102817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3" name="Shape 343"/>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FF00"/>
              </a:buClr>
              <a:buSzPct val="25000"/>
            </a:pPr>
            <a:r>
              <a:rPr lang="en-US" dirty="0">
                <a:solidFill>
                  <a:srgbClr val="FFD966"/>
                </a:solidFill>
                <a:latin typeface="Arial" charset="0"/>
                <a:ea typeface="Arial" charset="0"/>
                <a:cs typeface="Arial" charset="0"/>
                <a:sym typeface="Cabin"/>
              </a:rPr>
              <a:t>Finishing an Iteration with </a:t>
            </a:r>
            <a:r>
              <a:rPr lang="en-US" dirty="0">
                <a:latin typeface="Arial" charset="0"/>
                <a:ea typeface="Arial" charset="0"/>
                <a:cs typeface="Arial" charset="0"/>
                <a:sym typeface="Cabin"/>
              </a:rPr>
              <a:t>continue</a:t>
            </a:r>
          </a:p>
        </p:txBody>
      </p:sp>
      <p:sp>
        <p:nvSpPr>
          <p:cNvPr id="340" name="Shape 340"/>
          <p:cNvSpPr txBox="1">
            <a:spLocks noGrp="1"/>
          </p:cNvSpPr>
          <p:nvPr>
            <p:ph type="body" idx="1"/>
          </p:nvPr>
        </p:nvSpPr>
        <p:spPr>
          <a:xfrm>
            <a:off x="650081" y="2357741"/>
            <a:ext cx="7836750" cy="930473"/>
          </a:xfrm>
          <a:prstGeom prst="rect">
            <a:avLst/>
          </a:prstGeom>
          <a:noFill/>
          <a:ln>
            <a:noFill/>
          </a:ln>
        </p:spPr>
        <p:txBody>
          <a:bodyPr lIns="21431" tIns="21431" rIns="21431" bIns="21431" anchor="ctr" anchorCtr="0">
            <a:noAutofit/>
          </a:bodyPr>
          <a:lstStyle/>
          <a:p>
            <a:pPr marL="0" indent="0">
              <a:spcBef>
                <a:spcPts val="0"/>
              </a:spcBef>
              <a:buNone/>
            </a:pPr>
            <a:r>
              <a:rPr lang="en-US" sz="2025" dirty="0">
                <a:solidFill>
                  <a:schemeClr val="lt1"/>
                </a:solidFill>
                <a:latin typeface="Arial" charset="0"/>
                <a:ea typeface="Arial" charset="0"/>
                <a:cs typeface="Arial" charset="0"/>
                <a:sym typeface="Cabin"/>
              </a:rPr>
              <a:t>The </a:t>
            </a:r>
            <a:r>
              <a:rPr lang="en-US" sz="2025" dirty="0">
                <a:solidFill>
                  <a:srgbClr val="FFFF00"/>
                </a:solidFill>
                <a:latin typeface="Arial" charset="0"/>
                <a:ea typeface="Arial" charset="0"/>
                <a:cs typeface="Arial" charset="0"/>
                <a:sym typeface="Cabin"/>
              </a:rPr>
              <a:t>continue</a:t>
            </a:r>
            <a:r>
              <a:rPr lang="en-US" sz="2025" dirty="0">
                <a:solidFill>
                  <a:schemeClr val="lt1"/>
                </a:solidFill>
                <a:latin typeface="Arial" charset="0"/>
                <a:ea typeface="Arial" charset="0"/>
                <a:cs typeface="Arial" charset="0"/>
                <a:sym typeface="Cabin"/>
              </a:rPr>
              <a:t> statement ends the current iteration and jumps to the top of the loop and starts the next iteration</a:t>
            </a:r>
          </a:p>
        </p:txBody>
      </p:sp>
      <p:sp>
        <p:nvSpPr>
          <p:cNvPr id="341" name="Shape 341"/>
          <p:cNvSpPr txBox="1"/>
          <p:nvPr/>
        </p:nvSpPr>
        <p:spPr>
          <a:xfrm>
            <a:off x="1743076" y="3189685"/>
            <a:ext cx="3393224" cy="2493112"/>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while</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True</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input(</a:t>
            </a:r>
            <a:r>
              <a:rPr lang="en-US" sz="1688" b="1" kern="0" dirty="0">
                <a:solidFill>
                  <a:srgbClr val="FFFFFF"/>
                </a:solidFill>
                <a:latin typeface="Courier"/>
                <a:ea typeface="Courier"/>
                <a:cs typeface="Courier"/>
                <a:sym typeface="Courier New"/>
              </a:rPr>
              <a:t>'&gt; '</a:t>
            </a:r>
            <a:r>
              <a:rPr lang="en-US" sz="1688" b="1" kern="0" dirty="0">
                <a:solidFill>
                  <a:srgbClr val="FF99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a:t>
            </a:r>
            <a:r>
              <a:rPr lang="en-US" sz="1688" b="1" kern="0" dirty="0">
                <a:solidFill>
                  <a:srgbClr val="00FF00"/>
                </a:solidFill>
                <a:latin typeface="Courier"/>
                <a:ea typeface="Courier"/>
                <a:cs typeface="Courier"/>
                <a:sym typeface="Courier New"/>
              </a:rPr>
              <a:t> line[0]</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 </a:t>
            </a:r>
            <a:r>
              <a:rPr lang="en-US" sz="1688" b="1" kern="0" dirty="0">
                <a:solidFill>
                  <a:srgbClr val="FFFFFF"/>
                </a:solidFill>
                <a:latin typeface="Courier"/>
                <a:ea typeface="Courier"/>
                <a:cs typeface="Courier"/>
                <a:sym typeface="Courier New"/>
              </a:rPr>
              <a:t>'#'</a:t>
            </a:r>
            <a:r>
              <a:rPr lang="en-US" sz="1688" b="1" kern="0" dirty="0">
                <a:solidFill>
                  <a:srgbClr val="FF7F00"/>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continue</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'done'</a:t>
            </a:r>
            <a:r>
              <a:rPr lang="en-US" sz="1688" b="1" kern="0" dirty="0">
                <a:solidFill>
                  <a:srgbClr val="FF7F00"/>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break</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('Done!')</a:t>
            </a:r>
          </a:p>
        </p:txBody>
      </p:sp>
      <p:sp>
        <p:nvSpPr>
          <p:cNvPr id="342" name="Shape 342"/>
          <p:cNvSpPr txBox="1"/>
          <p:nvPr/>
        </p:nvSpPr>
        <p:spPr>
          <a:xfrm>
            <a:off x="5984677" y="3385245"/>
            <a:ext cx="2011837" cy="2180587"/>
          </a:xfrm>
          <a:prstGeom prst="rect">
            <a:avLst/>
          </a:prstGeom>
          <a:noFill/>
          <a:ln>
            <a:noFill/>
          </a:ln>
        </p:spPr>
        <p:txBody>
          <a:bodyPr lIns="0" tIns="0" rIns="0" bIns="0" anchor="ctr" anchorCtr="0">
            <a:noAutofit/>
          </a:bodyPr>
          <a:lstStyle/>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hello there</a:t>
            </a:r>
          </a:p>
          <a:p>
            <a:pPr defTabSz="514350">
              <a:buClr>
                <a:srgbClr val="FFFFFF"/>
              </a:buClr>
              <a:buSzPct val="25000"/>
            </a:pPr>
            <a:r>
              <a:rPr lang="en-US" kern="0" dirty="0">
                <a:solidFill>
                  <a:srgbClr val="FFFFFF"/>
                </a:solidFill>
                <a:latin typeface="Arial" charset="0"/>
                <a:ea typeface="Arial" charset="0"/>
                <a:cs typeface="Arial" charset="0"/>
                <a:sym typeface="Cabin"/>
              </a:rPr>
              <a:t>hello there</a:t>
            </a:r>
          </a:p>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 don't print this</a:t>
            </a:r>
          </a:p>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print this!</a:t>
            </a:r>
          </a:p>
          <a:p>
            <a:pPr defTabSz="514350">
              <a:buClr>
                <a:srgbClr val="FFFFFF"/>
              </a:buClr>
              <a:buSzPct val="25000"/>
            </a:pPr>
            <a:r>
              <a:rPr lang="en-US" kern="0" dirty="0">
                <a:solidFill>
                  <a:srgbClr val="FFFFFF"/>
                </a:solidFill>
                <a:latin typeface="Arial" charset="0"/>
                <a:ea typeface="Arial" charset="0"/>
                <a:cs typeface="Arial" charset="0"/>
                <a:sym typeface="Cabin"/>
              </a:rPr>
              <a:t>print this!</a:t>
            </a:r>
          </a:p>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done</a:t>
            </a:r>
          </a:p>
          <a:p>
            <a:pPr defTabSz="514350">
              <a:buClr>
                <a:srgbClr val="FFFFFF"/>
              </a:buClr>
              <a:buSzPct val="25000"/>
            </a:pPr>
            <a:r>
              <a:rPr lang="en-US" kern="0" dirty="0">
                <a:solidFill>
                  <a:srgbClr val="FFFFFF"/>
                </a:solidFill>
                <a:latin typeface="Arial" charset="0"/>
                <a:ea typeface="Arial" charset="0"/>
                <a:cs typeface="Arial" charset="0"/>
                <a:sym typeface="Cabin"/>
              </a:rPr>
              <a:t>Done!</a:t>
            </a:r>
          </a:p>
        </p:txBody>
      </p:sp>
    </p:spTree>
    <p:extLst>
      <p:ext uri="{BB962C8B-B14F-4D97-AF65-F5344CB8AC3E}">
        <p14:creationId xmlns:p14="http://schemas.microsoft.com/office/powerpoint/2010/main" val="36089270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Shape 348"/>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FF00"/>
              </a:buClr>
              <a:buSzPct val="25000"/>
            </a:pPr>
            <a:r>
              <a:rPr lang="en-US">
                <a:solidFill>
                  <a:srgbClr val="FFD966"/>
                </a:solidFill>
                <a:latin typeface="Arial" charset="0"/>
                <a:ea typeface="Arial" charset="0"/>
                <a:cs typeface="Arial" charset="0"/>
                <a:sym typeface="Cabin"/>
              </a:rPr>
              <a:t>Finishing an Iteration with </a:t>
            </a:r>
            <a:r>
              <a:rPr lang="en-US">
                <a:latin typeface="Arial" charset="0"/>
                <a:ea typeface="Arial" charset="0"/>
                <a:cs typeface="Arial" charset="0"/>
                <a:sym typeface="Cabin"/>
              </a:rPr>
              <a:t>continue</a:t>
            </a:r>
          </a:p>
        </p:txBody>
      </p:sp>
      <p:sp>
        <p:nvSpPr>
          <p:cNvPr id="349" name="Shape 349"/>
          <p:cNvSpPr txBox="1">
            <a:spLocks noGrp="1"/>
          </p:cNvSpPr>
          <p:nvPr>
            <p:ph type="body" idx="1"/>
          </p:nvPr>
        </p:nvSpPr>
        <p:spPr>
          <a:xfrm>
            <a:off x="650081" y="2321719"/>
            <a:ext cx="7836750" cy="994767"/>
          </a:xfrm>
          <a:prstGeom prst="rect">
            <a:avLst/>
          </a:prstGeom>
          <a:noFill/>
          <a:ln>
            <a:noFill/>
          </a:ln>
        </p:spPr>
        <p:txBody>
          <a:bodyPr lIns="21431" tIns="21431" rIns="21431" bIns="21431" anchor="ctr" anchorCtr="0">
            <a:noAutofit/>
          </a:bodyPr>
          <a:lstStyle/>
          <a:p>
            <a:pPr marL="0" indent="0">
              <a:spcBef>
                <a:spcPts val="0"/>
              </a:spcBef>
              <a:buNone/>
            </a:pPr>
            <a:r>
              <a:rPr lang="en-US" sz="2025">
                <a:solidFill>
                  <a:schemeClr val="lt1"/>
                </a:solidFill>
                <a:latin typeface="Arial" charset="0"/>
                <a:ea typeface="Arial" charset="0"/>
                <a:cs typeface="Arial" charset="0"/>
                <a:sym typeface="Cabin"/>
              </a:rPr>
              <a:t>The </a:t>
            </a:r>
            <a:r>
              <a:rPr lang="en-US" sz="2025">
                <a:solidFill>
                  <a:srgbClr val="FFFF00"/>
                </a:solidFill>
                <a:latin typeface="Arial" charset="0"/>
                <a:ea typeface="Arial" charset="0"/>
                <a:cs typeface="Arial" charset="0"/>
                <a:sym typeface="Cabin"/>
              </a:rPr>
              <a:t>continue</a:t>
            </a:r>
            <a:r>
              <a:rPr lang="en-US" sz="2025">
                <a:solidFill>
                  <a:schemeClr val="lt1"/>
                </a:solidFill>
                <a:latin typeface="Arial" charset="0"/>
                <a:ea typeface="Arial" charset="0"/>
                <a:cs typeface="Arial" charset="0"/>
                <a:sym typeface="Cabin"/>
              </a:rPr>
              <a:t> statement ends the </a:t>
            </a:r>
            <a:r>
              <a:rPr lang="en-US" sz="2025">
                <a:solidFill>
                  <a:srgbClr val="00FFFF"/>
                </a:solidFill>
                <a:latin typeface="Arial" charset="0"/>
                <a:ea typeface="Arial" charset="0"/>
                <a:cs typeface="Arial" charset="0"/>
                <a:sym typeface="Cabin"/>
              </a:rPr>
              <a:t>current iteration</a:t>
            </a:r>
            <a:r>
              <a:rPr lang="en-US" sz="2025">
                <a:solidFill>
                  <a:schemeClr val="lt1"/>
                </a:solidFill>
                <a:latin typeface="Arial" charset="0"/>
                <a:ea typeface="Arial" charset="0"/>
                <a:cs typeface="Arial" charset="0"/>
                <a:sym typeface="Cabin"/>
              </a:rPr>
              <a:t> and jumps to the </a:t>
            </a:r>
            <a:r>
              <a:rPr lang="en-US" sz="2025">
                <a:solidFill>
                  <a:srgbClr val="FFFF00"/>
                </a:solidFill>
                <a:latin typeface="Arial" charset="0"/>
                <a:ea typeface="Arial" charset="0"/>
                <a:cs typeface="Arial" charset="0"/>
                <a:sym typeface="Cabin"/>
              </a:rPr>
              <a:t>top of the loop</a:t>
            </a:r>
            <a:r>
              <a:rPr lang="en-US" sz="2025">
                <a:solidFill>
                  <a:schemeClr val="lt1"/>
                </a:solidFill>
                <a:latin typeface="Arial" charset="0"/>
                <a:ea typeface="Arial" charset="0"/>
                <a:cs typeface="Arial" charset="0"/>
                <a:sym typeface="Cabin"/>
              </a:rPr>
              <a:t> and starts the next iteration</a:t>
            </a:r>
          </a:p>
        </p:txBody>
      </p:sp>
      <p:sp>
        <p:nvSpPr>
          <p:cNvPr id="350" name="Shape 350"/>
          <p:cNvSpPr txBox="1"/>
          <p:nvPr/>
        </p:nvSpPr>
        <p:spPr>
          <a:xfrm>
            <a:off x="1743075" y="3189685"/>
            <a:ext cx="3655969" cy="2493112"/>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while</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True</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input(</a:t>
            </a:r>
            <a:r>
              <a:rPr lang="en-US" sz="1688" b="1" kern="0" dirty="0">
                <a:solidFill>
                  <a:srgbClr val="FFFFFF"/>
                </a:solidFill>
                <a:latin typeface="Courier"/>
                <a:ea typeface="Courier"/>
                <a:cs typeface="Courier"/>
                <a:sym typeface="Courier New"/>
              </a:rPr>
              <a:t>'&gt; '</a:t>
            </a:r>
            <a:r>
              <a:rPr lang="en-US" sz="1688" b="1" kern="0" dirty="0">
                <a:solidFill>
                  <a:srgbClr val="FF99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a:t>
            </a:r>
            <a:r>
              <a:rPr lang="en-US" sz="1688" b="1" kern="0" dirty="0">
                <a:solidFill>
                  <a:srgbClr val="00FF00"/>
                </a:solidFill>
                <a:latin typeface="Courier"/>
                <a:ea typeface="Courier"/>
                <a:cs typeface="Courier"/>
                <a:sym typeface="Courier New"/>
              </a:rPr>
              <a:t> line[0]</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 </a:t>
            </a:r>
            <a:r>
              <a:rPr lang="en-US" sz="1688" b="1" kern="0" dirty="0">
                <a:solidFill>
                  <a:srgbClr val="FFFFFF"/>
                </a:solidFill>
                <a:latin typeface="Courier"/>
                <a:ea typeface="Courier"/>
                <a:cs typeface="Courier"/>
                <a:sym typeface="Courier New"/>
              </a:rPr>
              <a:t>'#'</a:t>
            </a:r>
            <a:r>
              <a:rPr lang="en-US" sz="1688" b="1" kern="0" dirty="0">
                <a:solidFill>
                  <a:srgbClr val="FF7F00"/>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continue</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'done'</a:t>
            </a:r>
            <a:r>
              <a:rPr lang="en-US" sz="1688" b="1" kern="0" dirty="0">
                <a:solidFill>
                  <a:srgbClr val="FF7F00"/>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break</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('Done!')</a:t>
            </a:r>
          </a:p>
        </p:txBody>
      </p:sp>
      <p:sp>
        <p:nvSpPr>
          <p:cNvPr id="351" name="Shape 351"/>
          <p:cNvSpPr txBox="1"/>
          <p:nvPr/>
        </p:nvSpPr>
        <p:spPr>
          <a:xfrm>
            <a:off x="6284715" y="3385244"/>
            <a:ext cx="2011858" cy="2180630"/>
          </a:xfrm>
          <a:prstGeom prst="rect">
            <a:avLst/>
          </a:prstGeom>
          <a:noFill/>
          <a:ln>
            <a:noFill/>
          </a:ln>
        </p:spPr>
        <p:txBody>
          <a:bodyPr lIns="0" tIns="0" rIns="0" bIns="0" anchor="ctr" anchorCtr="0">
            <a:noAutofit/>
          </a:bodyPr>
          <a:lstStyle/>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hello there</a:t>
            </a:r>
          </a:p>
          <a:p>
            <a:pPr defTabSz="514350">
              <a:buClr>
                <a:srgbClr val="FFFFFF"/>
              </a:buClr>
              <a:buSzPct val="25000"/>
            </a:pPr>
            <a:r>
              <a:rPr lang="en-US" kern="0" dirty="0">
                <a:solidFill>
                  <a:srgbClr val="FFFFFF"/>
                </a:solidFill>
                <a:latin typeface="Arial" charset="0"/>
                <a:ea typeface="Arial" charset="0"/>
                <a:cs typeface="Arial" charset="0"/>
                <a:sym typeface="Cabin"/>
              </a:rPr>
              <a:t>hello there</a:t>
            </a:r>
          </a:p>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 don't print this</a:t>
            </a:r>
          </a:p>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print this!</a:t>
            </a:r>
          </a:p>
          <a:p>
            <a:pPr defTabSz="514350">
              <a:buClr>
                <a:srgbClr val="FFFFFF"/>
              </a:buClr>
              <a:buSzPct val="25000"/>
            </a:pPr>
            <a:r>
              <a:rPr lang="en-US" kern="0" dirty="0">
                <a:solidFill>
                  <a:srgbClr val="FFFFFF"/>
                </a:solidFill>
                <a:latin typeface="Arial" charset="0"/>
                <a:ea typeface="Arial" charset="0"/>
                <a:cs typeface="Arial" charset="0"/>
                <a:sym typeface="Cabin"/>
              </a:rPr>
              <a:t>print this!</a:t>
            </a:r>
          </a:p>
          <a:p>
            <a:pPr defTabSz="514350">
              <a:buClr>
                <a:srgbClr val="FFFFFF"/>
              </a:buClr>
              <a:buSzPct val="25000"/>
            </a:pPr>
            <a:r>
              <a:rPr lang="en-US" kern="0" dirty="0">
                <a:solidFill>
                  <a:srgbClr val="FFFFFF"/>
                </a:solidFill>
                <a:latin typeface="Arial" charset="0"/>
                <a:ea typeface="Arial" charset="0"/>
                <a:cs typeface="Arial" charset="0"/>
                <a:sym typeface="Cabin"/>
              </a:rPr>
              <a:t>&gt; </a:t>
            </a:r>
            <a:r>
              <a:rPr lang="en-US" kern="0" dirty="0">
                <a:solidFill>
                  <a:srgbClr val="00FF00"/>
                </a:solidFill>
                <a:latin typeface="Arial" charset="0"/>
                <a:ea typeface="Arial" charset="0"/>
                <a:cs typeface="Arial" charset="0"/>
                <a:sym typeface="Cabin"/>
              </a:rPr>
              <a:t>done</a:t>
            </a:r>
          </a:p>
          <a:p>
            <a:pPr defTabSz="514350">
              <a:buClr>
                <a:srgbClr val="FFFFFF"/>
              </a:buClr>
              <a:buSzPct val="25000"/>
            </a:pPr>
            <a:r>
              <a:rPr lang="en-US" kern="0" dirty="0">
                <a:solidFill>
                  <a:srgbClr val="FFFFFF"/>
                </a:solidFill>
                <a:latin typeface="Arial" charset="0"/>
                <a:ea typeface="Arial" charset="0"/>
                <a:cs typeface="Arial" charset="0"/>
                <a:sym typeface="Cabin"/>
              </a:rPr>
              <a:t>Done!</a:t>
            </a:r>
          </a:p>
        </p:txBody>
      </p:sp>
      <p:cxnSp>
        <p:nvCxnSpPr>
          <p:cNvPr id="352" name="Shape 352"/>
          <p:cNvCxnSpPr/>
          <p:nvPr/>
        </p:nvCxnSpPr>
        <p:spPr>
          <a:xfrm flipH="1">
            <a:off x="1648350" y="3656138"/>
            <a:ext cx="84881" cy="404999"/>
          </a:xfrm>
          <a:prstGeom prst="straightConnector1">
            <a:avLst/>
          </a:prstGeom>
          <a:noFill/>
          <a:ln w="50800" cap="rnd" cmpd="sng">
            <a:solidFill>
              <a:srgbClr val="FFFF00"/>
            </a:solidFill>
            <a:prstDash val="solid"/>
            <a:miter/>
            <a:headEnd type="stealth" w="med" len="med"/>
            <a:tailEnd type="none" w="med" len="med"/>
          </a:ln>
        </p:spPr>
      </p:cxnSp>
      <p:cxnSp>
        <p:nvCxnSpPr>
          <p:cNvPr id="353" name="Shape 353"/>
          <p:cNvCxnSpPr/>
          <p:nvPr/>
        </p:nvCxnSpPr>
        <p:spPr>
          <a:xfrm>
            <a:off x="1617166" y="4061222"/>
            <a:ext cx="1072743" cy="247724"/>
          </a:xfrm>
          <a:prstGeom prst="straightConnector1">
            <a:avLst/>
          </a:prstGeom>
          <a:noFill/>
          <a:ln w="50800" cap="rnd" cmpd="sng">
            <a:solidFill>
              <a:srgbClr val="FFFF00"/>
            </a:solidFill>
            <a:prstDash val="solid"/>
            <a:miter/>
            <a:headEnd type="stealth" w="med" len="med"/>
            <a:tailEnd type="none" w="med" len="med"/>
          </a:ln>
        </p:spPr>
      </p:cxnSp>
    </p:spTree>
    <p:extLst>
      <p:ext uri="{BB962C8B-B14F-4D97-AF65-F5344CB8AC3E}">
        <p14:creationId xmlns:p14="http://schemas.microsoft.com/office/powerpoint/2010/main" val="15616025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cxnSp>
        <p:nvCxnSpPr>
          <p:cNvPr id="358" name="Shape 358"/>
          <p:cNvCxnSpPr/>
          <p:nvPr/>
        </p:nvCxnSpPr>
        <p:spPr>
          <a:xfrm rot="10800000">
            <a:off x="6182852" y="1385015"/>
            <a:ext cx="8100" cy="318768"/>
          </a:xfrm>
          <a:prstGeom prst="straightConnector1">
            <a:avLst/>
          </a:prstGeom>
          <a:noFill/>
          <a:ln w="76200" cap="rnd" cmpd="sng">
            <a:solidFill>
              <a:srgbClr val="00FFFF"/>
            </a:solidFill>
            <a:prstDash val="solid"/>
            <a:miter/>
            <a:headEnd type="stealth" w="med" len="med"/>
            <a:tailEnd type="none" w="med" len="med"/>
          </a:ln>
        </p:spPr>
      </p:cxnSp>
      <p:sp>
        <p:nvSpPr>
          <p:cNvPr id="359" name="Shape 359"/>
          <p:cNvSpPr/>
          <p:nvPr/>
        </p:nvSpPr>
        <p:spPr>
          <a:xfrm>
            <a:off x="5386388" y="1700213"/>
            <a:ext cx="1614431" cy="714318"/>
          </a:xfrm>
          <a:prstGeom prst="diamond">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2025" kern="0">
                <a:solidFill>
                  <a:srgbClr val="FF9900"/>
                </a:solidFill>
                <a:latin typeface="Arial" charset="0"/>
                <a:ea typeface="Arial" charset="0"/>
                <a:cs typeface="Arial" charset="0"/>
                <a:sym typeface="Cabin"/>
              </a:rPr>
              <a:t>True ?</a:t>
            </a:r>
          </a:p>
        </p:txBody>
      </p:sp>
      <p:cxnSp>
        <p:nvCxnSpPr>
          <p:cNvPr id="360" name="Shape 360"/>
          <p:cNvCxnSpPr/>
          <p:nvPr/>
        </p:nvCxnSpPr>
        <p:spPr>
          <a:xfrm flipH="1" flipV="1">
            <a:off x="6185082" y="2365792"/>
            <a:ext cx="19477" cy="2205314"/>
          </a:xfrm>
          <a:prstGeom prst="straightConnector1">
            <a:avLst/>
          </a:prstGeom>
          <a:noFill/>
          <a:ln w="76200" cap="rnd" cmpd="sng">
            <a:solidFill>
              <a:srgbClr val="00FFFF"/>
            </a:solidFill>
            <a:prstDash val="solid"/>
            <a:miter/>
            <a:headEnd type="none" w="med" len="med"/>
            <a:tailEnd type="stealth" w="med" len="med"/>
          </a:ln>
        </p:spPr>
      </p:cxnSp>
      <p:cxnSp>
        <p:nvCxnSpPr>
          <p:cNvPr id="361" name="Shape 361"/>
          <p:cNvCxnSpPr/>
          <p:nvPr/>
        </p:nvCxnSpPr>
        <p:spPr>
          <a:xfrm rot="10800000">
            <a:off x="6993773" y="2053871"/>
            <a:ext cx="381881" cy="6074"/>
          </a:xfrm>
          <a:prstGeom prst="straightConnector1">
            <a:avLst/>
          </a:prstGeom>
          <a:noFill/>
          <a:ln w="76200" cap="rnd" cmpd="sng">
            <a:solidFill>
              <a:srgbClr val="00FFFF"/>
            </a:solidFill>
            <a:prstDash val="solid"/>
            <a:miter/>
            <a:headEnd type="none" w="med" len="med"/>
            <a:tailEnd type="none" w="med" len="med"/>
          </a:ln>
        </p:spPr>
      </p:cxnSp>
      <p:cxnSp>
        <p:nvCxnSpPr>
          <p:cNvPr id="362" name="Shape 362"/>
          <p:cNvCxnSpPr/>
          <p:nvPr/>
        </p:nvCxnSpPr>
        <p:spPr>
          <a:xfrm>
            <a:off x="6182845" y="4571106"/>
            <a:ext cx="1225294" cy="1856"/>
          </a:xfrm>
          <a:prstGeom prst="straightConnector1">
            <a:avLst/>
          </a:prstGeom>
          <a:noFill/>
          <a:ln w="76200" cap="rnd" cmpd="sng">
            <a:solidFill>
              <a:srgbClr val="00FFFF"/>
            </a:solidFill>
            <a:prstDash val="solid"/>
            <a:miter/>
            <a:headEnd type="none" w="med" len="med"/>
            <a:tailEnd type="none" w="med" len="med"/>
          </a:ln>
        </p:spPr>
      </p:cxnSp>
      <p:cxnSp>
        <p:nvCxnSpPr>
          <p:cNvPr id="363" name="Shape 363"/>
          <p:cNvCxnSpPr/>
          <p:nvPr/>
        </p:nvCxnSpPr>
        <p:spPr>
          <a:xfrm flipH="1">
            <a:off x="5186348" y="2062758"/>
            <a:ext cx="223256" cy="1856"/>
          </a:xfrm>
          <a:prstGeom prst="straightConnector1">
            <a:avLst/>
          </a:prstGeom>
          <a:noFill/>
          <a:ln w="76200" cap="rnd" cmpd="sng">
            <a:solidFill>
              <a:srgbClr val="00FFFF"/>
            </a:solidFill>
            <a:prstDash val="solid"/>
            <a:miter/>
            <a:headEnd type="none" w="med" len="med"/>
            <a:tailEnd type="stealth" w="med" len="med"/>
          </a:ln>
        </p:spPr>
      </p:cxnSp>
      <p:cxnSp>
        <p:nvCxnSpPr>
          <p:cNvPr id="364" name="Shape 364"/>
          <p:cNvCxnSpPr/>
          <p:nvPr/>
        </p:nvCxnSpPr>
        <p:spPr>
          <a:xfrm rot="10800000" flipH="1">
            <a:off x="6140946" y="4810488"/>
            <a:ext cx="8943" cy="362475"/>
          </a:xfrm>
          <a:prstGeom prst="straightConnector1">
            <a:avLst/>
          </a:prstGeom>
          <a:noFill/>
          <a:ln w="76200" cap="rnd" cmpd="sng">
            <a:solidFill>
              <a:srgbClr val="00FFFF"/>
            </a:solidFill>
            <a:prstDash val="solid"/>
            <a:miter/>
            <a:headEnd type="stealth" w="med" len="med"/>
            <a:tailEnd type="none" w="med" len="med"/>
          </a:ln>
        </p:spPr>
      </p:cxnSp>
      <p:cxnSp>
        <p:nvCxnSpPr>
          <p:cNvPr id="365" name="Shape 365"/>
          <p:cNvCxnSpPr/>
          <p:nvPr/>
        </p:nvCxnSpPr>
        <p:spPr>
          <a:xfrm flipV="1">
            <a:off x="5200734" y="2057407"/>
            <a:ext cx="18696" cy="2762833"/>
          </a:xfrm>
          <a:prstGeom prst="straightConnector1">
            <a:avLst/>
          </a:prstGeom>
          <a:noFill/>
          <a:ln w="76200" cap="rnd" cmpd="sng">
            <a:solidFill>
              <a:srgbClr val="00FFFF"/>
            </a:solidFill>
            <a:prstDash val="solid"/>
            <a:miter/>
            <a:headEnd type="stealth" w="med" len="med"/>
            <a:tailEnd type="none" w="med" len="med"/>
          </a:ln>
        </p:spPr>
      </p:cxnSp>
      <p:cxnSp>
        <p:nvCxnSpPr>
          <p:cNvPr id="366" name="Shape 366"/>
          <p:cNvCxnSpPr/>
          <p:nvPr/>
        </p:nvCxnSpPr>
        <p:spPr>
          <a:xfrm>
            <a:off x="5153322" y="4820240"/>
            <a:ext cx="985838" cy="0"/>
          </a:xfrm>
          <a:prstGeom prst="straightConnector1">
            <a:avLst/>
          </a:prstGeom>
          <a:noFill/>
          <a:ln w="76200" cap="rnd" cmpd="sng">
            <a:solidFill>
              <a:srgbClr val="00FFFF"/>
            </a:solidFill>
            <a:prstDash val="solid"/>
            <a:miter/>
            <a:headEnd type="none" w="med" len="med"/>
            <a:tailEnd type="none" w="med" len="med"/>
          </a:ln>
        </p:spPr>
      </p:cxnSp>
      <p:sp>
        <p:nvSpPr>
          <p:cNvPr id="367" name="Shape 367"/>
          <p:cNvSpPr txBox="1"/>
          <p:nvPr/>
        </p:nvSpPr>
        <p:spPr>
          <a:xfrm>
            <a:off x="4891683" y="1635919"/>
            <a:ext cx="407194"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No</a:t>
            </a:r>
          </a:p>
        </p:txBody>
      </p:sp>
      <p:sp>
        <p:nvSpPr>
          <p:cNvPr id="368" name="Shape 368"/>
          <p:cNvSpPr txBox="1"/>
          <p:nvPr/>
        </p:nvSpPr>
        <p:spPr>
          <a:xfrm>
            <a:off x="5329238" y="5156890"/>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print('Done')</a:t>
            </a:r>
          </a:p>
        </p:txBody>
      </p:sp>
      <p:sp>
        <p:nvSpPr>
          <p:cNvPr id="369" name="Shape 369"/>
          <p:cNvSpPr txBox="1"/>
          <p:nvPr/>
        </p:nvSpPr>
        <p:spPr>
          <a:xfrm>
            <a:off x="7478613" y="1885950"/>
            <a:ext cx="493812"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Yes</a:t>
            </a:r>
          </a:p>
        </p:txBody>
      </p:sp>
      <p:cxnSp>
        <p:nvCxnSpPr>
          <p:cNvPr id="370" name="Shape 370"/>
          <p:cNvCxnSpPr/>
          <p:nvPr/>
        </p:nvCxnSpPr>
        <p:spPr>
          <a:xfrm rot="10800000" flipH="1">
            <a:off x="6504385" y="1591186"/>
            <a:ext cx="1688681" cy="160818"/>
          </a:xfrm>
          <a:prstGeom prst="straightConnector1">
            <a:avLst/>
          </a:prstGeom>
          <a:noFill/>
          <a:ln w="76200" cap="rnd" cmpd="sng">
            <a:solidFill>
              <a:srgbClr val="FFFF00"/>
            </a:solidFill>
            <a:prstDash val="solid"/>
            <a:miter/>
            <a:headEnd type="stealth" w="med" len="med"/>
            <a:tailEnd type="none" w="med" len="med"/>
          </a:ln>
        </p:spPr>
      </p:cxnSp>
      <p:sp>
        <p:nvSpPr>
          <p:cNvPr id="371" name="Shape 371"/>
          <p:cNvSpPr txBox="1"/>
          <p:nvPr/>
        </p:nvSpPr>
        <p:spPr>
          <a:xfrm>
            <a:off x="1157288" y="2182416"/>
            <a:ext cx="3538687" cy="2493112"/>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while</a:t>
            </a:r>
            <a:r>
              <a:rPr lang="en-US" sz="1688" b="1" kern="0" dirty="0">
                <a:solidFill>
                  <a:srgbClr val="FFFFFF"/>
                </a:solidFill>
                <a:latin typeface="Courier"/>
                <a:ea typeface="Courier"/>
                <a:cs typeface="Courier"/>
                <a:sym typeface="Courier New"/>
              </a:rPr>
              <a:t> </a:t>
            </a:r>
            <a:r>
              <a:rPr lang="en-US" sz="1688" b="1" kern="0" dirty="0">
                <a:solidFill>
                  <a:srgbClr val="FF9900"/>
                </a:solidFill>
                <a:latin typeface="Courier"/>
                <a:ea typeface="Courier"/>
                <a:cs typeface="Courier"/>
                <a:sym typeface="Courier New"/>
              </a:rPr>
              <a:t>True</a:t>
            </a:r>
            <a:r>
              <a:rPr lang="en-US" sz="1688" b="1" kern="0" dirty="0">
                <a:solidFill>
                  <a:srgbClr val="FFFF00"/>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a:t>
            </a:r>
            <a:r>
              <a:rPr lang="en-US" sz="1688" b="1" kern="0" dirty="0" err="1">
                <a:solidFill>
                  <a:srgbClr val="FF9900"/>
                </a:solidFill>
                <a:latin typeface="Courier"/>
                <a:ea typeface="Courier"/>
                <a:cs typeface="Courier"/>
                <a:sym typeface="Courier New"/>
              </a:rPr>
              <a:t>raw_input</a:t>
            </a:r>
            <a:r>
              <a:rPr lang="en-US" sz="1688" b="1" kern="0" dirty="0">
                <a:solidFill>
                  <a:srgbClr val="FF9900"/>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'&gt; '</a:t>
            </a:r>
            <a:r>
              <a:rPr lang="en-US" sz="1688" b="1" kern="0" dirty="0">
                <a:solidFill>
                  <a:srgbClr val="FF99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a:t>
            </a:r>
            <a:r>
              <a:rPr lang="en-US" sz="1688" b="1" kern="0" dirty="0">
                <a:solidFill>
                  <a:srgbClr val="00FF00"/>
                </a:solidFill>
                <a:latin typeface="Courier"/>
                <a:ea typeface="Courier"/>
                <a:cs typeface="Courier"/>
                <a:sym typeface="Courier New"/>
              </a:rPr>
              <a:t> line[0]</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 </a:t>
            </a:r>
            <a:r>
              <a:rPr lang="en-US" sz="1688" b="1" kern="0" dirty="0">
                <a:solidFill>
                  <a:srgbClr val="F3F3F3"/>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continue</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if </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 </a:t>
            </a:r>
            <a:r>
              <a:rPr lang="en-US" sz="1688" b="1" kern="0" dirty="0">
                <a:solidFill>
                  <a:srgbClr val="00FFFF"/>
                </a:solidFill>
                <a:latin typeface="Courier"/>
                <a:ea typeface="Courier"/>
                <a:cs typeface="Courier"/>
                <a:sym typeface="Courier New"/>
              </a:rPr>
              <a:t>==</a:t>
            </a:r>
            <a:r>
              <a:rPr lang="en-US" sz="1688" b="1" kern="0" dirty="0">
                <a:solidFill>
                  <a:srgbClr val="FFFFFF"/>
                </a:solidFill>
                <a:latin typeface="Courier"/>
                <a:ea typeface="Courier"/>
                <a:cs typeface="Courier"/>
                <a:sym typeface="Courier New"/>
              </a:rPr>
              <a:t> 'done' </a:t>
            </a:r>
            <a:r>
              <a:rPr lang="en-US" sz="1688" b="1" kern="0" dirty="0">
                <a:solidFill>
                  <a:srgbClr val="FFFF00"/>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break</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00FF00"/>
                </a:solidFill>
                <a:latin typeface="Courier"/>
                <a:ea typeface="Courier"/>
                <a:cs typeface="Courier"/>
                <a:sym typeface="Courier New"/>
              </a:rPr>
              <a:t>line</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('Done!')</a:t>
            </a:r>
          </a:p>
        </p:txBody>
      </p:sp>
      <p:cxnSp>
        <p:nvCxnSpPr>
          <p:cNvPr id="372" name="Shape 372"/>
          <p:cNvCxnSpPr/>
          <p:nvPr/>
        </p:nvCxnSpPr>
        <p:spPr>
          <a:xfrm flipH="1">
            <a:off x="958121" y="2561372"/>
            <a:ext cx="149174" cy="471149"/>
          </a:xfrm>
          <a:prstGeom prst="straightConnector1">
            <a:avLst/>
          </a:prstGeom>
          <a:noFill/>
          <a:ln w="50800" cap="rnd" cmpd="sng">
            <a:solidFill>
              <a:srgbClr val="FFFF00"/>
            </a:solidFill>
            <a:prstDash val="solid"/>
            <a:miter/>
            <a:headEnd type="stealth" w="med" len="med"/>
            <a:tailEnd type="none" w="med" len="med"/>
          </a:ln>
        </p:spPr>
      </p:cxnSp>
      <p:cxnSp>
        <p:nvCxnSpPr>
          <p:cNvPr id="373" name="Shape 373"/>
          <p:cNvCxnSpPr/>
          <p:nvPr/>
        </p:nvCxnSpPr>
        <p:spPr>
          <a:xfrm>
            <a:off x="957228" y="3038667"/>
            <a:ext cx="695925" cy="261224"/>
          </a:xfrm>
          <a:prstGeom prst="straightConnector1">
            <a:avLst/>
          </a:prstGeom>
          <a:noFill/>
          <a:ln w="50800" cap="rnd" cmpd="sng">
            <a:solidFill>
              <a:srgbClr val="FFFF00"/>
            </a:solidFill>
            <a:prstDash val="solid"/>
            <a:miter/>
            <a:headEnd type="stealth" w="med" len="med"/>
            <a:tailEnd type="none" w="med" len="med"/>
          </a:ln>
        </p:spPr>
      </p:cxnSp>
      <p:sp>
        <p:nvSpPr>
          <p:cNvPr id="374" name="Shape 374"/>
          <p:cNvSpPr txBox="1"/>
          <p:nvPr/>
        </p:nvSpPr>
        <p:spPr>
          <a:xfrm>
            <a:off x="6579394" y="3950494"/>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a:t>
            </a:r>
          </a:p>
        </p:txBody>
      </p:sp>
      <p:cxnSp>
        <p:nvCxnSpPr>
          <p:cNvPr id="375" name="Shape 375"/>
          <p:cNvCxnSpPr/>
          <p:nvPr/>
        </p:nvCxnSpPr>
        <p:spPr>
          <a:xfrm>
            <a:off x="8182272" y="1580555"/>
            <a:ext cx="475875" cy="1641262"/>
          </a:xfrm>
          <a:prstGeom prst="straightConnector1">
            <a:avLst/>
          </a:prstGeom>
          <a:noFill/>
          <a:ln w="76200" cap="rnd" cmpd="sng">
            <a:solidFill>
              <a:srgbClr val="FFFF00"/>
            </a:solidFill>
            <a:prstDash val="solid"/>
            <a:miter/>
            <a:headEnd type="stealth" w="med" len="med"/>
            <a:tailEnd type="none" w="med" len="med"/>
          </a:ln>
        </p:spPr>
      </p:cxnSp>
      <p:cxnSp>
        <p:nvCxnSpPr>
          <p:cNvPr id="376" name="Shape 376"/>
          <p:cNvCxnSpPr>
            <a:endCxn id="377" idx="2"/>
          </p:cNvCxnSpPr>
          <p:nvPr/>
        </p:nvCxnSpPr>
        <p:spPr>
          <a:xfrm rot="10800000">
            <a:off x="7393809" y="2867350"/>
            <a:ext cx="817931" cy="416138"/>
          </a:xfrm>
          <a:prstGeom prst="straightConnector1">
            <a:avLst/>
          </a:prstGeom>
          <a:noFill/>
          <a:ln w="76200" cap="rnd" cmpd="sng">
            <a:solidFill>
              <a:srgbClr val="00FFFF"/>
            </a:solidFill>
            <a:prstDash val="solid"/>
            <a:miter/>
            <a:headEnd type="none" w="med" len="med"/>
            <a:tailEnd type="none" w="med" len="med"/>
          </a:ln>
        </p:spPr>
      </p:cxnSp>
      <p:sp>
        <p:nvSpPr>
          <p:cNvPr id="377" name="Shape 377"/>
          <p:cNvSpPr txBox="1"/>
          <p:nvPr/>
        </p:nvSpPr>
        <p:spPr>
          <a:xfrm>
            <a:off x="6572250" y="2445813"/>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a:t>
            </a:r>
          </a:p>
        </p:txBody>
      </p:sp>
      <p:sp>
        <p:nvSpPr>
          <p:cNvPr id="378" name="Shape 378"/>
          <p:cNvSpPr txBox="1"/>
          <p:nvPr/>
        </p:nvSpPr>
        <p:spPr>
          <a:xfrm>
            <a:off x="7593806" y="3293269"/>
            <a:ext cx="1228669"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a:solidFill>
                  <a:srgbClr val="FFFFFF"/>
                </a:solidFill>
                <a:latin typeface="Arial" charset="0"/>
                <a:ea typeface="Arial" charset="0"/>
                <a:cs typeface="Arial" charset="0"/>
                <a:sym typeface="Cabin"/>
              </a:rPr>
              <a:t>continue</a:t>
            </a:r>
          </a:p>
        </p:txBody>
      </p:sp>
      <p:cxnSp>
        <p:nvCxnSpPr>
          <p:cNvPr id="379" name="Shape 379"/>
          <p:cNvCxnSpPr>
            <a:endCxn id="377" idx="2"/>
          </p:cNvCxnSpPr>
          <p:nvPr/>
        </p:nvCxnSpPr>
        <p:spPr>
          <a:xfrm rot="10800000">
            <a:off x="7393809" y="2867351"/>
            <a:ext cx="14344" cy="1083206"/>
          </a:xfrm>
          <a:prstGeom prst="straightConnector1">
            <a:avLst/>
          </a:prstGeom>
          <a:noFill/>
          <a:ln w="76200" cap="rnd" cmpd="sng">
            <a:solidFill>
              <a:srgbClr val="00FFFF"/>
            </a:solidFill>
            <a:prstDash val="solid"/>
            <a:miter/>
            <a:headEnd type="none" w="med" len="med"/>
            <a:tailEnd type="none" w="med" len="med"/>
          </a:ln>
        </p:spPr>
      </p:cxnSp>
      <p:cxnSp>
        <p:nvCxnSpPr>
          <p:cNvPr id="380" name="Shape 380"/>
          <p:cNvCxnSpPr/>
          <p:nvPr/>
        </p:nvCxnSpPr>
        <p:spPr>
          <a:xfrm flipH="1" flipV="1">
            <a:off x="7432629" y="4359488"/>
            <a:ext cx="9373" cy="226800"/>
          </a:xfrm>
          <a:prstGeom prst="straightConnector1">
            <a:avLst/>
          </a:prstGeom>
          <a:noFill/>
          <a:ln w="76200" cap="rnd" cmpd="sng">
            <a:solidFill>
              <a:srgbClr val="00FFFF"/>
            </a:solidFill>
            <a:prstDash val="solid"/>
            <a:miter/>
            <a:headEnd type="stealth" w="med" len="med"/>
            <a:tailEnd type="none" w="med" len="med"/>
          </a:ln>
        </p:spPr>
      </p:cxnSp>
      <p:cxnSp>
        <p:nvCxnSpPr>
          <p:cNvPr id="381" name="Shape 381"/>
          <p:cNvCxnSpPr/>
          <p:nvPr/>
        </p:nvCxnSpPr>
        <p:spPr>
          <a:xfrm rot="10800000">
            <a:off x="7384802" y="2087297"/>
            <a:ext cx="8100" cy="318768"/>
          </a:xfrm>
          <a:prstGeom prst="straightConnector1">
            <a:avLst/>
          </a:prstGeom>
          <a:noFill/>
          <a:ln w="76200" cap="rnd" cmpd="sng">
            <a:solidFill>
              <a:srgbClr val="00FFFF"/>
            </a:solidFill>
            <a:prstDash val="solid"/>
            <a:miter/>
            <a:headEnd type="stealth" w="med" len="med"/>
            <a:tailEnd type="none" w="med" len="med"/>
          </a:ln>
        </p:spPr>
      </p:cxnSp>
    </p:spTree>
    <p:extLst>
      <p:ext uri="{BB962C8B-B14F-4D97-AF65-F5344CB8AC3E}">
        <p14:creationId xmlns:p14="http://schemas.microsoft.com/office/powerpoint/2010/main" val="35120014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Shape 386"/>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00FF"/>
              </a:buClr>
              <a:buSzPct val="25000"/>
            </a:pPr>
            <a:r>
              <a:rPr lang="en-US" sz="4275">
                <a:solidFill>
                  <a:srgbClr val="FFD966"/>
                </a:solidFill>
                <a:latin typeface="Arial" charset="0"/>
                <a:ea typeface="Arial" charset="0"/>
                <a:cs typeface="Arial" charset="0"/>
                <a:sym typeface="Cabin"/>
              </a:rPr>
              <a:t>Indefinite Loops</a:t>
            </a:r>
          </a:p>
        </p:txBody>
      </p:sp>
      <p:sp>
        <p:nvSpPr>
          <p:cNvPr id="387" name="Shape 387"/>
          <p:cNvSpPr txBox="1">
            <a:spLocks noGrp="1"/>
          </p:cNvSpPr>
          <p:nvPr>
            <p:ph type="body" idx="1"/>
          </p:nvPr>
        </p:nvSpPr>
        <p:spPr>
          <a:prstGeom prst="rect">
            <a:avLst/>
          </a:prstGeom>
          <a:noFill/>
          <a:ln>
            <a:noFill/>
          </a:ln>
        </p:spPr>
        <p:txBody>
          <a:bodyPr lIns="21431" tIns="21431" rIns="21431" bIns="21431" anchor="ctr" anchorCtr="0">
            <a:noAutofit/>
          </a:bodyPr>
          <a:lstStyle/>
          <a:p>
            <a:pPr marL="421481" indent="-208740">
              <a:spcBef>
                <a:spcPts val="0"/>
              </a:spcBef>
              <a:buSzPct val="100000"/>
            </a:pPr>
            <a:r>
              <a:rPr lang="en-US" sz="2025">
                <a:solidFill>
                  <a:schemeClr val="lt1"/>
                </a:solidFill>
                <a:latin typeface="Arial" charset="0"/>
                <a:ea typeface="Arial" charset="0"/>
                <a:cs typeface="Arial" charset="0"/>
                <a:sym typeface="Cabin"/>
              </a:rPr>
              <a:t>While loops are called </a:t>
            </a:r>
            <a:r>
              <a:rPr lang="en-US" sz="2025">
                <a:solidFill>
                  <a:srgbClr val="FFFF00"/>
                </a:solidFill>
                <a:latin typeface="Arial" charset="0"/>
                <a:ea typeface="Arial" charset="0"/>
                <a:cs typeface="Arial" charset="0"/>
                <a:sym typeface="Cabin"/>
              </a:rPr>
              <a:t>“indefinite loops”</a:t>
            </a:r>
            <a:r>
              <a:rPr lang="en-US" sz="2025">
                <a:solidFill>
                  <a:schemeClr val="lt1"/>
                </a:solidFill>
                <a:latin typeface="Arial" charset="0"/>
                <a:ea typeface="Arial" charset="0"/>
                <a:cs typeface="Arial" charset="0"/>
                <a:sym typeface="Cabin"/>
              </a:rPr>
              <a:t> because they keep going until  a logical condition becomes </a:t>
            </a:r>
            <a:r>
              <a:rPr lang="en-US" sz="2025">
                <a:solidFill>
                  <a:srgbClr val="FF7F00"/>
                </a:solidFill>
                <a:latin typeface="Arial" charset="0"/>
                <a:ea typeface="Arial" charset="0"/>
                <a:cs typeface="Arial" charset="0"/>
                <a:sym typeface="Cabin"/>
              </a:rPr>
              <a:t>False</a:t>
            </a:r>
          </a:p>
          <a:p>
            <a:pPr marL="421481" indent="-208740">
              <a:buSzPct val="100000"/>
            </a:pPr>
            <a:r>
              <a:rPr lang="en-US" sz="2025">
                <a:solidFill>
                  <a:schemeClr val="lt1"/>
                </a:solidFill>
                <a:latin typeface="Arial" charset="0"/>
                <a:ea typeface="Arial" charset="0"/>
                <a:cs typeface="Arial" charset="0"/>
                <a:sym typeface="Cabin"/>
              </a:rPr>
              <a:t>The loops we have seen so far are pretty easy to examine to see if they will terminate or if they will be “infinite loops”</a:t>
            </a:r>
          </a:p>
          <a:p>
            <a:pPr marL="421481" indent="-208740">
              <a:buSzPct val="100000"/>
            </a:pPr>
            <a:r>
              <a:rPr lang="en-US" sz="2025">
                <a:solidFill>
                  <a:schemeClr val="lt1"/>
                </a:solidFill>
                <a:latin typeface="Arial" charset="0"/>
                <a:ea typeface="Arial" charset="0"/>
                <a:cs typeface="Arial" charset="0"/>
                <a:sym typeface="Cabin"/>
              </a:rPr>
              <a:t>Sometimes it is a little harder to be sure if a loop will terminate</a:t>
            </a:r>
          </a:p>
        </p:txBody>
      </p:sp>
    </p:spTree>
    <p:extLst>
      <p:ext uri="{BB962C8B-B14F-4D97-AF65-F5344CB8AC3E}">
        <p14:creationId xmlns:p14="http://schemas.microsoft.com/office/powerpoint/2010/main" val="22499707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D966"/>
                </a:solidFill>
              </a:rPr>
              <a:t>Definite Loops</a:t>
            </a:r>
          </a:p>
        </p:txBody>
      </p:sp>
      <p:sp>
        <p:nvSpPr>
          <p:cNvPr id="5" name="Text Placeholder 4"/>
          <p:cNvSpPr>
            <a:spLocks noGrp="1"/>
          </p:cNvSpPr>
          <p:nvPr>
            <p:ph type="body" idx="1"/>
          </p:nvPr>
        </p:nvSpPr>
        <p:spPr/>
        <p:txBody>
          <a:bodyPr/>
          <a:lstStyle/>
          <a:p>
            <a:r>
              <a:rPr lang="en-US" dirty="0">
                <a:solidFill>
                  <a:schemeClr val="bg1"/>
                </a:solidFill>
              </a:rPr>
              <a:t>Iterating over a set of items</a:t>
            </a:r>
            <a:r>
              <a:rPr lang="is-IS" dirty="0">
                <a:solidFill>
                  <a:schemeClr val="bg1"/>
                </a:solidFill>
              </a:rPr>
              <a:t>…</a:t>
            </a:r>
            <a:endParaRPr lang="en-US" dirty="0">
              <a:solidFill>
                <a:schemeClr val="bg1"/>
              </a:solidFill>
            </a:endParaRPr>
          </a:p>
        </p:txBody>
      </p:sp>
    </p:spTree>
    <p:extLst>
      <p:ext uri="{BB962C8B-B14F-4D97-AF65-F5344CB8AC3E}">
        <p14:creationId xmlns:p14="http://schemas.microsoft.com/office/powerpoint/2010/main" val="31692146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D966"/>
                </a:solidFill>
              </a:rPr>
              <a:t>Definite Loops</a:t>
            </a:r>
          </a:p>
        </p:txBody>
      </p:sp>
      <p:sp>
        <p:nvSpPr>
          <p:cNvPr id="5" name="Text Placeholder 4"/>
          <p:cNvSpPr>
            <a:spLocks noGrp="1"/>
          </p:cNvSpPr>
          <p:nvPr>
            <p:ph type="body" idx="1"/>
          </p:nvPr>
        </p:nvSpPr>
        <p:spPr/>
        <p:txBody>
          <a:bodyPr/>
          <a:lstStyle/>
          <a:p>
            <a:r>
              <a:rPr lang="en-US" dirty="0">
                <a:solidFill>
                  <a:schemeClr val="bg1"/>
                </a:solidFill>
              </a:rPr>
              <a:t>Iterating over a set of items</a:t>
            </a:r>
            <a:r>
              <a:rPr lang="is-IS" dirty="0">
                <a:solidFill>
                  <a:schemeClr val="bg1"/>
                </a:solidFill>
              </a:rPr>
              <a:t>…</a:t>
            </a:r>
            <a:endParaRPr lang="en-US" dirty="0">
              <a:solidFill>
                <a:schemeClr val="bg1"/>
              </a:solidFill>
            </a:endParaRPr>
          </a:p>
        </p:txBody>
      </p:sp>
      <p:pic>
        <p:nvPicPr>
          <p:cNvPr id="2" name="Picture 1"/>
          <p:cNvPicPr>
            <a:picLocks noChangeAspect="1"/>
          </p:cNvPicPr>
          <p:nvPr/>
        </p:nvPicPr>
        <p:blipFill>
          <a:blip r:embed="rId2"/>
          <a:stretch>
            <a:fillRect/>
          </a:stretch>
        </p:blipFill>
        <p:spPr>
          <a:xfrm>
            <a:off x="314325" y="883086"/>
            <a:ext cx="8593931" cy="5148977"/>
          </a:xfrm>
          <a:prstGeom prst="rect">
            <a:avLst/>
          </a:prstGeom>
        </p:spPr>
      </p:pic>
    </p:spTree>
    <p:extLst>
      <p:ext uri="{BB962C8B-B14F-4D97-AF65-F5344CB8AC3E}">
        <p14:creationId xmlns:p14="http://schemas.microsoft.com/office/powerpoint/2010/main" val="23176522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Shape 392"/>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Definite Loops</a:t>
            </a:r>
          </a:p>
        </p:txBody>
      </p:sp>
      <p:sp>
        <p:nvSpPr>
          <p:cNvPr id="393" name="Shape 393"/>
          <p:cNvSpPr txBox="1">
            <a:spLocks noGrp="1"/>
          </p:cNvSpPr>
          <p:nvPr>
            <p:ph type="body" idx="1"/>
          </p:nvPr>
        </p:nvSpPr>
        <p:spPr>
          <a:prstGeom prst="rect">
            <a:avLst/>
          </a:prstGeom>
          <a:noFill/>
          <a:ln>
            <a:noFill/>
          </a:ln>
        </p:spPr>
        <p:txBody>
          <a:bodyPr lIns="21431" tIns="21431" rIns="21431" bIns="21431" anchor="ctr" anchorCtr="0">
            <a:noAutofit/>
          </a:bodyPr>
          <a:lstStyle/>
          <a:p>
            <a:pPr marL="421481" indent="-208740">
              <a:spcBef>
                <a:spcPts val="0"/>
              </a:spcBef>
              <a:buSzPct val="100000"/>
            </a:pPr>
            <a:r>
              <a:rPr lang="en-US" sz="2025">
                <a:solidFill>
                  <a:schemeClr val="lt1"/>
                </a:solidFill>
                <a:latin typeface="Arial" charset="0"/>
                <a:ea typeface="Arial" charset="0"/>
                <a:cs typeface="Arial" charset="0"/>
                <a:sym typeface="Cabin"/>
              </a:rPr>
              <a:t>Quite often we have a </a:t>
            </a:r>
            <a:r>
              <a:rPr lang="en-US" sz="2025">
                <a:solidFill>
                  <a:srgbClr val="FF7F00"/>
                </a:solidFill>
                <a:latin typeface="Arial" charset="0"/>
                <a:ea typeface="Arial" charset="0"/>
                <a:cs typeface="Arial" charset="0"/>
                <a:sym typeface="Cabin"/>
              </a:rPr>
              <a:t>list</a:t>
            </a:r>
            <a:r>
              <a:rPr lang="en-US" sz="2025">
                <a:solidFill>
                  <a:schemeClr val="lt1"/>
                </a:solidFill>
                <a:latin typeface="Arial" charset="0"/>
                <a:ea typeface="Arial" charset="0"/>
                <a:cs typeface="Arial" charset="0"/>
                <a:sym typeface="Cabin"/>
              </a:rPr>
              <a:t> of items of the </a:t>
            </a:r>
            <a:r>
              <a:rPr lang="en-US" sz="2025">
                <a:solidFill>
                  <a:srgbClr val="FF7F00"/>
                </a:solidFill>
                <a:latin typeface="Arial" charset="0"/>
                <a:ea typeface="Arial" charset="0"/>
                <a:cs typeface="Arial" charset="0"/>
                <a:sym typeface="Cabin"/>
              </a:rPr>
              <a:t>lines in a file</a:t>
            </a:r>
            <a:r>
              <a:rPr lang="en-US" sz="2025">
                <a:solidFill>
                  <a:schemeClr val="lt1"/>
                </a:solidFill>
                <a:latin typeface="Arial" charset="0"/>
                <a:ea typeface="Arial" charset="0"/>
                <a:cs typeface="Arial" charset="0"/>
                <a:sym typeface="Cabin"/>
              </a:rPr>
              <a:t> - effectively a </a:t>
            </a:r>
            <a:r>
              <a:rPr lang="en-US" sz="2025">
                <a:solidFill>
                  <a:srgbClr val="FFFF00"/>
                </a:solidFill>
                <a:latin typeface="Arial" charset="0"/>
                <a:ea typeface="Arial" charset="0"/>
                <a:cs typeface="Arial" charset="0"/>
                <a:sym typeface="Cabin"/>
              </a:rPr>
              <a:t>finite set</a:t>
            </a:r>
            <a:r>
              <a:rPr lang="en-US" sz="2025">
                <a:solidFill>
                  <a:schemeClr val="lt1"/>
                </a:solidFill>
                <a:latin typeface="Arial" charset="0"/>
                <a:ea typeface="Arial" charset="0"/>
                <a:cs typeface="Arial" charset="0"/>
                <a:sym typeface="Cabin"/>
              </a:rPr>
              <a:t> of things</a:t>
            </a:r>
          </a:p>
          <a:p>
            <a:pPr marL="421481" indent="-208740">
              <a:buSzPct val="100000"/>
            </a:pPr>
            <a:r>
              <a:rPr lang="en-US" sz="2025">
                <a:solidFill>
                  <a:schemeClr val="lt1"/>
                </a:solidFill>
                <a:latin typeface="Arial" charset="0"/>
                <a:ea typeface="Arial" charset="0"/>
                <a:cs typeface="Arial" charset="0"/>
                <a:sym typeface="Cabin"/>
              </a:rPr>
              <a:t>We can write a loop to run the loop once for each of the items in a set using the Python </a:t>
            </a:r>
            <a:r>
              <a:rPr lang="en-US" sz="2025">
                <a:solidFill>
                  <a:srgbClr val="FFFF00"/>
                </a:solidFill>
                <a:latin typeface="Arial" charset="0"/>
                <a:ea typeface="Arial" charset="0"/>
                <a:cs typeface="Arial" charset="0"/>
                <a:sym typeface="Cabin"/>
              </a:rPr>
              <a:t>for</a:t>
            </a:r>
            <a:r>
              <a:rPr lang="en-US" sz="2025">
                <a:solidFill>
                  <a:schemeClr val="lt1"/>
                </a:solidFill>
                <a:latin typeface="Arial" charset="0"/>
                <a:ea typeface="Arial" charset="0"/>
                <a:cs typeface="Arial" charset="0"/>
                <a:sym typeface="Cabin"/>
              </a:rPr>
              <a:t> construct</a:t>
            </a:r>
          </a:p>
          <a:p>
            <a:pPr marL="421481" indent="-208740">
              <a:buSzPct val="100000"/>
            </a:pPr>
            <a:r>
              <a:rPr lang="en-US" sz="2025">
                <a:solidFill>
                  <a:schemeClr val="lt1"/>
                </a:solidFill>
                <a:latin typeface="Arial" charset="0"/>
                <a:ea typeface="Arial" charset="0"/>
                <a:cs typeface="Arial" charset="0"/>
                <a:sym typeface="Cabin"/>
              </a:rPr>
              <a:t>These loops are called </a:t>
            </a:r>
            <a:r>
              <a:rPr lang="en-US" sz="2025">
                <a:solidFill>
                  <a:srgbClr val="00FF00"/>
                </a:solidFill>
                <a:latin typeface="Arial" charset="0"/>
                <a:ea typeface="Arial" charset="0"/>
                <a:cs typeface="Arial" charset="0"/>
                <a:sym typeface="Cabin"/>
              </a:rPr>
              <a:t>“definite loops”</a:t>
            </a:r>
            <a:r>
              <a:rPr lang="en-US" sz="2025">
                <a:solidFill>
                  <a:schemeClr val="lt1"/>
                </a:solidFill>
                <a:latin typeface="Arial" charset="0"/>
                <a:ea typeface="Arial" charset="0"/>
                <a:cs typeface="Arial" charset="0"/>
                <a:sym typeface="Cabin"/>
              </a:rPr>
              <a:t> because they execute an exact number of times</a:t>
            </a:r>
          </a:p>
          <a:p>
            <a:pPr marL="421481" indent="-208740">
              <a:buSzPct val="100000"/>
            </a:pPr>
            <a:r>
              <a:rPr lang="en-US" sz="2025">
                <a:solidFill>
                  <a:schemeClr val="lt1"/>
                </a:solidFill>
                <a:latin typeface="Arial" charset="0"/>
                <a:ea typeface="Arial" charset="0"/>
                <a:cs typeface="Arial" charset="0"/>
                <a:sym typeface="Cabin"/>
              </a:rPr>
              <a:t>We say that </a:t>
            </a:r>
            <a:r>
              <a:rPr lang="en-US" sz="2025">
                <a:solidFill>
                  <a:srgbClr val="00FF00"/>
                </a:solidFill>
                <a:latin typeface="Arial" charset="0"/>
                <a:ea typeface="Arial" charset="0"/>
                <a:cs typeface="Arial" charset="0"/>
                <a:sym typeface="Cabin"/>
              </a:rPr>
              <a:t>“definite loops iterate through the members of a set”</a:t>
            </a:r>
          </a:p>
        </p:txBody>
      </p:sp>
    </p:spTree>
    <p:extLst>
      <p:ext uri="{BB962C8B-B14F-4D97-AF65-F5344CB8AC3E}">
        <p14:creationId xmlns:p14="http://schemas.microsoft.com/office/powerpoint/2010/main" val="42820710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Shape 398"/>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FF00"/>
              </a:buClr>
              <a:buSzPct val="25000"/>
            </a:pPr>
            <a:r>
              <a:rPr lang="en-US" sz="4275">
                <a:solidFill>
                  <a:srgbClr val="FFD966"/>
                </a:solidFill>
                <a:latin typeface="Arial" charset="0"/>
                <a:ea typeface="Arial" charset="0"/>
                <a:cs typeface="Arial" charset="0"/>
                <a:sym typeface="Cabin"/>
              </a:rPr>
              <a:t>A Simple Definite Loop</a:t>
            </a:r>
          </a:p>
        </p:txBody>
      </p:sp>
      <p:sp>
        <p:nvSpPr>
          <p:cNvPr id="399" name="Shape 399"/>
          <p:cNvSpPr txBox="1"/>
          <p:nvPr/>
        </p:nvSpPr>
        <p:spPr>
          <a:xfrm>
            <a:off x="1083727" y="2777808"/>
            <a:ext cx="4232587" cy="1428806"/>
          </a:xfrm>
          <a:prstGeom prst="rect">
            <a:avLst/>
          </a:prstGeom>
          <a:noFill/>
          <a:ln>
            <a:noFill/>
          </a:ln>
        </p:spPr>
        <p:txBody>
          <a:bodyPr lIns="0" tIns="0" rIns="0" bIns="0" anchor="ctr" anchorCtr="0">
            <a:noAutofit/>
          </a:bodyPr>
          <a:lstStyle/>
          <a:p>
            <a:pPr defTabSz="514350">
              <a:buClr>
                <a:srgbClr val="FFFF00"/>
              </a:buClr>
              <a:buSzPct val="25000"/>
            </a:pPr>
            <a:r>
              <a:rPr lang="en-US" sz="2025" b="1" kern="0" dirty="0">
                <a:solidFill>
                  <a:srgbClr val="FFFF00"/>
                </a:solidFill>
                <a:latin typeface="Courier"/>
                <a:ea typeface="Courier"/>
                <a:cs typeface="Courier"/>
                <a:sym typeface="Courier New"/>
              </a:rPr>
              <a:t>for</a:t>
            </a:r>
            <a:r>
              <a:rPr lang="en-US" sz="2025" b="1" kern="0" dirty="0">
                <a:solidFill>
                  <a:srgbClr val="FFFFFF"/>
                </a:solidFill>
                <a:latin typeface="Courier"/>
                <a:ea typeface="Courier"/>
                <a:cs typeface="Courier"/>
                <a:sym typeface="Courier New"/>
              </a:rPr>
              <a:t> </a:t>
            </a:r>
            <a:r>
              <a:rPr lang="en-US" sz="2025" b="1" kern="0" dirty="0" err="1">
                <a:solidFill>
                  <a:srgbClr val="00FF00"/>
                </a:solidFill>
                <a:latin typeface="Courier"/>
                <a:ea typeface="Courier"/>
                <a:cs typeface="Courier"/>
                <a:sym typeface="Courier New"/>
              </a:rPr>
              <a:t>i</a:t>
            </a:r>
            <a:r>
              <a:rPr lang="en-US" sz="2025" b="1" kern="0" dirty="0">
                <a:solidFill>
                  <a:srgbClr val="FFFFFF"/>
                </a:solidFill>
                <a:latin typeface="Courier"/>
                <a:ea typeface="Courier"/>
                <a:cs typeface="Courier"/>
                <a:sym typeface="Courier New"/>
              </a:rPr>
              <a:t> </a:t>
            </a:r>
            <a:r>
              <a:rPr lang="en-US" sz="2025" b="1" kern="0" dirty="0">
                <a:solidFill>
                  <a:srgbClr val="FFFF00"/>
                </a:solidFill>
                <a:latin typeface="Courier"/>
                <a:ea typeface="Courier"/>
                <a:cs typeface="Courier"/>
                <a:sym typeface="Courier New"/>
              </a:rPr>
              <a:t>in</a:t>
            </a:r>
            <a:r>
              <a:rPr lang="en-US" sz="2025" b="1" kern="0" dirty="0">
                <a:solidFill>
                  <a:srgbClr val="FFFFFF"/>
                </a:solidFill>
                <a:latin typeface="Courier"/>
                <a:ea typeface="Courier"/>
                <a:cs typeface="Courier"/>
                <a:sym typeface="Courier New"/>
              </a:rPr>
              <a:t> </a:t>
            </a:r>
            <a:r>
              <a:rPr lang="en-US" sz="2025" b="1" kern="0" dirty="0">
                <a:solidFill>
                  <a:srgbClr val="FF7F00"/>
                </a:solidFill>
                <a:latin typeface="Courier"/>
                <a:ea typeface="Courier"/>
                <a:cs typeface="Courier"/>
                <a:sym typeface="Courier New"/>
              </a:rPr>
              <a:t>[5, 4, 3, 2, 1]</a:t>
            </a:r>
            <a:r>
              <a:rPr lang="en-US" sz="2025" b="1" kern="0" dirty="0">
                <a:solidFill>
                  <a:srgbClr val="00FF00"/>
                </a:solidFill>
                <a:latin typeface="Courier"/>
                <a:ea typeface="Courier"/>
                <a:cs typeface="Courier"/>
                <a:sym typeface="Courier New"/>
              </a:rPr>
              <a:t> </a:t>
            </a:r>
            <a:r>
              <a:rPr lang="en-US" sz="2025" b="1" kern="0" dirty="0">
                <a:solidFill>
                  <a:srgbClr val="FFFF00"/>
                </a:solidFill>
                <a:latin typeface="Courier"/>
                <a:ea typeface="Courier"/>
                <a:cs typeface="Courier"/>
                <a:sym typeface="Courier New"/>
              </a:rPr>
              <a:t>:</a:t>
            </a:r>
          </a:p>
          <a:p>
            <a:pPr defTabSz="514350">
              <a:buClr>
                <a:srgbClr val="FFFFFF"/>
              </a:buClr>
              <a:buSzPct val="25000"/>
            </a:pPr>
            <a:r>
              <a:rPr lang="en-US" sz="2025" b="1" kern="0" dirty="0">
                <a:solidFill>
                  <a:srgbClr val="FFFFFF"/>
                </a:solidFill>
                <a:latin typeface="Courier"/>
                <a:ea typeface="Courier"/>
                <a:cs typeface="Courier"/>
                <a:sym typeface="Courier New"/>
              </a:rPr>
              <a:t>    </a:t>
            </a:r>
            <a:r>
              <a:rPr lang="en-US" sz="2025" b="1" kern="0" dirty="0">
                <a:solidFill>
                  <a:srgbClr val="FFFF00"/>
                </a:solidFill>
                <a:latin typeface="Courier"/>
                <a:ea typeface="Courier"/>
                <a:cs typeface="Courier"/>
                <a:sym typeface="Courier New"/>
              </a:rPr>
              <a:t>print(</a:t>
            </a:r>
            <a:r>
              <a:rPr lang="en-US" sz="2025" b="1" kern="0" dirty="0" err="1">
                <a:solidFill>
                  <a:srgbClr val="00FF00"/>
                </a:solidFill>
                <a:latin typeface="Courier"/>
                <a:ea typeface="Courier"/>
                <a:cs typeface="Courier"/>
                <a:sym typeface="Courier New"/>
              </a:rPr>
              <a:t>i</a:t>
            </a:r>
            <a:r>
              <a:rPr lang="en-US" sz="2025" b="1" kern="0" dirty="0">
                <a:solidFill>
                  <a:srgbClr val="FFFF00"/>
                </a:solidFill>
                <a:latin typeface="Courier"/>
                <a:ea typeface="Courier"/>
                <a:cs typeface="Courier"/>
                <a:sym typeface="Courier New"/>
              </a:rPr>
              <a:t>)</a:t>
            </a:r>
          </a:p>
          <a:p>
            <a:pPr defTabSz="514350">
              <a:buClr>
                <a:srgbClr val="FFFF00"/>
              </a:buClr>
              <a:buSzPct val="25000"/>
            </a:pPr>
            <a:r>
              <a:rPr lang="en-US" sz="2025" b="1" kern="0" dirty="0">
                <a:solidFill>
                  <a:srgbClr val="FFFF00"/>
                </a:solidFill>
                <a:latin typeface="Courier"/>
                <a:ea typeface="Courier"/>
                <a:cs typeface="Courier"/>
                <a:sym typeface="Courier New"/>
              </a:rPr>
              <a:t>print</a:t>
            </a:r>
            <a:r>
              <a:rPr lang="en-US" sz="2025" b="1" kern="0" dirty="0">
                <a:solidFill>
                  <a:srgbClr val="FFFFFF"/>
                </a:solidFill>
                <a:latin typeface="Courier"/>
                <a:ea typeface="Courier"/>
                <a:cs typeface="Courier"/>
                <a:sym typeface="Courier New"/>
              </a:rPr>
              <a:t>(</a:t>
            </a:r>
            <a:r>
              <a:rPr lang="en-US" sz="2025" b="1" kern="0" dirty="0">
                <a:solidFill>
                  <a:srgbClr val="FF7F00"/>
                </a:solidFill>
                <a:latin typeface="Courier"/>
                <a:ea typeface="Courier"/>
                <a:cs typeface="Courier"/>
                <a:sym typeface="Courier New"/>
              </a:rPr>
              <a:t>'Blastoff!'</a:t>
            </a:r>
            <a:r>
              <a:rPr lang="en-US" sz="2025" b="1" kern="0" dirty="0">
                <a:solidFill>
                  <a:srgbClr val="FFFFFF"/>
                </a:solidFill>
                <a:latin typeface="Courier"/>
                <a:ea typeface="Courier"/>
                <a:cs typeface="Courier"/>
                <a:sym typeface="Courier New"/>
              </a:rPr>
              <a:t>)</a:t>
            </a:r>
          </a:p>
        </p:txBody>
      </p:sp>
      <p:sp>
        <p:nvSpPr>
          <p:cNvPr id="400" name="Shape 400"/>
          <p:cNvSpPr txBox="1"/>
          <p:nvPr/>
        </p:nvSpPr>
        <p:spPr>
          <a:xfrm>
            <a:off x="6239172" y="2546747"/>
            <a:ext cx="1341239" cy="2757488"/>
          </a:xfrm>
          <a:prstGeom prst="rect">
            <a:avLst/>
          </a:prstGeom>
          <a:noFill/>
          <a:ln>
            <a:noFill/>
          </a:ln>
        </p:spPr>
        <p:txBody>
          <a:bodyPr lIns="0" tIns="0" rIns="0" bIns="0" anchor="ctr" anchorCtr="0">
            <a:noAutofit/>
          </a:bodyPr>
          <a:lstStyle/>
          <a:p>
            <a:pPr defTabSz="514350">
              <a:buClr>
                <a:srgbClr val="FF00FF"/>
              </a:buClr>
              <a:buSzPct val="25000"/>
            </a:pPr>
            <a:r>
              <a:rPr lang="en-US" sz="2700" kern="0">
                <a:solidFill>
                  <a:srgbClr val="FFFFFF"/>
                </a:solidFill>
                <a:latin typeface="Arial" charset="0"/>
                <a:ea typeface="Arial" charset="0"/>
                <a:cs typeface="Arial" charset="0"/>
                <a:sym typeface="Cabin"/>
              </a:rPr>
              <a:t>5</a:t>
            </a:r>
          </a:p>
          <a:p>
            <a:pPr defTabSz="514350">
              <a:buClr>
                <a:srgbClr val="FF00FF"/>
              </a:buClr>
              <a:buSzPct val="25000"/>
            </a:pPr>
            <a:r>
              <a:rPr lang="en-US" sz="2700" kern="0">
                <a:solidFill>
                  <a:srgbClr val="FFFFFF"/>
                </a:solidFill>
                <a:latin typeface="Arial" charset="0"/>
                <a:ea typeface="Arial" charset="0"/>
                <a:cs typeface="Arial" charset="0"/>
                <a:sym typeface="Cabin"/>
              </a:rPr>
              <a:t>4</a:t>
            </a:r>
          </a:p>
          <a:p>
            <a:pPr defTabSz="514350">
              <a:buClr>
                <a:srgbClr val="FF00FF"/>
              </a:buClr>
              <a:buSzPct val="25000"/>
            </a:pPr>
            <a:r>
              <a:rPr lang="en-US" sz="2700" kern="0">
                <a:solidFill>
                  <a:srgbClr val="FFFFFF"/>
                </a:solidFill>
                <a:latin typeface="Arial" charset="0"/>
                <a:ea typeface="Arial" charset="0"/>
                <a:cs typeface="Arial" charset="0"/>
                <a:sym typeface="Cabin"/>
              </a:rPr>
              <a:t>3</a:t>
            </a:r>
          </a:p>
          <a:p>
            <a:pPr defTabSz="514350">
              <a:buClr>
                <a:srgbClr val="FF00FF"/>
              </a:buClr>
              <a:buSzPct val="25000"/>
            </a:pPr>
            <a:r>
              <a:rPr lang="en-US" sz="2700" kern="0">
                <a:solidFill>
                  <a:srgbClr val="FFFFFF"/>
                </a:solidFill>
                <a:latin typeface="Arial" charset="0"/>
                <a:ea typeface="Arial" charset="0"/>
                <a:cs typeface="Arial" charset="0"/>
                <a:sym typeface="Cabin"/>
              </a:rPr>
              <a:t>2</a:t>
            </a:r>
          </a:p>
          <a:p>
            <a:pPr defTabSz="514350">
              <a:buClr>
                <a:srgbClr val="FF00FF"/>
              </a:buClr>
              <a:buSzPct val="25000"/>
            </a:pPr>
            <a:r>
              <a:rPr lang="en-US" sz="2700" kern="0">
                <a:solidFill>
                  <a:srgbClr val="FFFFFF"/>
                </a:solidFill>
                <a:latin typeface="Arial" charset="0"/>
                <a:ea typeface="Arial" charset="0"/>
                <a:cs typeface="Arial" charset="0"/>
                <a:sym typeface="Cabin"/>
              </a:rPr>
              <a:t>1</a:t>
            </a:r>
          </a:p>
          <a:p>
            <a:pPr defTabSz="514350">
              <a:buClr>
                <a:srgbClr val="FF00FF"/>
              </a:buClr>
              <a:buSzPct val="25000"/>
            </a:pPr>
            <a:r>
              <a:rPr lang="en-US" sz="2700" kern="0">
                <a:solidFill>
                  <a:srgbClr val="FFFFFF"/>
                </a:solidFill>
                <a:latin typeface="Arial" charset="0"/>
                <a:ea typeface="Arial" charset="0"/>
                <a:cs typeface="Arial" charset="0"/>
                <a:sym typeface="Cabin"/>
              </a:rPr>
              <a:t>Blastoff!</a:t>
            </a:r>
          </a:p>
        </p:txBody>
      </p:sp>
    </p:spTree>
    <p:extLst>
      <p:ext uri="{BB962C8B-B14F-4D97-AF65-F5344CB8AC3E}">
        <p14:creationId xmlns:p14="http://schemas.microsoft.com/office/powerpoint/2010/main" val="1666186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Shape 405"/>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FF00"/>
              </a:buClr>
              <a:buSzPct val="25000"/>
            </a:pPr>
            <a:r>
              <a:rPr lang="en-US" sz="4275">
                <a:solidFill>
                  <a:srgbClr val="FFD966"/>
                </a:solidFill>
                <a:latin typeface="Arial" charset="0"/>
                <a:ea typeface="Arial" charset="0"/>
                <a:cs typeface="Arial" charset="0"/>
                <a:sym typeface="Cabin"/>
              </a:rPr>
              <a:t>A Definite Loop with Strings</a:t>
            </a:r>
          </a:p>
        </p:txBody>
      </p:sp>
      <p:sp>
        <p:nvSpPr>
          <p:cNvPr id="406" name="Shape 406"/>
          <p:cNvSpPr txBox="1"/>
          <p:nvPr/>
        </p:nvSpPr>
        <p:spPr>
          <a:xfrm>
            <a:off x="392695" y="3188433"/>
            <a:ext cx="5182819" cy="1246556"/>
          </a:xfrm>
          <a:prstGeom prst="rect">
            <a:avLst/>
          </a:prstGeom>
          <a:noFill/>
          <a:ln>
            <a:noFill/>
          </a:ln>
        </p:spPr>
        <p:txBody>
          <a:bodyPr lIns="0" tIns="0" rIns="0" bIns="0" anchor="ctr" anchorCtr="0">
            <a:noAutofit/>
          </a:bodyPr>
          <a:lstStyle/>
          <a:p>
            <a:pPr defTabSz="514350">
              <a:buClr>
                <a:srgbClr val="00FF00"/>
              </a:buClr>
              <a:buSzPct val="25000"/>
            </a:pPr>
            <a:r>
              <a:rPr lang="en-US" sz="1688" b="1" kern="0" dirty="0">
                <a:solidFill>
                  <a:srgbClr val="00FF00"/>
                </a:solidFill>
                <a:latin typeface="Courier"/>
                <a:ea typeface="Courier"/>
                <a:cs typeface="Courier"/>
                <a:sym typeface="Courier New"/>
              </a:rPr>
              <a:t>friends</a:t>
            </a:r>
            <a:r>
              <a:rPr lang="en-US" sz="1688" b="1" kern="0" dirty="0">
                <a:solidFill>
                  <a:srgbClr val="FFFFFF"/>
                </a:solidFill>
                <a:latin typeface="Courier"/>
                <a:ea typeface="Courier"/>
                <a:cs typeface="Courier"/>
                <a:sym typeface="Courier New"/>
              </a:rPr>
              <a:t> = </a:t>
            </a:r>
            <a:r>
              <a:rPr lang="en-US" sz="1688" b="1" kern="0" dirty="0">
                <a:solidFill>
                  <a:srgbClr val="FF7F00"/>
                </a:solidFill>
                <a:latin typeface="Courier"/>
                <a:ea typeface="Courier"/>
                <a:cs typeface="Courier"/>
                <a:sym typeface="Courier New"/>
              </a:rPr>
              <a:t>['Joseph', 'Glenn', 'Sally']</a:t>
            </a:r>
          </a:p>
          <a:p>
            <a:pPr defTabSz="514350">
              <a:buClr>
                <a:srgbClr val="FFFF00"/>
              </a:buClr>
              <a:buSzPct val="25000"/>
            </a:pPr>
            <a:r>
              <a:rPr lang="en-US" sz="1688" b="1" kern="0" dirty="0">
                <a:solidFill>
                  <a:srgbClr val="FFFF00"/>
                </a:solidFill>
                <a:latin typeface="Courier"/>
                <a:ea typeface="Courier"/>
                <a:cs typeface="Courier"/>
                <a:sym typeface="Courier New"/>
              </a:rPr>
              <a:t>for</a:t>
            </a: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friend</a:t>
            </a: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in</a:t>
            </a: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friends </a:t>
            </a:r>
            <a:r>
              <a:rPr lang="en-US" sz="1688" b="1" kern="0" dirty="0">
                <a:solidFill>
                  <a:srgbClr val="FFFFFF"/>
                </a:solidFill>
                <a:latin typeface="Courier"/>
                <a:ea typeface="Courier"/>
                <a:cs typeface="Courier"/>
                <a:sym typeface="Courier New"/>
              </a:rPr>
              <a:t>: </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FF7F00"/>
                </a:solidFill>
                <a:latin typeface="Courier"/>
                <a:ea typeface="Courier"/>
                <a:cs typeface="Courier"/>
                <a:sym typeface="Courier New"/>
              </a:rPr>
              <a:t>'Happy New Year:'</a:t>
            </a:r>
            <a:r>
              <a:rPr lang="en-US" sz="1688" b="1" kern="0" dirty="0">
                <a:solidFill>
                  <a:srgbClr val="FFFFFF"/>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friend</a:t>
            </a:r>
            <a:r>
              <a:rPr lang="en-US" sz="1688" b="1" kern="0" dirty="0">
                <a:solidFill>
                  <a:srgbClr val="FFFFFF"/>
                </a:solidFill>
                <a:latin typeface="Courier"/>
                <a:ea typeface="Courier"/>
                <a:cs typeface="Courier"/>
                <a:sym typeface="Courier New"/>
              </a:rPr>
              <a:t>)</a:t>
            </a:r>
          </a:p>
          <a:p>
            <a:pPr defTabSz="514350">
              <a:buClr>
                <a:srgbClr val="FFFF00"/>
              </a:buClr>
              <a:buSzPct val="25000"/>
            </a:pP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a:solidFill>
                  <a:srgbClr val="FF7F00"/>
                </a:solidFill>
                <a:latin typeface="Courier"/>
                <a:ea typeface="Courier"/>
                <a:cs typeface="Courier"/>
                <a:sym typeface="Courier New"/>
              </a:rPr>
              <a:t>'Done!'</a:t>
            </a:r>
            <a:r>
              <a:rPr lang="en-US" sz="1688" b="1" kern="0" dirty="0">
                <a:solidFill>
                  <a:srgbClr val="FFFFFF"/>
                </a:solidFill>
                <a:latin typeface="Courier"/>
                <a:ea typeface="Courier"/>
                <a:cs typeface="Courier"/>
                <a:sym typeface="Courier New"/>
              </a:rPr>
              <a:t>)</a:t>
            </a:r>
          </a:p>
        </p:txBody>
      </p:sp>
      <p:sp>
        <p:nvSpPr>
          <p:cNvPr id="407" name="Shape 407"/>
          <p:cNvSpPr txBox="1"/>
          <p:nvPr/>
        </p:nvSpPr>
        <p:spPr>
          <a:xfrm>
            <a:off x="5966930" y="2855152"/>
            <a:ext cx="3063994" cy="1741668"/>
          </a:xfrm>
          <a:prstGeom prst="rect">
            <a:avLst/>
          </a:prstGeom>
          <a:noFill/>
          <a:ln>
            <a:noFill/>
          </a:ln>
        </p:spPr>
        <p:txBody>
          <a:bodyPr lIns="0" tIns="0" rIns="0" bIns="0" anchor="ctr" anchorCtr="0">
            <a:noAutofit/>
          </a:bodyPr>
          <a:lstStyle/>
          <a:p>
            <a:pPr defTabSz="514350">
              <a:buClr>
                <a:srgbClr val="FF00FF"/>
              </a:buClr>
              <a:buSzPct val="25000"/>
            </a:pPr>
            <a:r>
              <a:rPr lang="en-US" sz="2025" kern="0">
                <a:solidFill>
                  <a:srgbClr val="FFFFFF"/>
                </a:solidFill>
                <a:latin typeface="Arial" charset="0"/>
                <a:ea typeface="Arial" charset="0"/>
                <a:cs typeface="Arial" charset="0"/>
                <a:sym typeface="Cabin"/>
              </a:rPr>
              <a:t>Happy New Year: Joseph</a:t>
            </a:r>
            <a:br>
              <a:rPr lang="en-US" sz="2025" kern="0">
                <a:solidFill>
                  <a:srgbClr val="FFFFFF"/>
                </a:solidFill>
                <a:latin typeface="Arial" charset="0"/>
                <a:ea typeface="Arial" charset="0"/>
                <a:cs typeface="Arial" charset="0"/>
                <a:sym typeface="Cabin"/>
              </a:rPr>
            </a:br>
            <a:r>
              <a:rPr lang="en-US" sz="2025" kern="0">
                <a:solidFill>
                  <a:srgbClr val="FFFFFF"/>
                </a:solidFill>
                <a:latin typeface="Arial" charset="0"/>
                <a:ea typeface="Arial" charset="0"/>
                <a:cs typeface="Arial" charset="0"/>
                <a:sym typeface="Cabin"/>
              </a:rPr>
              <a:t>Happy New Year: Glenn</a:t>
            </a:r>
          </a:p>
          <a:p>
            <a:pPr defTabSz="514350">
              <a:buClr>
                <a:srgbClr val="FF00FF"/>
              </a:buClr>
              <a:buSzPct val="25000"/>
            </a:pPr>
            <a:r>
              <a:rPr lang="en-US" sz="2025" kern="0">
                <a:solidFill>
                  <a:srgbClr val="FFFFFF"/>
                </a:solidFill>
                <a:latin typeface="Arial" charset="0"/>
                <a:ea typeface="Arial" charset="0"/>
                <a:cs typeface="Arial" charset="0"/>
                <a:sym typeface="Cabin"/>
              </a:rPr>
              <a:t>Happy New Year: Sally</a:t>
            </a:r>
          </a:p>
          <a:p>
            <a:pPr defTabSz="514350">
              <a:buClr>
                <a:srgbClr val="FF00FF"/>
              </a:buClr>
            </a:pPr>
            <a:endParaRPr sz="2025" kern="0">
              <a:solidFill>
                <a:srgbClr val="FFFFFF"/>
              </a:solidFill>
              <a:latin typeface="Arial" charset="0"/>
              <a:ea typeface="Arial" charset="0"/>
              <a:cs typeface="Arial" charset="0"/>
              <a:sym typeface="Cabin"/>
            </a:endParaRPr>
          </a:p>
          <a:p>
            <a:pPr defTabSz="514350">
              <a:buClr>
                <a:srgbClr val="FF00FF"/>
              </a:buClr>
              <a:buSzPct val="25000"/>
            </a:pPr>
            <a:r>
              <a:rPr lang="en-US" sz="2025" kern="0">
                <a:solidFill>
                  <a:srgbClr val="FFFFFF"/>
                </a:solidFill>
                <a:latin typeface="Arial" charset="0"/>
                <a:ea typeface="Arial" charset="0"/>
                <a:cs typeface="Arial" charset="0"/>
                <a:sym typeface="Cabin"/>
              </a:rPr>
              <a:t>Done!</a:t>
            </a:r>
          </a:p>
        </p:txBody>
      </p:sp>
      <p:cxnSp>
        <p:nvCxnSpPr>
          <p:cNvPr id="408" name="Shape 408"/>
          <p:cNvCxnSpPr/>
          <p:nvPr/>
        </p:nvCxnSpPr>
        <p:spPr>
          <a:xfrm flipH="1">
            <a:off x="5063133" y="3407709"/>
            <a:ext cx="797582" cy="535641"/>
          </a:xfrm>
          <a:prstGeom prst="straightConnector1">
            <a:avLst/>
          </a:prstGeom>
          <a:noFill/>
          <a:ln w="50800" cap="rnd" cmpd="sng">
            <a:solidFill>
              <a:srgbClr val="FFFF00"/>
            </a:solidFill>
            <a:prstDash val="solid"/>
            <a:miter/>
            <a:headEnd type="stealth" w="med" len="med"/>
            <a:tailEnd type="none" w="med" len="med"/>
          </a:ln>
        </p:spPr>
      </p:cxnSp>
      <p:cxnSp>
        <p:nvCxnSpPr>
          <p:cNvPr id="409" name="Shape 409"/>
          <p:cNvCxnSpPr/>
          <p:nvPr/>
        </p:nvCxnSpPr>
        <p:spPr>
          <a:xfrm flipH="1" flipV="1">
            <a:off x="2282429" y="4216599"/>
            <a:ext cx="3606721" cy="137095"/>
          </a:xfrm>
          <a:prstGeom prst="straightConnector1">
            <a:avLst/>
          </a:prstGeom>
          <a:noFill/>
          <a:ln w="50800" cap="rnd" cmpd="sng">
            <a:solidFill>
              <a:srgbClr val="FFFF00"/>
            </a:solidFill>
            <a:prstDash val="solid"/>
            <a:miter/>
            <a:headEnd type="stealth" w="med" len="med"/>
            <a:tailEnd type="none" w="med" len="med"/>
          </a:ln>
        </p:spPr>
      </p:cxnSp>
    </p:spTree>
    <p:extLst>
      <p:ext uri="{BB962C8B-B14F-4D97-AF65-F5344CB8AC3E}">
        <p14:creationId xmlns:p14="http://schemas.microsoft.com/office/powerpoint/2010/main" val="23717266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Shape 416"/>
          <p:cNvSpPr txBox="1">
            <a:spLocks noGrp="1"/>
          </p:cNvSpPr>
          <p:nvPr>
            <p:ph type="title"/>
          </p:nvPr>
        </p:nvSpPr>
        <p:spPr>
          <a:xfrm>
            <a:off x="650081" y="1317048"/>
            <a:ext cx="7836750" cy="638694"/>
          </a:xfrm>
          <a:prstGeom prst="rect">
            <a:avLst/>
          </a:prstGeom>
          <a:noFill/>
          <a:ln>
            <a:noFill/>
          </a:ln>
        </p:spPr>
        <p:txBody>
          <a:bodyPr lIns="21431" tIns="21431" rIns="21431" bIns="21431" anchor="ctr" anchorCtr="0">
            <a:noAutofit/>
          </a:bodyPr>
          <a:lstStyle/>
          <a:p>
            <a:pPr>
              <a:buClr>
                <a:srgbClr val="FFFF00"/>
              </a:buClr>
              <a:buSzPct val="25000"/>
            </a:pPr>
            <a:r>
              <a:rPr lang="en-US" sz="4275">
                <a:solidFill>
                  <a:srgbClr val="FFD966"/>
                </a:solidFill>
                <a:latin typeface="Arial" charset="0"/>
                <a:ea typeface="Arial" charset="0"/>
                <a:cs typeface="Arial" charset="0"/>
                <a:sym typeface="Cabin"/>
              </a:rPr>
              <a:t>A Simple Definite Loop</a:t>
            </a:r>
          </a:p>
        </p:txBody>
      </p:sp>
      <p:sp>
        <p:nvSpPr>
          <p:cNvPr id="417" name="Shape 417"/>
          <p:cNvSpPr txBox="1"/>
          <p:nvPr/>
        </p:nvSpPr>
        <p:spPr>
          <a:xfrm>
            <a:off x="4942519" y="2839627"/>
            <a:ext cx="2872463" cy="934031"/>
          </a:xfrm>
          <a:prstGeom prst="rect">
            <a:avLst/>
          </a:prstGeom>
          <a:noFill/>
          <a:ln>
            <a:noFill/>
          </a:ln>
        </p:spPr>
        <p:txBody>
          <a:bodyPr lIns="0" tIns="0" rIns="0" bIns="0" anchor="ctr" anchorCtr="0">
            <a:noAutofit/>
          </a:bodyPr>
          <a:lstStyle/>
          <a:p>
            <a:pPr defTabSz="514350">
              <a:buClr>
                <a:srgbClr val="FFFF00"/>
              </a:buClr>
              <a:buSzPct val="25000"/>
            </a:pPr>
            <a:r>
              <a:rPr lang="en-US" sz="1350" b="1" kern="0" dirty="0">
                <a:solidFill>
                  <a:srgbClr val="FFFF00"/>
                </a:solidFill>
                <a:latin typeface="Courier"/>
                <a:ea typeface="Courier"/>
                <a:cs typeface="Courier"/>
                <a:sym typeface="Courier New"/>
              </a:rPr>
              <a:t>for</a:t>
            </a:r>
            <a:r>
              <a:rPr lang="en-US" sz="1350" b="1" kern="0" dirty="0">
                <a:solidFill>
                  <a:srgbClr val="FFFFFF"/>
                </a:solidFill>
                <a:latin typeface="Courier"/>
                <a:ea typeface="Courier"/>
                <a:cs typeface="Courier"/>
                <a:sym typeface="Courier New"/>
              </a:rPr>
              <a:t> </a:t>
            </a:r>
            <a:r>
              <a:rPr lang="en-US" sz="1350" b="1" kern="0" dirty="0" err="1">
                <a:solidFill>
                  <a:srgbClr val="00FF00"/>
                </a:solidFill>
                <a:latin typeface="Courier"/>
                <a:ea typeface="Courier"/>
                <a:cs typeface="Courier"/>
                <a:sym typeface="Courier New"/>
              </a:rPr>
              <a:t>i</a:t>
            </a:r>
            <a:r>
              <a:rPr lang="en-US" sz="1350" b="1" kern="0" dirty="0">
                <a:solidFill>
                  <a:srgbClr val="FFFFFF"/>
                </a:solidFill>
                <a:latin typeface="Courier"/>
                <a:ea typeface="Courier"/>
                <a:cs typeface="Courier"/>
                <a:sym typeface="Courier New"/>
              </a:rPr>
              <a:t> </a:t>
            </a:r>
            <a:r>
              <a:rPr lang="en-US" sz="1350" b="1" kern="0" dirty="0">
                <a:solidFill>
                  <a:srgbClr val="FFFF00"/>
                </a:solidFill>
                <a:latin typeface="Courier"/>
                <a:ea typeface="Courier"/>
                <a:cs typeface="Courier"/>
                <a:sym typeface="Courier New"/>
              </a:rPr>
              <a:t>in</a:t>
            </a:r>
            <a:r>
              <a:rPr lang="en-US" sz="1350" b="1" kern="0" dirty="0">
                <a:solidFill>
                  <a:srgbClr val="FFFFFF"/>
                </a:solidFill>
                <a:latin typeface="Courier"/>
                <a:ea typeface="Courier"/>
                <a:cs typeface="Courier"/>
                <a:sym typeface="Courier New"/>
              </a:rPr>
              <a:t> </a:t>
            </a:r>
            <a:r>
              <a:rPr lang="en-US" sz="1350" b="1" kern="0" dirty="0">
                <a:solidFill>
                  <a:srgbClr val="FF7F00"/>
                </a:solidFill>
                <a:latin typeface="Courier"/>
                <a:ea typeface="Courier"/>
                <a:cs typeface="Courier"/>
                <a:sym typeface="Courier New"/>
              </a:rPr>
              <a:t>[5, 4, 3, 2, 1]</a:t>
            </a:r>
            <a:r>
              <a:rPr lang="en-US" sz="1350" b="1" kern="0" dirty="0">
                <a:solidFill>
                  <a:srgbClr val="00FF00"/>
                </a:solidFill>
                <a:latin typeface="Courier"/>
                <a:ea typeface="Courier"/>
                <a:cs typeface="Courier"/>
                <a:sym typeface="Courier New"/>
              </a:rPr>
              <a:t> </a:t>
            </a:r>
            <a:r>
              <a:rPr lang="en-US" sz="1350" b="1" kern="0" dirty="0">
                <a:solidFill>
                  <a:srgbClr val="FFFFFF"/>
                </a:solidFill>
                <a:latin typeface="Courier"/>
                <a:ea typeface="Courier"/>
                <a:cs typeface="Courier"/>
                <a:sym typeface="Courier New"/>
              </a:rPr>
              <a:t>:</a:t>
            </a:r>
          </a:p>
          <a:p>
            <a:pPr defTabSz="514350">
              <a:buClr>
                <a:srgbClr val="FFFFFF"/>
              </a:buClr>
              <a:buSzPct val="25000"/>
            </a:pPr>
            <a:r>
              <a:rPr lang="en-US" sz="1350" b="1" kern="0" dirty="0">
                <a:solidFill>
                  <a:srgbClr val="FFFFFF"/>
                </a:solidFill>
                <a:latin typeface="Courier"/>
                <a:ea typeface="Courier"/>
                <a:cs typeface="Courier"/>
                <a:sym typeface="Courier New"/>
              </a:rPr>
              <a:t>    </a:t>
            </a:r>
            <a:r>
              <a:rPr lang="en-US" sz="1350" b="1" kern="0" dirty="0">
                <a:solidFill>
                  <a:srgbClr val="FFFF00"/>
                </a:solidFill>
                <a:latin typeface="Courier"/>
                <a:ea typeface="Courier"/>
                <a:cs typeface="Courier"/>
                <a:sym typeface="Courier New"/>
              </a:rPr>
              <a:t>print</a:t>
            </a:r>
            <a:r>
              <a:rPr lang="en-US" sz="1350" b="1" kern="0" dirty="0">
                <a:solidFill>
                  <a:srgbClr val="FFFFFF"/>
                </a:solidFill>
                <a:latin typeface="Courier"/>
                <a:ea typeface="Courier"/>
                <a:cs typeface="Courier"/>
                <a:sym typeface="Courier New"/>
              </a:rPr>
              <a:t>(</a:t>
            </a:r>
            <a:r>
              <a:rPr lang="en-US" sz="1350" b="1" kern="0" dirty="0" err="1">
                <a:solidFill>
                  <a:srgbClr val="00FF00"/>
                </a:solidFill>
                <a:latin typeface="Courier"/>
                <a:ea typeface="Courier"/>
                <a:cs typeface="Courier"/>
                <a:sym typeface="Courier New"/>
              </a:rPr>
              <a:t>i</a:t>
            </a:r>
            <a:r>
              <a:rPr lang="en-US" sz="1350" b="1" kern="0" dirty="0">
                <a:solidFill>
                  <a:srgbClr val="FFFFFF"/>
                </a:solidFill>
                <a:latin typeface="Courier"/>
                <a:ea typeface="Courier"/>
                <a:cs typeface="Courier"/>
                <a:sym typeface="Courier New"/>
              </a:rPr>
              <a:t>)</a:t>
            </a:r>
          </a:p>
          <a:p>
            <a:pPr defTabSz="514350">
              <a:buClr>
                <a:srgbClr val="FFFF00"/>
              </a:buClr>
              <a:buSzPct val="25000"/>
            </a:pPr>
            <a:r>
              <a:rPr lang="en-US" sz="1350" b="1" kern="0" dirty="0">
                <a:solidFill>
                  <a:srgbClr val="FFFF00"/>
                </a:solidFill>
                <a:latin typeface="Courier"/>
                <a:ea typeface="Courier"/>
                <a:cs typeface="Courier"/>
                <a:sym typeface="Courier New"/>
              </a:rPr>
              <a:t>print</a:t>
            </a:r>
            <a:r>
              <a:rPr lang="en-US" sz="1350" b="1" kern="0" dirty="0">
                <a:solidFill>
                  <a:srgbClr val="FFFFFF"/>
                </a:solidFill>
                <a:latin typeface="Courier"/>
                <a:ea typeface="Courier"/>
                <a:cs typeface="Courier"/>
                <a:sym typeface="Courier New"/>
              </a:rPr>
              <a:t>(</a:t>
            </a:r>
            <a:r>
              <a:rPr lang="en-US" sz="1350" b="1" kern="0" dirty="0">
                <a:solidFill>
                  <a:srgbClr val="FF7F00"/>
                </a:solidFill>
                <a:latin typeface="Courier"/>
                <a:ea typeface="Courier"/>
                <a:cs typeface="Courier"/>
                <a:sym typeface="Courier New"/>
              </a:rPr>
              <a:t>'Blastoff!'</a:t>
            </a:r>
            <a:r>
              <a:rPr lang="en-US" sz="1350" b="1" kern="0" dirty="0">
                <a:solidFill>
                  <a:srgbClr val="FFFFFF"/>
                </a:solidFill>
                <a:latin typeface="Courier"/>
                <a:ea typeface="Courier"/>
                <a:cs typeface="Courier"/>
                <a:sym typeface="Courier New"/>
              </a:rPr>
              <a:t>)</a:t>
            </a:r>
          </a:p>
        </p:txBody>
      </p:sp>
      <p:sp>
        <p:nvSpPr>
          <p:cNvPr id="418" name="Shape 418"/>
          <p:cNvSpPr txBox="1"/>
          <p:nvPr/>
        </p:nvSpPr>
        <p:spPr>
          <a:xfrm>
            <a:off x="7971089" y="2578149"/>
            <a:ext cx="933694" cy="1814568"/>
          </a:xfrm>
          <a:prstGeom prst="rect">
            <a:avLst/>
          </a:prstGeom>
          <a:noFill/>
          <a:ln>
            <a:noFill/>
          </a:ln>
        </p:spPr>
        <p:txBody>
          <a:bodyPr lIns="0" tIns="0" rIns="0" bIns="0" anchor="ctr" anchorCtr="0">
            <a:noAutofit/>
          </a:bodyPr>
          <a:lstStyle/>
          <a:p>
            <a:pPr defTabSz="514350">
              <a:buClr>
                <a:srgbClr val="FF00FF"/>
              </a:buClr>
              <a:buSzPct val="25000"/>
            </a:pPr>
            <a:r>
              <a:rPr lang="en-US" sz="1688" kern="0">
                <a:solidFill>
                  <a:srgbClr val="FFFFFF"/>
                </a:solidFill>
                <a:latin typeface="Arial" charset="0"/>
                <a:ea typeface="Arial" charset="0"/>
                <a:cs typeface="Arial" charset="0"/>
                <a:sym typeface="Cabin"/>
              </a:rPr>
              <a:t>5</a:t>
            </a:r>
          </a:p>
          <a:p>
            <a:pPr defTabSz="514350">
              <a:buClr>
                <a:srgbClr val="FF00FF"/>
              </a:buClr>
              <a:buSzPct val="25000"/>
            </a:pPr>
            <a:r>
              <a:rPr lang="en-US" sz="1688" kern="0">
                <a:solidFill>
                  <a:srgbClr val="FFFFFF"/>
                </a:solidFill>
                <a:latin typeface="Arial" charset="0"/>
                <a:ea typeface="Arial" charset="0"/>
                <a:cs typeface="Arial" charset="0"/>
                <a:sym typeface="Cabin"/>
              </a:rPr>
              <a:t>4</a:t>
            </a:r>
          </a:p>
          <a:p>
            <a:pPr defTabSz="514350">
              <a:buClr>
                <a:srgbClr val="FF00FF"/>
              </a:buClr>
              <a:buSzPct val="25000"/>
            </a:pPr>
            <a:r>
              <a:rPr lang="en-US" sz="1688" kern="0">
                <a:solidFill>
                  <a:srgbClr val="FFFFFF"/>
                </a:solidFill>
                <a:latin typeface="Arial" charset="0"/>
                <a:ea typeface="Arial" charset="0"/>
                <a:cs typeface="Arial" charset="0"/>
                <a:sym typeface="Cabin"/>
              </a:rPr>
              <a:t>3</a:t>
            </a:r>
          </a:p>
          <a:p>
            <a:pPr defTabSz="514350">
              <a:buClr>
                <a:srgbClr val="FF00FF"/>
              </a:buClr>
              <a:buSzPct val="25000"/>
            </a:pPr>
            <a:r>
              <a:rPr lang="en-US" sz="1688" kern="0">
                <a:solidFill>
                  <a:srgbClr val="FFFFFF"/>
                </a:solidFill>
                <a:latin typeface="Arial" charset="0"/>
                <a:ea typeface="Arial" charset="0"/>
                <a:cs typeface="Arial" charset="0"/>
                <a:sym typeface="Cabin"/>
              </a:rPr>
              <a:t>2</a:t>
            </a:r>
          </a:p>
          <a:p>
            <a:pPr defTabSz="514350">
              <a:buClr>
                <a:srgbClr val="FF00FF"/>
              </a:buClr>
              <a:buSzPct val="25000"/>
            </a:pPr>
            <a:r>
              <a:rPr lang="en-US" sz="1688" kern="0">
                <a:solidFill>
                  <a:srgbClr val="FFFFFF"/>
                </a:solidFill>
                <a:latin typeface="Arial" charset="0"/>
                <a:ea typeface="Arial" charset="0"/>
                <a:cs typeface="Arial" charset="0"/>
                <a:sym typeface="Cabin"/>
              </a:rPr>
              <a:t>1</a:t>
            </a:r>
          </a:p>
          <a:p>
            <a:pPr defTabSz="514350">
              <a:buClr>
                <a:srgbClr val="FF00FF"/>
              </a:buClr>
              <a:buSzPct val="25000"/>
            </a:pPr>
            <a:r>
              <a:rPr lang="en-US" sz="1688" kern="0">
                <a:solidFill>
                  <a:srgbClr val="FFFFFF"/>
                </a:solidFill>
                <a:latin typeface="Arial" charset="0"/>
                <a:ea typeface="Arial" charset="0"/>
                <a:cs typeface="Arial" charset="0"/>
                <a:sym typeface="Cabin"/>
              </a:rPr>
              <a:t>Blastoff!</a:t>
            </a:r>
          </a:p>
        </p:txBody>
      </p:sp>
      <p:cxnSp>
        <p:nvCxnSpPr>
          <p:cNvPr id="419" name="Shape 419"/>
          <p:cNvCxnSpPr/>
          <p:nvPr/>
        </p:nvCxnSpPr>
        <p:spPr>
          <a:xfrm rot="10800000">
            <a:off x="1710865" y="2087972"/>
            <a:ext cx="8100" cy="318768"/>
          </a:xfrm>
          <a:prstGeom prst="straightConnector1">
            <a:avLst/>
          </a:prstGeom>
          <a:noFill/>
          <a:ln w="76200" cap="rnd" cmpd="sng">
            <a:solidFill>
              <a:srgbClr val="00FFFF"/>
            </a:solidFill>
            <a:prstDash val="solid"/>
            <a:miter/>
            <a:headEnd type="stealth" w="med" len="med"/>
            <a:tailEnd type="none" w="med" len="med"/>
          </a:ln>
        </p:spPr>
      </p:cxnSp>
      <p:sp>
        <p:nvSpPr>
          <p:cNvPr id="420" name="Shape 420"/>
          <p:cNvSpPr/>
          <p:nvPr/>
        </p:nvSpPr>
        <p:spPr>
          <a:xfrm>
            <a:off x="914400" y="2403169"/>
            <a:ext cx="1614431" cy="714318"/>
          </a:xfrm>
          <a:prstGeom prst="diamond">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13" kern="0">
                <a:solidFill>
                  <a:srgbClr val="FF9900"/>
                </a:solidFill>
                <a:latin typeface="Arial" charset="0"/>
                <a:ea typeface="Arial" charset="0"/>
                <a:cs typeface="Arial" charset="0"/>
                <a:sym typeface="Cabin"/>
              </a:rPr>
              <a:t>Done?</a:t>
            </a:r>
          </a:p>
        </p:txBody>
      </p:sp>
      <p:cxnSp>
        <p:nvCxnSpPr>
          <p:cNvPr id="421" name="Shape 421"/>
          <p:cNvCxnSpPr/>
          <p:nvPr/>
        </p:nvCxnSpPr>
        <p:spPr>
          <a:xfrm rot="10800000">
            <a:off x="1721650" y="3117600"/>
            <a:ext cx="6244" cy="842906"/>
          </a:xfrm>
          <a:prstGeom prst="straightConnector1">
            <a:avLst/>
          </a:prstGeom>
          <a:noFill/>
          <a:ln w="76200" cap="rnd" cmpd="sng">
            <a:solidFill>
              <a:srgbClr val="00FFFF"/>
            </a:solidFill>
            <a:prstDash val="solid"/>
            <a:miter/>
            <a:headEnd type="none" w="med" len="med"/>
            <a:tailEnd type="stealth" w="med" len="med"/>
          </a:ln>
        </p:spPr>
      </p:cxnSp>
      <p:cxnSp>
        <p:nvCxnSpPr>
          <p:cNvPr id="422" name="Shape 422"/>
          <p:cNvCxnSpPr/>
          <p:nvPr/>
        </p:nvCxnSpPr>
        <p:spPr>
          <a:xfrm rot="10800000">
            <a:off x="3614984" y="2971083"/>
            <a:ext cx="15187" cy="366187"/>
          </a:xfrm>
          <a:prstGeom prst="straightConnector1">
            <a:avLst/>
          </a:prstGeom>
          <a:noFill/>
          <a:ln w="76200" cap="rnd" cmpd="sng">
            <a:solidFill>
              <a:srgbClr val="00FFFF"/>
            </a:solidFill>
            <a:prstDash val="solid"/>
            <a:miter/>
            <a:headEnd type="stealth" w="med" len="med"/>
            <a:tailEnd type="none" w="med" len="med"/>
          </a:ln>
        </p:spPr>
      </p:cxnSp>
      <p:cxnSp>
        <p:nvCxnSpPr>
          <p:cNvPr id="423" name="Shape 423"/>
          <p:cNvCxnSpPr>
            <a:stCxn id="424" idx="2"/>
          </p:cNvCxnSpPr>
          <p:nvPr/>
        </p:nvCxnSpPr>
        <p:spPr>
          <a:xfrm>
            <a:off x="3629053" y="3696243"/>
            <a:ext cx="0" cy="276413"/>
          </a:xfrm>
          <a:prstGeom prst="straightConnector1">
            <a:avLst/>
          </a:prstGeom>
          <a:noFill/>
          <a:ln w="76200" cap="rnd" cmpd="sng">
            <a:solidFill>
              <a:srgbClr val="00FFFF"/>
            </a:solidFill>
            <a:prstDash val="solid"/>
            <a:miter/>
            <a:headEnd type="none" w="med" len="med"/>
            <a:tailEnd type="none" w="med" len="med"/>
          </a:ln>
        </p:spPr>
      </p:cxnSp>
      <p:cxnSp>
        <p:nvCxnSpPr>
          <p:cNvPr id="425" name="Shape 425"/>
          <p:cNvCxnSpPr/>
          <p:nvPr/>
        </p:nvCxnSpPr>
        <p:spPr>
          <a:xfrm>
            <a:off x="1726109" y="3952469"/>
            <a:ext cx="1910418" cy="0"/>
          </a:xfrm>
          <a:prstGeom prst="straightConnector1">
            <a:avLst/>
          </a:prstGeom>
          <a:noFill/>
          <a:ln w="76200" cap="rnd" cmpd="sng">
            <a:solidFill>
              <a:srgbClr val="00FFFF"/>
            </a:solidFill>
            <a:prstDash val="solid"/>
            <a:miter/>
            <a:headEnd type="none" w="med" len="med"/>
            <a:tailEnd type="none" w="med" len="med"/>
          </a:ln>
        </p:spPr>
      </p:cxnSp>
      <p:cxnSp>
        <p:nvCxnSpPr>
          <p:cNvPr id="426" name="Shape 426"/>
          <p:cNvCxnSpPr/>
          <p:nvPr/>
        </p:nvCxnSpPr>
        <p:spPr>
          <a:xfrm flipH="1">
            <a:off x="714361" y="2765714"/>
            <a:ext cx="223256" cy="1856"/>
          </a:xfrm>
          <a:prstGeom prst="straightConnector1">
            <a:avLst/>
          </a:prstGeom>
          <a:noFill/>
          <a:ln w="76200" cap="rnd" cmpd="sng">
            <a:solidFill>
              <a:srgbClr val="00FFFF"/>
            </a:solidFill>
            <a:prstDash val="solid"/>
            <a:miter/>
            <a:headEnd type="none" w="med" len="med"/>
            <a:tailEnd type="stealth" w="med" len="med"/>
          </a:ln>
        </p:spPr>
      </p:cxnSp>
      <p:cxnSp>
        <p:nvCxnSpPr>
          <p:cNvPr id="427" name="Shape 427"/>
          <p:cNvCxnSpPr/>
          <p:nvPr/>
        </p:nvCxnSpPr>
        <p:spPr>
          <a:xfrm rot="10800000" flipH="1">
            <a:off x="1718965" y="4364198"/>
            <a:ext cx="8943" cy="362475"/>
          </a:xfrm>
          <a:prstGeom prst="straightConnector1">
            <a:avLst/>
          </a:prstGeom>
          <a:noFill/>
          <a:ln w="76200" cap="rnd" cmpd="sng">
            <a:solidFill>
              <a:srgbClr val="00FFFF"/>
            </a:solidFill>
            <a:prstDash val="solid"/>
            <a:miter/>
            <a:headEnd type="stealth" w="med" len="med"/>
            <a:tailEnd type="none" w="med" len="med"/>
          </a:ln>
        </p:spPr>
      </p:cxnSp>
      <p:cxnSp>
        <p:nvCxnSpPr>
          <p:cNvPr id="428" name="Shape 428"/>
          <p:cNvCxnSpPr/>
          <p:nvPr/>
        </p:nvCxnSpPr>
        <p:spPr>
          <a:xfrm rot="10800000">
            <a:off x="731270" y="2796026"/>
            <a:ext cx="1856" cy="1563637"/>
          </a:xfrm>
          <a:prstGeom prst="straightConnector1">
            <a:avLst/>
          </a:prstGeom>
          <a:noFill/>
          <a:ln w="76200" cap="rnd" cmpd="sng">
            <a:solidFill>
              <a:srgbClr val="00FFFF"/>
            </a:solidFill>
            <a:prstDash val="solid"/>
            <a:miter/>
            <a:headEnd type="stealth" w="med" len="med"/>
            <a:tailEnd type="none" w="med" len="med"/>
          </a:ln>
        </p:spPr>
      </p:cxnSp>
      <p:cxnSp>
        <p:nvCxnSpPr>
          <p:cNvPr id="429" name="Shape 429"/>
          <p:cNvCxnSpPr/>
          <p:nvPr/>
        </p:nvCxnSpPr>
        <p:spPr>
          <a:xfrm>
            <a:off x="731340" y="4373951"/>
            <a:ext cx="985838" cy="0"/>
          </a:xfrm>
          <a:prstGeom prst="straightConnector1">
            <a:avLst/>
          </a:prstGeom>
          <a:noFill/>
          <a:ln w="76200" cap="rnd" cmpd="sng">
            <a:solidFill>
              <a:srgbClr val="00FFFF"/>
            </a:solidFill>
            <a:prstDash val="solid"/>
            <a:miter/>
            <a:headEnd type="none" w="med" len="med"/>
            <a:tailEnd type="none" w="med" len="med"/>
          </a:ln>
        </p:spPr>
      </p:cxnSp>
      <p:sp>
        <p:nvSpPr>
          <p:cNvPr id="430" name="Shape 430"/>
          <p:cNvSpPr txBox="1"/>
          <p:nvPr/>
        </p:nvSpPr>
        <p:spPr>
          <a:xfrm>
            <a:off x="392668" y="2338875"/>
            <a:ext cx="661447"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Yes</a:t>
            </a:r>
          </a:p>
        </p:txBody>
      </p:sp>
      <p:sp>
        <p:nvSpPr>
          <p:cNvPr id="431" name="Shape 431"/>
          <p:cNvSpPr txBox="1"/>
          <p:nvPr/>
        </p:nvSpPr>
        <p:spPr>
          <a:xfrm>
            <a:off x="800100" y="4689169"/>
            <a:ext cx="1850175"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print('Blast off!')</a:t>
            </a:r>
          </a:p>
        </p:txBody>
      </p:sp>
      <p:sp>
        <p:nvSpPr>
          <p:cNvPr id="424" name="Shape 424"/>
          <p:cNvSpPr txBox="1"/>
          <p:nvPr/>
        </p:nvSpPr>
        <p:spPr>
          <a:xfrm>
            <a:off x="2807494" y="3274707"/>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a:t>
            </a:r>
            <a:r>
              <a:rPr lang="en-US" sz="1969" kern="0" dirty="0" err="1">
                <a:solidFill>
                  <a:srgbClr val="00FF00"/>
                </a:solidFill>
                <a:latin typeface="Arial" charset="0"/>
                <a:ea typeface="Arial" charset="0"/>
                <a:cs typeface="Arial" charset="0"/>
                <a:sym typeface="Cabin"/>
              </a:rPr>
              <a:t>i</a:t>
            </a:r>
            <a:r>
              <a:rPr lang="en-US" sz="1969" kern="0" dirty="0">
                <a:solidFill>
                  <a:srgbClr val="FFFFFF"/>
                </a:solidFill>
                <a:latin typeface="Arial" charset="0"/>
                <a:ea typeface="Arial" charset="0"/>
                <a:cs typeface="Arial" charset="0"/>
                <a:sym typeface="Cabin"/>
              </a:rPr>
              <a:t>)</a:t>
            </a:r>
          </a:p>
        </p:txBody>
      </p:sp>
      <p:sp>
        <p:nvSpPr>
          <p:cNvPr id="432" name="Shape 432"/>
          <p:cNvSpPr txBox="1"/>
          <p:nvPr/>
        </p:nvSpPr>
        <p:spPr>
          <a:xfrm>
            <a:off x="2343150" y="2303157"/>
            <a:ext cx="407194"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No</a:t>
            </a:r>
          </a:p>
        </p:txBody>
      </p:sp>
      <p:sp>
        <p:nvSpPr>
          <p:cNvPr id="433" name="Shape 433"/>
          <p:cNvSpPr txBox="1"/>
          <p:nvPr/>
        </p:nvSpPr>
        <p:spPr>
          <a:xfrm>
            <a:off x="2784431" y="2553188"/>
            <a:ext cx="1751963" cy="421537"/>
          </a:xfrm>
          <a:prstGeom prst="rect">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69" kern="0">
                <a:solidFill>
                  <a:srgbClr val="FF9900"/>
                </a:solidFill>
                <a:latin typeface="Arial" charset="0"/>
                <a:ea typeface="Arial" charset="0"/>
                <a:cs typeface="Arial" charset="0"/>
                <a:sym typeface="Cabin"/>
              </a:rPr>
              <a:t>Move </a:t>
            </a:r>
            <a:r>
              <a:rPr lang="en-US" sz="1969" kern="0">
                <a:solidFill>
                  <a:srgbClr val="00FF00"/>
                </a:solidFill>
                <a:latin typeface="Arial" charset="0"/>
                <a:ea typeface="Arial" charset="0"/>
                <a:cs typeface="Arial" charset="0"/>
                <a:sym typeface="Cabin"/>
              </a:rPr>
              <a:t>i</a:t>
            </a:r>
            <a:r>
              <a:rPr lang="en-US" sz="1969" kern="0">
                <a:solidFill>
                  <a:srgbClr val="FF9900"/>
                </a:solidFill>
                <a:latin typeface="Arial" charset="0"/>
                <a:ea typeface="Arial" charset="0"/>
                <a:cs typeface="Arial" charset="0"/>
                <a:sym typeface="Cabin"/>
              </a:rPr>
              <a:t> ahead</a:t>
            </a:r>
          </a:p>
        </p:txBody>
      </p:sp>
      <p:sp>
        <p:nvSpPr>
          <p:cNvPr id="434" name="Shape 434"/>
          <p:cNvSpPr txBox="1"/>
          <p:nvPr/>
        </p:nvSpPr>
        <p:spPr>
          <a:xfrm>
            <a:off x="3057353" y="4482485"/>
            <a:ext cx="5700713" cy="935831"/>
          </a:xfrm>
          <a:prstGeom prst="rect">
            <a:avLst/>
          </a:prstGeom>
          <a:noFill/>
          <a:ln>
            <a:noFill/>
          </a:ln>
        </p:spPr>
        <p:txBody>
          <a:bodyPr lIns="0" tIns="0" rIns="0" bIns="0" anchor="ctr" anchorCtr="0">
            <a:noAutofit/>
          </a:bodyPr>
          <a:lstStyle/>
          <a:p>
            <a:pPr algn="ctr" defTabSz="514350">
              <a:buClr>
                <a:srgbClr val="FFFFFF"/>
              </a:buClr>
              <a:buSzPct val="25000"/>
            </a:pPr>
            <a:r>
              <a:rPr lang="en-US" kern="0">
                <a:solidFill>
                  <a:srgbClr val="FFFFFF"/>
                </a:solidFill>
                <a:latin typeface="Arial" charset="0"/>
                <a:ea typeface="Arial" charset="0"/>
                <a:cs typeface="Arial" charset="0"/>
                <a:sym typeface="Cabin"/>
              </a:rPr>
              <a:t>Definite loops (for loops) have explicit </a:t>
            </a:r>
            <a:r>
              <a:rPr lang="en-US" kern="0">
                <a:solidFill>
                  <a:srgbClr val="00FF00"/>
                </a:solidFill>
                <a:latin typeface="Arial" charset="0"/>
                <a:ea typeface="Arial" charset="0"/>
                <a:cs typeface="Arial" charset="0"/>
                <a:sym typeface="Cabin"/>
              </a:rPr>
              <a:t>iteration variables</a:t>
            </a:r>
            <a:r>
              <a:rPr lang="en-US" kern="0">
                <a:solidFill>
                  <a:srgbClr val="FF0000"/>
                </a:solidFill>
                <a:latin typeface="Arial" charset="0"/>
                <a:ea typeface="Arial" charset="0"/>
                <a:cs typeface="Arial" charset="0"/>
                <a:sym typeface="Cabin"/>
              </a:rPr>
              <a:t> </a:t>
            </a:r>
            <a:r>
              <a:rPr lang="en-US" kern="0">
                <a:solidFill>
                  <a:srgbClr val="FFFFFF"/>
                </a:solidFill>
                <a:latin typeface="Arial" charset="0"/>
                <a:ea typeface="Arial" charset="0"/>
                <a:cs typeface="Arial" charset="0"/>
                <a:sym typeface="Cabin"/>
              </a:rPr>
              <a:t>that change each time through a loop.  </a:t>
            </a:r>
            <a:r>
              <a:rPr lang="en-US" kern="0" dirty="0">
                <a:solidFill>
                  <a:srgbClr val="FFFFFF"/>
                </a:solidFill>
                <a:latin typeface="Arial" charset="0"/>
                <a:ea typeface="Arial" charset="0"/>
                <a:cs typeface="Arial" charset="0"/>
                <a:sym typeface="Cabin"/>
              </a:rPr>
              <a:t>These </a:t>
            </a:r>
            <a:r>
              <a:rPr lang="en-US" kern="0" dirty="0">
                <a:solidFill>
                  <a:srgbClr val="00FF00"/>
                </a:solidFill>
                <a:latin typeface="Arial" charset="0"/>
                <a:ea typeface="Arial" charset="0"/>
                <a:cs typeface="Arial" charset="0"/>
                <a:sym typeface="Cabin"/>
              </a:rPr>
              <a:t>iteration variables</a:t>
            </a:r>
            <a:r>
              <a:rPr lang="en-US" kern="0" dirty="0">
                <a:solidFill>
                  <a:srgbClr val="FFFFFF"/>
                </a:solidFill>
                <a:latin typeface="Arial" charset="0"/>
                <a:ea typeface="Arial" charset="0"/>
                <a:cs typeface="Arial" charset="0"/>
                <a:sym typeface="Cabin"/>
              </a:rPr>
              <a:t> move through the sequence or set. </a:t>
            </a:r>
          </a:p>
        </p:txBody>
      </p:sp>
      <p:cxnSp>
        <p:nvCxnSpPr>
          <p:cNvPr id="435" name="Shape 435"/>
          <p:cNvCxnSpPr/>
          <p:nvPr/>
        </p:nvCxnSpPr>
        <p:spPr>
          <a:xfrm>
            <a:off x="2564620" y="2765714"/>
            <a:ext cx="223256" cy="1856"/>
          </a:xfrm>
          <a:prstGeom prst="straightConnector1">
            <a:avLst/>
          </a:prstGeom>
          <a:noFill/>
          <a:ln w="76200" cap="rnd" cmpd="sng">
            <a:solidFill>
              <a:srgbClr val="00FFFF"/>
            </a:solidFill>
            <a:prstDash val="solid"/>
            <a:miter/>
            <a:headEnd type="none" w="med" len="med"/>
            <a:tailEnd type="stealth" w="med" len="med"/>
          </a:ln>
        </p:spPr>
      </p:cxnSp>
    </p:spTree>
    <p:extLst>
      <p:ext uri="{BB962C8B-B14F-4D97-AF65-F5344CB8AC3E}">
        <p14:creationId xmlns:p14="http://schemas.microsoft.com/office/powerpoint/2010/main" val="13839240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Shape 440"/>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Looking at </a:t>
            </a:r>
            <a:r>
              <a:rPr lang="en-US" sz="4275">
                <a:latin typeface="Arial" charset="0"/>
                <a:ea typeface="Arial" charset="0"/>
                <a:cs typeface="Arial" charset="0"/>
                <a:sym typeface="Cabin"/>
              </a:rPr>
              <a:t>in...</a:t>
            </a:r>
          </a:p>
        </p:txBody>
      </p:sp>
      <p:sp>
        <p:nvSpPr>
          <p:cNvPr id="441" name="Shape 441"/>
          <p:cNvSpPr txBox="1">
            <a:spLocks noGrp="1"/>
          </p:cNvSpPr>
          <p:nvPr>
            <p:ph type="body" idx="1"/>
          </p:nvPr>
        </p:nvSpPr>
        <p:spPr>
          <a:xfrm>
            <a:off x="650082" y="2321719"/>
            <a:ext cx="3592448" cy="3207599"/>
          </a:xfrm>
          <a:prstGeom prst="rect">
            <a:avLst/>
          </a:prstGeom>
          <a:noFill/>
          <a:ln>
            <a:noFill/>
          </a:ln>
        </p:spPr>
        <p:txBody>
          <a:bodyPr lIns="21431" tIns="21431" rIns="21431" bIns="21431" anchor="ctr" anchorCtr="0">
            <a:noAutofit/>
          </a:bodyPr>
          <a:lstStyle/>
          <a:p>
            <a:pPr marL="421481" indent="-201597">
              <a:spcBef>
                <a:spcPts val="0"/>
              </a:spcBef>
              <a:buSzPct val="100000"/>
            </a:pPr>
            <a:r>
              <a:rPr lang="en-US" sz="1913">
                <a:solidFill>
                  <a:schemeClr val="lt1"/>
                </a:solidFill>
                <a:latin typeface="Arial" charset="0"/>
                <a:ea typeface="Arial" charset="0"/>
                <a:cs typeface="Arial" charset="0"/>
                <a:sym typeface="Cabin"/>
              </a:rPr>
              <a:t>The </a:t>
            </a:r>
            <a:r>
              <a:rPr lang="en-US" sz="1913">
                <a:solidFill>
                  <a:srgbClr val="00FF00"/>
                </a:solidFill>
                <a:latin typeface="Arial" charset="0"/>
                <a:ea typeface="Arial" charset="0"/>
                <a:cs typeface="Arial" charset="0"/>
                <a:sym typeface="Cabin"/>
              </a:rPr>
              <a:t>iteration variable </a:t>
            </a:r>
            <a:r>
              <a:rPr lang="en-US" sz="1913">
                <a:solidFill>
                  <a:schemeClr val="lt1"/>
                </a:solidFill>
              </a:rPr>
              <a:t>“</a:t>
            </a:r>
            <a:r>
              <a:rPr lang="en-US" sz="1913">
                <a:solidFill>
                  <a:schemeClr val="lt1"/>
                </a:solidFill>
                <a:latin typeface="Arial" charset="0"/>
                <a:ea typeface="Arial" charset="0"/>
                <a:cs typeface="Arial" charset="0"/>
                <a:sym typeface="Cabin"/>
              </a:rPr>
              <a:t>iterates</a:t>
            </a:r>
            <a:r>
              <a:rPr lang="en-US" sz="1913">
                <a:solidFill>
                  <a:schemeClr val="lt1"/>
                </a:solidFill>
              </a:rPr>
              <a:t>”</a:t>
            </a:r>
            <a:r>
              <a:rPr lang="en-US" sz="1913">
                <a:solidFill>
                  <a:schemeClr val="lt1"/>
                </a:solidFill>
                <a:latin typeface="Arial" charset="0"/>
                <a:ea typeface="Arial" charset="0"/>
                <a:cs typeface="Arial" charset="0"/>
                <a:sym typeface="Cabin"/>
              </a:rPr>
              <a:t> through the </a:t>
            </a:r>
            <a:r>
              <a:rPr lang="en-US" sz="1913">
                <a:solidFill>
                  <a:srgbClr val="FF7F00"/>
                </a:solidFill>
                <a:latin typeface="Arial" charset="0"/>
                <a:ea typeface="Arial" charset="0"/>
                <a:cs typeface="Arial" charset="0"/>
                <a:sym typeface="Cabin"/>
              </a:rPr>
              <a:t>sequence </a:t>
            </a:r>
            <a:r>
              <a:rPr lang="en-US" sz="1913">
                <a:solidFill>
                  <a:schemeClr val="lt1"/>
                </a:solidFill>
                <a:latin typeface="Arial" charset="0"/>
                <a:ea typeface="Arial" charset="0"/>
                <a:cs typeface="Arial" charset="0"/>
                <a:sym typeface="Cabin"/>
              </a:rPr>
              <a:t>(ordered set)</a:t>
            </a:r>
          </a:p>
          <a:p>
            <a:pPr marL="421481" indent="-201597">
              <a:buSzPct val="100000"/>
            </a:pPr>
            <a:r>
              <a:rPr lang="en-US" sz="1913" dirty="0">
                <a:solidFill>
                  <a:schemeClr val="lt1"/>
                </a:solidFill>
                <a:latin typeface="Arial" charset="0"/>
                <a:ea typeface="Arial" charset="0"/>
                <a:cs typeface="Arial" charset="0"/>
                <a:sym typeface="Cabin"/>
              </a:rPr>
              <a:t>The </a:t>
            </a:r>
            <a:r>
              <a:rPr lang="en-US" sz="1913" dirty="0">
                <a:solidFill>
                  <a:srgbClr val="FF00FF"/>
                </a:solidFill>
                <a:latin typeface="Arial" charset="0"/>
                <a:ea typeface="Arial" charset="0"/>
                <a:cs typeface="Arial" charset="0"/>
                <a:sym typeface="Cabin"/>
              </a:rPr>
              <a:t>block (body)</a:t>
            </a:r>
            <a:r>
              <a:rPr lang="en-US" sz="1913" dirty="0">
                <a:solidFill>
                  <a:schemeClr val="lt1"/>
                </a:solidFill>
                <a:latin typeface="Arial" charset="0"/>
                <a:ea typeface="Arial" charset="0"/>
                <a:cs typeface="Arial" charset="0"/>
                <a:sym typeface="Cabin"/>
              </a:rPr>
              <a:t> of code is executed once for each value </a:t>
            </a:r>
            <a:r>
              <a:rPr lang="en-US" sz="1913" dirty="0">
                <a:solidFill>
                  <a:srgbClr val="FFFF00"/>
                </a:solidFill>
                <a:latin typeface="Arial" charset="0"/>
                <a:ea typeface="Arial" charset="0"/>
                <a:cs typeface="Arial" charset="0"/>
                <a:sym typeface="Cabin"/>
              </a:rPr>
              <a:t>in</a:t>
            </a:r>
            <a:r>
              <a:rPr lang="en-US" sz="1913" dirty="0">
                <a:solidFill>
                  <a:schemeClr val="lt1"/>
                </a:solidFill>
                <a:latin typeface="Arial" charset="0"/>
                <a:ea typeface="Arial" charset="0"/>
                <a:cs typeface="Arial" charset="0"/>
                <a:sym typeface="Cabin"/>
              </a:rPr>
              <a:t> the </a:t>
            </a:r>
            <a:r>
              <a:rPr lang="en-US" sz="1913" dirty="0">
                <a:solidFill>
                  <a:srgbClr val="FF7F00"/>
                </a:solidFill>
                <a:latin typeface="Arial" charset="0"/>
                <a:ea typeface="Arial" charset="0"/>
                <a:cs typeface="Arial" charset="0"/>
                <a:sym typeface="Cabin"/>
              </a:rPr>
              <a:t>sequence</a:t>
            </a:r>
          </a:p>
          <a:p>
            <a:pPr marL="421481" indent="-201597">
              <a:buSzPct val="100000"/>
            </a:pPr>
            <a:r>
              <a:rPr lang="en-US" sz="1913" dirty="0">
                <a:solidFill>
                  <a:schemeClr val="lt1"/>
                </a:solidFill>
                <a:latin typeface="Arial" charset="0"/>
                <a:ea typeface="Arial" charset="0"/>
                <a:cs typeface="Arial" charset="0"/>
                <a:sym typeface="Cabin"/>
              </a:rPr>
              <a:t>The </a:t>
            </a:r>
            <a:r>
              <a:rPr lang="en-US" sz="1913" dirty="0">
                <a:solidFill>
                  <a:srgbClr val="00FF00"/>
                </a:solidFill>
                <a:latin typeface="Arial" charset="0"/>
                <a:ea typeface="Arial" charset="0"/>
                <a:cs typeface="Arial" charset="0"/>
                <a:sym typeface="Cabin"/>
              </a:rPr>
              <a:t>iteration variable </a:t>
            </a:r>
            <a:r>
              <a:rPr lang="en-US" sz="1913" dirty="0">
                <a:solidFill>
                  <a:schemeClr val="lt1"/>
                </a:solidFill>
                <a:latin typeface="Arial" charset="0"/>
                <a:ea typeface="Arial" charset="0"/>
                <a:cs typeface="Arial" charset="0"/>
                <a:sym typeface="Cabin"/>
              </a:rPr>
              <a:t>moves through all of the values </a:t>
            </a:r>
            <a:r>
              <a:rPr lang="en-US" sz="1913" dirty="0">
                <a:solidFill>
                  <a:srgbClr val="FFFF00"/>
                </a:solidFill>
                <a:latin typeface="Arial" charset="0"/>
                <a:ea typeface="Arial" charset="0"/>
                <a:cs typeface="Arial" charset="0"/>
                <a:sym typeface="Cabin"/>
              </a:rPr>
              <a:t>in</a:t>
            </a:r>
            <a:r>
              <a:rPr lang="en-US" sz="1913" dirty="0">
                <a:solidFill>
                  <a:schemeClr val="lt1"/>
                </a:solidFill>
                <a:latin typeface="Arial" charset="0"/>
                <a:ea typeface="Arial" charset="0"/>
                <a:cs typeface="Arial" charset="0"/>
                <a:sym typeface="Cabin"/>
              </a:rPr>
              <a:t> the </a:t>
            </a:r>
            <a:r>
              <a:rPr lang="en-US" sz="1913" dirty="0">
                <a:solidFill>
                  <a:srgbClr val="FF7F00"/>
                </a:solidFill>
                <a:latin typeface="Arial" charset="0"/>
                <a:ea typeface="Arial" charset="0"/>
                <a:cs typeface="Arial" charset="0"/>
                <a:sym typeface="Cabin"/>
              </a:rPr>
              <a:t>sequence</a:t>
            </a:r>
          </a:p>
        </p:txBody>
      </p:sp>
      <p:sp>
        <p:nvSpPr>
          <p:cNvPr id="442" name="Shape 442"/>
          <p:cNvSpPr txBox="1"/>
          <p:nvPr/>
        </p:nvSpPr>
        <p:spPr>
          <a:xfrm>
            <a:off x="5093496" y="3827257"/>
            <a:ext cx="3579863" cy="749250"/>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for</a:t>
            </a:r>
            <a:r>
              <a:rPr lang="en-US" sz="1688" b="1" kern="0" dirty="0">
                <a:solidFill>
                  <a:srgbClr val="FFFFFF"/>
                </a:solidFill>
                <a:latin typeface="Courier"/>
                <a:ea typeface="Courier"/>
                <a:cs typeface="Courier"/>
                <a:sym typeface="Courier New"/>
              </a:rPr>
              <a:t> </a:t>
            </a:r>
            <a:r>
              <a:rPr lang="en-US" sz="1688" b="1" kern="0" dirty="0" err="1">
                <a:solidFill>
                  <a:srgbClr val="00FF00"/>
                </a:solidFill>
                <a:latin typeface="Courier"/>
                <a:ea typeface="Courier"/>
                <a:cs typeface="Courier"/>
                <a:sym typeface="Courier New"/>
              </a:rPr>
              <a:t>i</a:t>
            </a: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in</a:t>
            </a:r>
            <a:r>
              <a:rPr lang="en-US" sz="1688" b="1" kern="0" dirty="0">
                <a:solidFill>
                  <a:srgbClr val="FFFFFF"/>
                </a:solidFill>
                <a:latin typeface="Courier"/>
                <a:ea typeface="Courier"/>
                <a:cs typeface="Courier"/>
                <a:sym typeface="Courier New"/>
              </a:rPr>
              <a:t> </a:t>
            </a:r>
            <a:r>
              <a:rPr lang="en-US" sz="1688" b="1" kern="0" dirty="0">
                <a:solidFill>
                  <a:srgbClr val="FF7F00"/>
                </a:solidFill>
                <a:latin typeface="Courier"/>
                <a:ea typeface="Courier"/>
                <a:cs typeface="Courier"/>
                <a:sym typeface="Courier New"/>
              </a:rPr>
              <a:t>[5, 4, 3, 2, 1]</a:t>
            </a:r>
            <a:r>
              <a:rPr lang="en-US" sz="1688" b="1" kern="0" dirty="0">
                <a:solidFill>
                  <a:srgbClr val="00FF00"/>
                </a:solidFill>
                <a:latin typeface="Courier"/>
                <a:ea typeface="Courier"/>
                <a:cs typeface="Courier"/>
                <a:sym typeface="Courier New"/>
              </a:rPr>
              <a:t> </a:t>
            </a:r>
            <a:r>
              <a:rPr lang="en-US" sz="1688" b="1" kern="0" dirty="0">
                <a:solidFill>
                  <a:srgbClr val="FFFFFF"/>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00FF"/>
                </a:solidFill>
                <a:latin typeface="Courier"/>
                <a:ea typeface="Courier"/>
                <a:cs typeface="Courier"/>
                <a:sym typeface="Courier New"/>
              </a:rPr>
              <a:t> print(</a:t>
            </a:r>
            <a:r>
              <a:rPr lang="en-US" sz="1688" b="1" kern="0" dirty="0" err="1">
                <a:solidFill>
                  <a:srgbClr val="FF00FF"/>
                </a:solidFill>
                <a:latin typeface="Courier"/>
                <a:ea typeface="Courier"/>
                <a:cs typeface="Courier"/>
                <a:sym typeface="Courier New"/>
              </a:rPr>
              <a:t>i</a:t>
            </a:r>
            <a:r>
              <a:rPr lang="en-US" sz="1688" b="1" kern="0" dirty="0">
                <a:solidFill>
                  <a:srgbClr val="FF00FF"/>
                </a:solidFill>
                <a:latin typeface="Courier"/>
                <a:ea typeface="Courier"/>
                <a:cs typeface="Courier"/>
                <a:sym typeface="Courier New"/>
              </a:rPr>
              <a:t>)</a:t>
            </a:r>
          </a:p>
        </p:txBody>
      </p:sp>
      <p:sp>
        <p:nvSpPr>
          <p:cNvPr id="443" name="Shape 443"/>
          <p:cNvSpPr txBox="1"/>
          <p:nvPr/>
        </p:nvSpPr>
        <p:spPr>
          <a:xfrm>
            <a:off x="4662639" y="3055796"/>
            <a:ext cx="1940421" cy="349987"/>
          </a:xfrm>
          <a:prstGeom prst="rect">
            <a:avLst/>
          </a:prstGeom>
          <a:noFill/>
          <a:ln>
            <a:noFill/>
          </a:ln>
        </p:spPr>
        <p:txBody>
          <a:bodyPr lIns="0" tIns="0" rIns="0" bIns="0" anchor="ctr" anchorCtr="0">
            <a:noAutofit/>
          </a:bodyPr>
          <a:lstStyle/>
          <a:p>
            <a:pPr algn="ctr" defTabSz="514350">
              <a:buClr>
                <a:srgbClr val="00FF00"/>
              </a:buClr>
              <a:buSzPct val="25000"/>
            </a:pPr>
            <a:r>
              <a:rPr lang="en-US" sz="2025" kern="0">
                <a:solidFill>
                  <a:srgbClr val="00FF00"/>
                </a:solidFill>
                <a:latin typeface="Arial" charset="0"/>
                <a:ea typeface="Arial" charset="0"/>
                <a:cs typeface="Arial" charset="0"/>
                <a:sym typeface="Cabin"/>
              </a:rPr>
              <a:t>Iteration variable</a:t>
            </a:r>
          </a:p>
        </p:txBody>
      </p:sp>
      <p:sp>
        <p:nvSpPr>
          <p:cNvPr id="444" name="Shape 444"/>
          <p:cNvSpPr txBox="1"/>
          <p:nvPr/>
        </p:nvSpPr>
        <p:spPr>
          <a:xfrm>
            <a:off x="6741917" y="2609256"/>
            <a:ext cx="2235098" cy="584837"/>
          </a:xfrm>
          <a:prstGeom prst="rect">
            <a:avLst/>
          </a:prstGeom>
          <a:noFill/>
          <a:ln>
            <a:noFill/>
          </a:ln>
        </p:spPr>
        <p:txBody>
          <a:bodyPr lIns="0" tIns="0" rIns="0" bIns="0" anchor="ctr" anchorCtr="0">
            <a:noAutofit/>
          </a:bodyPr>
          <a:lstStyle/>
          <a:p>
            <a:pPr algn="ctr" defTabSz="514350">
              <a:buClr>
                <a:srgbClr val="FF7F00"/>
              </a:buClr>
              <a:buSzPct val="25000"/>
            </a:pPr>
            <a:r>
              <a:rPr lang="en-US" sz="2025" kern="0">
                <a:solidFill>
                  <a:srgbClr val="FF7F00"/>
                </a:solidFill>
                <a:latin typeface="Arial" charset="0"/>
                <a:ea typeface="Arial" charset="0"/>
                <a:cs typeface="Arial" charset="0"/>
                <a:sym typeface="Cabin"/>
              </a:rPr>
              <a:t>Five-element sequence</a:t>
            </a:r>
          </a:p>
        </p:txBody>
      </p:sp>
      <p:cxnSp>
        <p:nvCxnSpPr>
          <p:cNvPr id="445" name="Shape 445"/>
          <p:cNvCxnSpPr/>
          <p:nvPr/>
        </p:nvCxnSpPr>
        <p:spPr>
          <a:xfrm rot="10800000">
            <a:off x="5613204" y="3405782"/>
            <a:ext cx="19645" cy="381297"/>
          </a:xfrm>
          <a:prstGeom prst="straightConnector1">
            <a:avLst/>
          </a:prstGeom>
          <a:noFill/>
          <a:ln w="63500" cap="rnd" cmpd="sng">
            <a:solidFill>
              <a:srgbClr val="00FF00"/>
            </a:solidFill>
            <a:prstDash val="solid"/>
            <a:miter/>
            <a:headEnd type="stealth" w="med" len="med"/>
            <a:tailEnd type="none" w="med" len="med"/>
          </a:ln>
        </p:spPr>
      </p:cxnSp>
      <p:cxnSp>
        <p:nvCxnSpPr>
          <p:cNvPr id="446" name="Shape 446"/>
          <p:cNvCxnSpPr/>
          <p:nvPr/>
        </p:nvCxnSpPr>
        <p:spPr>
          <a:xfrm rot="10800000" flipH="1">
            <a:off x="7305638" y="3299184"/>
            <a:ext cx="447187" cy="606488"/>
          </a:xfrm>
          <a:prstGeom prst="straightConnector1">
            <a:avLst/>
          </a:prstGeom>
          <a:noFill/>
          <a:ln w="63500" cap="rnd" cmpd="sng">
            <a:solidFill>
              <a:srgbClr val="FF7F00"/>
            </a:solidFill>
            <a:prstDash val="solid"/>
            <a:miter/>
            <a:headEnd type="stealth" w="med" len="med"/>
            <a:tailEnd type="none" w="med" len="med"/>
          </a:ln>
        </p:spPr>
      </p:cxnSp>
    </p:spTree>
    <p:extLst>
      <p:ext uri="{BB962C8B-B14F-4D97-AF65-F5344CB8AC3E}">
        <p14:creationId xmlns:p14="http://schemas.microsoft.com/office/powerpoint/2010/main" val="21690531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cxnSp>
        <p:nvCxnSpPr>
          <p:cNvPr id="451" name="Shape 451"/>
          <p:cNvCxnSpPr/>
          <p:nvPr/>
        </p:nvCxnSpPr>
        <p:spPr>
          <a:xfrm rot="10800000">
            <a:off x="1768015" y="1527890"/>
            <a:ext cx="8100" cy="318768"/>
          </a:xfrm>
          <a:prstGeom prst="straightConnector1">
            <a:avLst/>
          </a:prstGeom>
          <a:noFill/>
          <a:ln w="76200" cap="rnd" cmpd="sng">
            <a:solidFill>
              <a:srgbClr val="00FFFF"/>
            </a:solidFill>
            <a:prstDash val="solid"/>
            <a:miter/>
            <a:headEnd type="stealth" w="med" len="med"/>
            <a:tailEnd type="none" w="med" len="med"/>
          </a:ln>
        </p:spPr>
      </p:cxnSp>
      <p:sp>
        <p:nvSpPr>
          <p:cNvPr id="452" name="Shape 452"/>
          <p:cNvSpPr/>
          <p:nvPr/>
        </p:nvSpPr>
        <p:spPr>
          <a:xfrm>
            <a:off x="971550" y="1843088"/>
            <a:ext cx="1614431" cy="714318"/>
          </a:xfrm>
          <a:prstGeom prst="diamond">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13" kern="0">
                <a:solidFill>
                  <a:srgbClr val="FF9900"/>
                </a:solidFill>
                <a:latin typeface="Arial" charset="0"/>
                <a:ea typeface="Arial" charset="0"/>
                <a:cs typeface="Arial" charset="0"/>
                <a:sym typeface="Cabin"/>
              </a:rPr>
              <a:t>Done?</a:t>
            </a:r>
          </a:p>
        </p:txBody>
      </p:sp>
      <p:cxnSp>
        <p:nvCxnSpPr>
          <p:cNvPr id="453" name="Shape 453"/>
          <p:cNvCxnSpPr/>
          <p:nvPr/>
        </p:nvCxnSpPr>
        <p:spPr>
          <a:xfrm rot="10800000">
            <a:off x="1778800" y="2557518"/>
            <a:ext cx="6244" cy="842906"/>
          </a:xfrm>
          <a:prstGeom prst="straightConnector1">
            <a:avLst/>
          </a:prstGeom>
          <a:noFill/>
          <a:ln w="76200" cap="rnd" cmpd="sng">
            <a:solidFill>
              <a:srgbClr val="00FFFF"/>
            </a:solidFill>
            <a:prstDash val="solid"/>
            <a:miter/>
            <a:headEnd type="none" w="med" len="med"/>
            <a:tailEnd type="stealth" w="med" len="med"/>
          </a:ln>
        </p:spPr>
      </p:cxnSp>
      <p:cxnSp>
        <p:nvCxnSpPr>
          <p:cNvPr id="454" name="Shape 454"/>
          <p:cNvCxnSpPr/>
          <p:nvPr/>
        </p:nvCxnSpPr>
        <p:spPr>
          <a:xfrm flipH="1" flipV="1">
            <a:off x="3638784" y="2414643"/>
            <a:ext cx="1857" cy="330413"/>
          </a:xfrm>
          <a:prstGeom prst="straightConnector1">
            <a:avLst/>
          </a:prstGeom>
          <a:noFill/>
          <a:ln w="76200" cap="rnd" cmpd="sng">
            <a:solidFill>
              <a:srgbClr val="00FFFF"/>
            </a:solidFill>
            <a:prstDash val="solid"/>
            <a:miter/>
            <a:headEnd type="stealth" w="med" len="med"/>
            <a:tailEnd type="none" w="med" len="med"/>
          </a:ln>
        </p:spPr>
      </p:cxnSp>
      <p:cxnSp>
        <p:nvCxnSpPr>
          <p:cNvPr id="456" name="Shape 456"/>
          <p:cNvCxnSpPr>
            <a:stCxn id="457" idx="2"/>
          </p:cNvCxnSpPr>
          <p:nvPr/>
        </p:nvCxnSpPr>
        <p:spPr>
          <a:xfrm flipH="1">
            <a:off x="3638784" y="3136162"/>
            <a:ext cx="4556" cy="265950"/>
          </a:xfrm>
          <a:prstGeom prst="straightConnector1">
            <a:avLst/>
          </a:prstGeom>
          <a:noFill/>
          <a:ln w="76200" cap="rnd" cmpd="sng">
            <a:solidFill>
              <a:srgbClr val="00FFFF"/>
            </a:solidFill>
            <a:prstDash val="solid"/>
            <a:miter/>
            <a:headEnd type="none" w="med" len="med"/>
            <a:tailEnd type="none" w="med" len="med"/>
          </a:ln>
        </p:spPr>
      </p:cxnSp>
      <p:cxnSp>
        <p:nvCxnSpPr>
          <p:cNvPr id="458" name="Shape 458"/>
          <p:cNvCxnSpPr/>
          <p:nvPr/>
        </p:nvCxnSpPr>
        <p:spPr>
          <a:xfrm rot="10800000" flipH="1">
            <a:off x="1783258" y="3389689"/>
            <a:ext cx="1872113" cy="2699"/>
          </a:xfrm>
          <a:prstGeom prst="straightConnector1">
            <a:avLst/>
          </a:prstGeom>
          <a:noFill/>
          <a:ln w="76200" cap="rnd" cmpd="sng">
            <a:solidFill>
              <a:srgbClr val="00FFFF"/>
            </a:solidFill>
            <a:prstDash val="solid"/>
            <a:miter/>
            <a:headEnd type="none" w="med" len="med"/>
            <a:tailEnd type="none" w="med" len="med"/>
          </a:ln>
        </p:spPr>
      </p:cxnSp>
      <p:cxnSp>
        <p:nvCxnSpPr>
          <p:cNvPr id="459" name="Shape 459"/>
          <p:cNvCxnSpPr/>
          <p:nvPr/>
        </p:nvCxnSpPr>
        <p:spPr>
          <a:xfrm flipH="1">
            <a:off x="771511" y="2205633"/>
            <a:ext cx="223256" cy="1856"/>
          </a:xfrm>
          <a:prstGeom prst="straightConnector1">
            <a:avLst/>
          </a:prstGeom>
          <a:noFill/>
          <a:ln w="76200" cap="rnd" cmpd="sng">
            <a:solidFill>
              <a:srgbClr val="00FFFF"/>
            </a:solidFill>
            <a:prstDash val="solid"/>
            <a:miter/>
            <a:headEnd type="none" w="med" len="med"/>
            <a:tailEnd type="stealth" w="med" len="med"/>
          </a:ln>
        </p:spPr>
      </p:cxnSp>
      <p:cxnSp>
        <p:nvCxnSpPr>
          <p:cNvPr id="460" name="Shape 460"/>
          <p:cNvCxnSpPr/>
          <p:nvPr/>
        </p:nvCxnSpPr>
        <p:spPr>
          <a:xfrm rot="10800000" flipH="1">
            <a:off x="1776115" y="3804117"/>
            <a:ext cx="8943" cy="362475"/>
          </a:xfrm>
          <a:prstGeom prst="straightConnector1">
            <a:avLst/>
          </a:prstGeom>
          <a:noFill/>
          <a:ln w="76200" cap="rnd" cmpd="sng">
            <a:solidFill>
              <a:srgbClr val="00FFFF"/>
            </a:solidFill>
            <a:prstDash val="solid"/>
            <a:miter/>
            <a:headEnd type="stealth" w="med" len="med"/>
            <a:tailEnd type="none" w="med" len="med"/>
          </a:ln>
        </p:spPr>
      </p:cxnSp>
      <p:cxnSp>
        <p:nvCxnSpPr>
          <p:cNvPr id="461" name="Shape 461"/>
          <p:cNvCxnSpPr/>
          <p:nvPr/>
        </p:nvCxnSpPr>
        <p:spPr>
          <a:xfrm rot="10800000">
            <a:off x="788420" y="2235945"/>
            <a:ext cx="1856" cy="1563637"/>
          </a:xfrm>
          <a:prstGeom prst="straightConnector1">
            <a:avLst/>
          </a:prstGeom>
          <a:noFill/>
          <a:ln w="76200" cap="rnd" cmpd="sng">
            <a:solidFill>
              <a:srgbClr val="00FFFF"/>
            </a:solidFill>
            <a:prstDash val="solid"/>
            <a:miter/>
            <a:headEnd type="stealth" w="med" len="med"/>
            <a:tailEnd type="none" w="med" len="med"/>
          </a:ln>
        </p:spPr>
      </p:cxnSp>
      <p:cxnSp>
        <p:nvCxnSpPr>
          <p:cNvPr id="462" name="Shape 462"/>
          <p:cNvCxnSpPr/>
          <p:nvPr/>
        </p:nvCxnSpPr>
        <p:spPr>
          <a:xfrm>
            <a:off x="788490" y="3796445"/>
            <a:ext cx="985838" cy="0"/>
          </a:xfrm>
          <a:prstGeom prst="straightConnector1">
            <a:avLst/>
          </a:prstGeom>
          <a:noFill/>
          <a:ln w="76200" cap="rnd" cmpd="sng">
            <a:solidFill>
              <a:srgbClr val="00FFFF"/>
            </a:solidFill>
            <a:prstDash val="solid"/>
            <a:miter/>
            <a:headEnd type="none" w="med" len="med"/>
            <a:tailEnd type="none" w="med" len="med"/>
          </a:ln>
        </p:spPr>
      </p:cxnSp>
      <p:sp>
        <p:nvSpPr>
          <p:cNvPr id="463" name="Shape 463"/>
          <p:cNvSpPr txBox="1"/>
          <p:nvPr/>
        </p:nvSpPr>
        <p:spPr>
          <a:xfrm>
            <a:off x="475952" y="1778794"/>
            <a:ext cx="495598"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Yes</a:t>
            </a:r>
          </a:p>
        </p:txBody>
      </p:sp>
      <p:sp>
        <p:nvSpPr>
          <p:cNvPr id="457" name="Shape 457"/>
          <p:cNvSpPr txBox="1"/>
          <p:nvPr/>
        </p:nvSpPr>
        <p:spPr>
          <a:xfrm>
            <a:off x="2821782" y="2714625"/>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a:t>
            </a:r>
            <a:r>
              <a:rPr lang="en-US" sz="1969" kern="0" dirty="0" err="1">
                <a:solidFill>
                  <a:srgbClr val="00FF00"/>
                </a:solidFill>
                <a:latin typeface="Arial" charset="0"/>
                <a:ea typeface="Arial" charset="0"/>
                <a:cs typeface="Arial" charset="0"/>
                <a:sym typeface="Cabin"/>
              </a:rPr>
              <a:t>i</a:t>
            </a:r>
            <a:r>
              <a:rPr lang="en-US" sz="1969" kern="0" dirty="0">
                <a:solidFill>
                  <a:srgbClr val="FFFFFF"/>
                </a:solidFill>
                <a:latin typeface="Arial" charset="0"/>
                <a:ea typeface="Arial" charset="0"/>
                <a:cs typeface="Arial" charset="0"/>
                <a:sym typeface="Cabin"/>
              </a:rPr>
              <a:t>)</a:t>
            </a:r>
          </a:p>
        </p:txBody>
      </p:sp>
      <p:sp>
        <p:nvSpPr>
          <p:cNvPr id="464" name="Shape 464"/>
          <p:cNvSpPr txBox="1"/>
          <p:nvPr/>
        </p:nvSpPr>
        <p:spPr>
          <a:xfrm>
            <a:off x="2365959" y="1643119"/>
            <a:ext cx="407194"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No</a:t>
            </a:r>
          </a:p>
        </p:txBody>
      </p:sp>
      <p:sp>
        <p:nvSpPr>
          <p:cNvPr id="455" name="Shape 455"/>
          <p:cNvSpPr txBox="1"/>
          <p:nvPr/>
        </p:nvSpPr>
        <p:spPr>
          <a:xfrm>
            <a:off x="2821781" y="1993107"/>
            <a:ext cx="1685981" cy="421537"/>
          </a:xfrm>
          <a:prstGeom prst="rect">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69" kern="0">
                <a:solidFill>
                  <a:srgbClr val="FF9900"/>
                </a:solidFill>
                <a:latin typeface="Arial" charset="0"/>
                <a:ea typeface="Arial" charset="0"/>
                <a:cs typeface="Arial" charset="0"/>
                <a:sym typeface="Cabin"/>
              </a:rPr>
              <a:t>Move </a:t>
            </a:r>
            <a:r>
              <a:rPr lang="en-US" sz="1969" kern="0">
                <a:solidFill>
                  <a:srgbClr val="00FF00"/>
                </a:solidFill>
                <a:latin typeface="Arial" charset="0"/>
                <a:ea typeface="Arial" charset="0"/>
                <a:cs typeface="Arial" charset="0"/>
                <a:sym typeface="Cabin"/>
              </a:rPr>
              <a:t>i</a:t>
            </a:r>
            <a:r>
              <a:rPr lang="en-US" sz="1969" kern="0">
                <a:solidFill>
                  <a:srgbClr val="FF9900"/>
                </a:solidFill>
                <a:latin typeface="Arial" charset="0"/>
                <a:ea typeface="Arial" charset="0"/>
                <a:cs typeface="Arial" charset="0"/>
                <a:sym typeface="Cabin"/>
              </a:rPr>
              <a:t> ahead</a:t>
            </a:r>
          </a:p>
        </p:txBody>
      </p:sp>
      <p:sp>
        <p:nvSpPr>
          <p:cNvPr id="465" name="Shape 465"/>
          <p:cNvSpPr txBox="1"/>
          <p:nvPr/>
        </p:nvSpPr>
        <p:spPr>
          <a:xfrm>
            <a:off x="4700588" y="1821657"/>
            <a:ext cx="4029074" cy="3207543"/>
          </a:xfrm>
          <a:prstGeom prst="rect">
            <a:avLst/>
          </a:prstGeom>
          <a:noFill/>
          <a:ln>
            <a:noFill/>
          </a:ln>
        </p:spPr>
        <p:txBody>
          <a:bodyPr lIns="21431" tIns="21431" rIns="21431" bIns="21431" anchor="ctr" anchorCtr="0">
            <a:noAutofit/>
          </a:bodyPr>
          <a:lstStyle/>
          <a:p>
            <a:pPr marL="278606" indent="-187309" defTabSz="514350">
              <a:buClr>
                <a:srgbClr val="FFFFFF"/>
              </a:buClr>
              <a:buSzPct val="100000"/>
              <a:buFont typeface="Cabin"/>
              <a:buChar char="•"/>
            </a:pPr>
            <a:r>
              <a:rPr lang="en-US" sz="2025" kern="0">
                <a:solidFill>
                  <a:srgbClr val="FFFFFF"/>
                </a:solidFill>
                <a:latin typeface="Arial" charset="0"/>
                <a:ea typeface="Arial" charset="0"/>
                <a:cs typeface="Arial" charset="0"/>
                <a:sym typeface="Cabin"/>
              </a:rPr>
              <a:t>The </a:t>
            </a:r>
            <a:r>
              <a:rPr lang="en-US" sz="2025" kern="0">
                <a:solidFill>
                  <a:srgbClr val="00FF00"/>
                </a:solidFill>
                <a:latin typeface="Arial" charset="0"/>
                <a:ea typeface="Arial" charset="0"/>
                <a:cs typeface="Arial" charset="0"/>
                <a:sym typeface="Cabin"/>
              </a:rPr>
              <a:t>iteration variable </a:t>
            </a:r>
            <a:r>
              <a:rPr lang="en-US" sz="2025" kern="0">
                <a:solidFill>
                  <a:srgbClr val="FFFFFF"/>
                </a:solidFill>
                <a:latin typeface="Arial"/>
                <a:ea typeface="Arial"/>
                <a:cs typeface="Arial"/>
                <a:sym typeface="Arial"/>
              </a:rPr>
              <a:t>“</a:t>
            </a:r>
            <a:r>
              <a:rPr lang="en-US" sz="2025" kern="0">
                <a:solidFill>
                  <a:srgbClr val="FFFFFF"/>
                </a:solidFill>
                <a:latin typeface="Arial" charset="0"/>
                <a:ea typeface="Arial" charset="0"/>
                <a:cs typeface="Arial" charset="0"/>
                <a:sym typeface="Cabin"/>
              </a:rPr>
              <a:t>iterates</a:t>
            </a:r>
            <a:r>
              <a:rPr lang="en-US" sz="2025" kern="0">
                <a:solidFill>
                  <a:srgbClr val="FFFFFF"/>
                </a:solidFill>
                <a:latin typeface="Arial"/>
                <a:ea typeface="Arial"/>
                <a:cs typeface="Arial"/>
                <a:sym typeface="Arial"/>
              </a:rPr>
              <a:t>”</a:t>
            </a:r>
            <a:r>
              <a:rPr lang="en-US" sz="2025" kern="0">
                <a:solidFill>
                  <a:srgbClr val="FFFFFF"/>
                </a:solidFill>
                <a:latin typeface="Arial" charset="0"/>
                <a:ea typeface="Arial" charset="0"/>
                <a:cs typeface="Arial" charset="0"/>
                <a:sym typeface="Cabin"/>
              </a:rPr>
              <a:t> through the </a:t>
            </a:r>
            <a:r>
              <a:rPr lang="en-US" sz="2025" kern="0">
                <a:solidFill>
                  <a:srgbClr val="FF7F00"/>
                </a:solidFill>
                <a:latin typeface="Arial" charset="0"/>
                <a:ea typeface="Arial" charset="0"/>
                <a:cs typeface="Arial" charset="0"/>
                <a:sym typeface="Cabin"/>
              </a:rPr>
              <a:t>sequence </a:t>
            </a:r>
            <a:r>
              <a:rPr lang="en-US" sz="2025" kern="0">
                <a:solidFill>
                  <a:srgbClr val="FFFFFF"/>
                </a:solidFill>
                <a:latin typeface="Arial" charset="0"/>
                <a:ea typeface="Arial" charset="0"/>
                <a:cs typeface="Arial" charset="0"/>
                <a:sym typeface="Cabin"/>
              </a:rPr>
              <a:t>(ordered set)</a:t>
            </a:r>
          </a:p>
          <a:p>
            <a:pPr marL="278606" indent="-187309" defTabSz="514350">
              <a:spcBef>
                <a:spcPts val="1969"/>
              </a:spcBef>
              <a:buClr>
                <a:srgbClr val="FFFFFF"/>
              </a:buClr>
              <a:buSzPct val="100000"/>
              <a:buFont typeface="Cabin"/>
              <a:buChar char="•"/>
            </a:pPr>
            <a:r>
              <a:rPr lang="en-US" sz="2025" kern="0">
                <a:solidFill>
                  <a:srgbClr val="FFFFFF"/>
                </a:solidFill>
                <a:latin typeface="Arial" charset="0"/>
                <a:ea typeface="Arial" charset="0"/>
                <a:cs typeface="Arial" charset="0"/>
                <a:sym typeface="Cabin"/>
              </a:rPr>
              <a:t>The </a:t>
            </a:r>
            <a:r>
              <a:rPr lang="en-US" sz="2025" kern="0">
                <a:solidFill>
                  <a:srgbClr val="FF00FF"/>
                </a:solidFill>
                <a:latin typeface="Arial" charset="0"/>
                <a:ea typeface="Arial" charset="0"/>
                <a:cs typeface="Arial" charset="0"/>
                <a:sym typeface="Cabin"/>
              </a:rPr>
              <a:t>block (body)</a:t>
            </a:r>
            <a:r>
              <a:rPr lang="en-US" sz="2025" kern="0">
                <a:solidFill>
                  <a:srgbClr val="FFFFFF"/>
                </a:solidFill>
                <a:latin typeface="Arial" charset="0"/>
                <a:ea typeface="Arial" charset="0"/>
                <a:cs typeface="Arial" charset="0"/>
                <a:sym typeface="Cabin"/>
              </a:rPr>
              <a:t> of code is executed once for each value </a:t>
            </a:r>
            <a:r>
              <a:rPr lang="en-US" sz="2025" kern="0">
                <a:solidFill>
                  <a:srgbClr val="FFFF00"/>
                </a:solidFill>
                <a:latin typeface="Arial" charset="0"/>
                <a:ea typeface="Arial" charset="0"/>
                <a:cs typeface="Arial" charset="0"/>
                <a:sym typeface="Cabin"/>
              </a:rPr>
              <a:t>in</a:t>
            </a:r>
            <a:r>
              <a:rPr lang="en-US" sz="2025" kern="0">
                <a:solidFill>
                  <a:srgbClr val="FFFFFF"/>
                </a:solidFill>
                <a:latin typeface="Arial" charset="0"/>
                <a:ea typeface="Arial" charset="0"/>
                <a:cs typeface="Arial" charset="0"/>
                <a:sym typeface="Cabin"/>
              </a:rPr>
              <a:t> the </a:t>
            </a:r>
            <a:r>
              <a:rPr lang="en-US" sz="2025" kern="0">
                <a:solidFill>
                  <a:srgbClr val="FF7F00"/>
                </a:solidFill>
                <a:latin typeface="Arial" charset="0"/>
                <a:ea typeface="Arial" charset="0"/>
                <a:cs typeface="Arial" charset="0"/>
                <a:sym typeface="Cabin"/>
              </a:rPr>
              <a:t>sequence</a:t>
            </a:r>
          </a:p>
          <a:p>
            <a:pPr marL="278606" indent="-187309" defTabSz="514350">
              <a:spcBef>
                <a:spcPts val="1969"/>
              </a:spcBef>
              <a:buClr>
                <a:srgbClr val="FFFFFF"/>
              </a:buClr>
              <a:buSzPct val="100000"/>
              <a:buFont typeface="Cabin"/>
              <a:buChar char="•"/>
            </a:pPr>
            <a:r>
              <a:rPr lang="en-US" sz="2025" kern="0">
                <a:solidFill>
                  <a:srgbClr val="FFFFFF"/>
                </a:solidFill>
                <a:latin typeface="Arial" charset="0"/>
                <a:ea typeface="Arial" charset="0"/>
                <a:cs typeface="Arial" charset="0"/>
                <a:sym typeface="Cabin"/>
              </a:rPr>
              <a:t>The </a:t>
            </a:r>
            <a:r>
              <a:rPr lang="en-US" sz="2025" kern="0">
                <a:solidFill>
                  <a:srgbClr val="00FF00"/>
                </a:solidFill>
                <a:latin typeface="Arial" charset="0"/>
                <a:ea typeface="Arial" charset="0"/>
                <a:cs typeface="Arial" charset="0"/>
                <a:sym typeface="Cabin"/>
              </a:rPr>
              <a:t>iteration variable </a:t>
            </a:r>
            <a:r>
              <a:rPr lang="en-US" sz="2025" kern="0">
                <a:solidFill>
                  <a:srgbClr val="FFFFFF"/>
                </a:solidFill>
                <a:latin typeface="Arial" charset="0"/>
                <a:ea typeface="Arial" charset="0"/>
                <a:cs typeface="Arial" charset="0"/>
                <a:sym typeface="Cabin"/>
              </a:rPr>
              <a:t>moves through all of the values </a:t>
            </a:r>
            <a:r>
              <a:rPr lang="en-US" sz="2025" kern="0">
                <a:solidFill>
                  <a:srgbClr val="FFFF00"/>
                </a:solidFill>
                <a:latin typeface="Arial" charset="0"/>
                <a:ea typeface="Arial" charset="0"/>
                <a:cs typeface="Arial" charset="0"/>
                <a:sym typeface="Cabin"/>
              </a:rPr>
              <a:t>in</a:t>
            </a:r>
            <a:r>
              <a:rPr lang="en-US" sz="2025" kern="0">
                <a:solidFill>
                  <a:srgbClr val="FFFFFF"/>
                </a:solidFill>
                <a:latin typeface="Arial" charset="0"/>
                <a:ea typeface="Arial" charset="0"/>
                <a:cs typeface="Arial" charset="0"/>
                <a:sym typeface="Cabin"/>
              </a:rPr>
              <a:t> the </a:t>
            </a:r>
            <a:r>
              <a:rPr lang="en-US" sz="2025" kern="0">
                <a:solidFill>
                  <a:srgbClr val="FF7F00"/>
                </a:solidFill>
                <a:latin typeface="Arial" charset="0"/>
                <a:ea typeface="Arial" charset="0"/>
                <a:cs typeface="Arial" charset="0"/>
                <a:sym typeface="Cabin"/>
              </a:rPr>
              <a:t>sequence</a:t>
            </a:r>
          </a:p>
        </p:txBody>
      </p:sp>
      <p:sp>
        <p:nvSpPr>
          <p:cNvPr id="466" name="Shape 466"/>
          <p:cNvSpPr txBox="1"/>
          <p:nvPr/>
        </p:nvSpPr>
        <p:spPr>
          <a:xfrm>
            <a:off x="787599" y="4628250"/>
            <a:ext cx="3677231" cy="623362"/>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for</a:t>
            </a:r>
            <a:r>
              <a:rPr lang="en-US" sz="1688" b="1" kern="0" dirty="0">
                <a:solidFill>
                  <a:srgbClr val="FFFFFF"/>
                </a:solidFill>
                <a:latin typeface="Courier"/>
                <a:ea typeface="Courier"/>
                <a:cs typeface="Courier"/>
                <a:sym typeface="Courier New"/>
              </a:rPr>
              <a:t> </a:t>
            </a:r>
            <a:r>
              <a:rPr lang="en-US" sz="1688" b="1" kern="0" dirty="0" err="1">
                <a:solidFill>
                  <a:srgbClr val="00FF00"/>
                </a:solidFill>
                <a:latin typeface="Courier"/>
                <a:ea typeface="Courier"/>
                <a:cs typeface="Courier"/>
                <a:sym typeface="Courier New"/>
              </a:rPr>
              <a:t>i</a:t>
            </a: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in</a:t>
            </a:r>
            <a:r>
              <a:rPr lang="en-US" sz="1688" b="1" kern="0" dirty="0">
                <a:solidFill>
                  <a:srgbClr val="FFFFFF"/>
                </a:solidFill>
                <a:latin typeface="Courier"/>
                <a:ea typeface="Courier"/>
                <a:cs typeface="Courier"/>
                <a:sym typeface="Courier New"/>
              </a:rPr>
              <a:t> </a:t>
            </a:r>
            <a:r>
              <a:rPr lang="en-US" sz="1688" b="1" kern="0" dirty="0">
                <a:solidFill>
                  <a:srgbClr val="FF7F00"/>
                </a:solidFill>
                <a:latin typeface="Courier"/>
                <a:ea typeface="Courier"/>
                <a:cs typeface="Courier"/>
                <a:sym typeface="Courier New"/>
              </a:rPr>
              <a:t>[5, 4, 3, 2, 1] </a:t>
            </a:r>
            <a:r>
              <a:rPr lang="en-US" sz="1688" b="1" kern="0" dirty="0">
                <a:solidFill>
                  <a:srgbClr val="FFFFFF"/>
                </a:solidFill>
                <a:latin typeface="Courier"/>
                <a:ea typeface="Courier"/>
                <a:cs typeface="Courier"/>
                <a:sym typeface="Courier New"/>
              </a:rPr>
              <a:t>:</a:t>
            </a:r>
            <a:r>
              <a:rPr lang="en-US" sz="1688" b="1" kern="0" dirty="0">
                <a:solidFill>
                  <a:srgbClr val="FF7F00"/>
                </a:solidFill>
                <a:latin typeface="Courier"/>
                <a:ea typeface="Courier"/>
                <a:cs typeface="Courier"/>
                <a:sym typeface="Courier New"/>
              </a:rPr>
              <a:t> </a:t>
            </a:r>
            <a:r>
              <a:rPr lang="en-US" sz="1688" b="1" kern="0" dirty="0">
                <a:solidFill>
                  <a:srgbClr val="00FF00"/>
                </a:solidFill>
                <a:latin typeface="Courier"/>
                <a:ea typeface="Courier"/>
                <a:cs typeface="Courier"/>
                <a:sym typeface="Courier New"/>
              </a:rPr>
              <a:t> </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err="1">
                <a:solidFill>
                  <a:srgbClr val="00FF00"/>
                </a:solidFill>
                <a:latin typeface="Courier"/>
                <a:ea typeface="Courier"/>
                <a:cs typeface="Courier"/>
                <a:sym typeface="Courier New"/>
              </a:rPr>
              <a:t>i</a:t>
            </a:r>
            <a:r>
              <a:rPr lang="en-US" sz="1688" b="1" kern="0" dirty="0">
                <a:solidFill>
                  <a:srgbClr val="FFFFFF"/>
                </a:solidFill>
                <a:latin typeface="Courier"/>
                <a:ea typeface="Courier"/>
                <a:cs typeface="Courier"/>
                <a:sym typeface="Courier New"/>
              </a:rPr>
              <a:t>)</a:t>
            </a:r>
          </a:p>
        </p:txBody>
      </p:sp>
      <p:cxnSp>
        <p:nvCxnSpPr>
          <p:cNvPr id="467" name="Shape 467"/>
          <p:cNvCxnSpPr/>
          <p:nvPr/>
        </p:nvCxnSpPr>
        <p:spPr>
          <a:xfrm>
            <a:off x="2607483" y="2205633"/>
            <a:ext cx="223256" cy="1856"/>
          </a:xfrm>
          <a:prstGeom prst="straightConnector1">
            <a:avLst/>
          </a:prstGeom>
          <a:noFill/>
          <a:ln w="76200" cap="rnd" cmpd="sng">
            <a:solidFill>
              <a:srgbClr val="00FFFF"/>
            </a:solidFill>
            <a:prstDash val="solid"/>
            <a:miter/>
            <a:headEnd type="none" w="med" len="med"/>
            <a:tailEnd type="triangle" w="med" len="med"/>
          </a:ln>
        </p:spPr>
      </p:cxnSp>
    </p:spTree>
    <p:extLst>
      <p:ext uri="{BB962C8B-B14F-4D97-AF65-F5344CB8AC3E}">
        <p14:creationId xmlns:p14="http://schemas.microsoft.com/office/powerpoint/2010/main" val="21726849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grpSp>
        <p:nvGrpSpPr>
          <p:cNvPr id="4" name="Group 3"/>
          <p:cNvGrpSpPr/>
          <p:nvPr/>
        </p:nvGrpSpPr>
        <p:grpSpPr>
          <a:xfrm>
            <a:off x="6582966" y="1315343"/>
            <a:ext cx="1678781" cy="4203204"/>
            <a:chOff x="11703050" y="381000"/>
            <a:chExt cx="2984500" cy="8278812"/>
          </a:xfrm>
        </p:grpSpPr>
        <p:cxnSp>
          <p:nvCxnSpPr>
            <p:cNvPr id="486" name="Shape 486"/>
            <p:cNvCxnSpPr/>
            <p:nvPr/>
          </p:nvCxnSpPr>
          <p:spPr>
            <a:xfrm rot="10800000" flipH="1">
              <a:off x="13185775" y="915987"/>
              <a:ext cx="12699" cy="307974"/>
            </a:xfrm>
            <a:prstGeom prst="straightConnector1">
              <a:avLst/>
            </a:prstGeom>
            <a:noFill/>
            <a:ln w="50800" cap="rnd" cmpd="sng">
              <a:solidFill>
                <a:srgbClr val="1155CC"/>
              </a:solidFill>
              <a:prstDash val="solid"/>
              <a:miter/>
              <a:headEnd type="stealth" w="med" len="med"/>
              <a:tailEnd type="none" w="med" len="med"/>
            </a:ln>
          </p:spPr>
        </p:cxnSp>
        <p:sp>
          <p:nvSpPr>
            <p:cNvPr id="487" name="Shape 487"/>
            <p:cNvSpPr txBox="1"/>
            <p:nvPr/>
          </p:nvSpPr>
          <p:spPr>
            <a:xfrm>
              <a:off x="11703050" y="1231900"/>
              <a:ext cx="2984500" cy="536575"/>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kern="0" dirty="0">
                  <a:solidFill>
                    <a:srgbClr val="FFFFFF"/>
                  </a:solidFill>
                  <a:latin typeface="Arial" charset="0"/>
                  <a:ea typeface="Arial" charset="0"/>
                  <a:cs typeface="Arial" charset="0"/>
                  <a:sym typeface="Cabin"/>
                </a:rPr>
                <a:t>print(</a:t>
              </a:r>
              <a:r>
                <a:rPr lang="en-US" kern="0" dirty="0" err="1">
                  <a:solidFill>
                    <a:srgbClr val="00FF00"/>
                  </a:solidFill>
                  <a:latin typeface="Arial" charset="0"/>
                  <a:ea typeface="Arial" charset="0"/>
                  <a:cs typeface="Arial" charset="0"/>
                  <a:sym typeface="Cabin"/>
                </a:rPr>
                <a:t>i</a:t>
              </a:r>
              <a:r>
                <a:rPr lang="en-US" kern="0" dirty="0">
                  <a:solidFill>
                    <a:srgbClr val="FFFFFF"/>
                  </a:solidFill>
                  <a:latin typeface="Arial" charset="0"/>
                  <a:ea typeface="Arial" charset="0"/>
                  <a:cs typeface="Arial" charset="0"/>
                  <a:sym typeface="Cabin"/>
                </a:rPr>
                <a:t>)</a:t>
              </a:r>
            </a:p>
          </p:txBody>
        </p:sp>
        <p:sp>
          <p:nvSpPr>
            <p:cNvPr id="488" name="Shape 488"/>
            <p:cNvSpPr txBox="1"/>
            <p:nvPr/>
          </p:nvSpPr>
          <p:spPr>
            <a:xfrm>
              <a:off x="11703050" y="381000"/>
              <a:ext cx="2984500" cy="523874"/>
            </a:xfrm>
            <a:prstGeom prst="rect">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kern="0">
                  <a:solidFill>
                    <a:srgbClr val="00FF00"/>
                  </a:solidFill>
                  <a:latin typeface="Arial" charset="0"/>
                  <a:ea typeface="Arial" charset="0"/>
                  <a:cs typeface="Arial" charset="0"/>
                  <a:sym typeface="Cabin"/>
                </a:rPr>
                <a:t>i = 5</a:t>
              </a:r>
            </a:p>
          </p:txBody>
        </p:sp>
        <p:cxnSp>
          <p:nvCxnSpPr>
            <p:cNvPr id="489" name="Shape 489"/>
            <p:cNvCxnSpPr/>
            <p:nvPr/>
          </p:nvCxnSpPr>
          <p:spPr>
            <a:xfrm rot="10800000" flipH="1">
              <a:off x="13181012" y="1825625"/>
              <a:ext cx="12699" cy="307974"/>
            </a:xfrm>
            <a:prstGeom prst="straightConnector1">
              <a:avLst/>
            </a:prstGeom>
            <a:noFill/>
            <a:ln w="50800" cap="rnd" cmpd="sng">
              <a:solidFill>
                <a:srgbClr val="1155CC"/>
              </a:solidFill>
              <a:prstDash val="solid"/>
              <a:miter/>
              <a:headEnd type="stealth" w="med" len="med"/>
              <a:tailEnd type="none" w="med" len="med"/>
            </a:ln>
          </p:spPr>
        </p:cxnSp>
        <p:cxnSp>
          <p:nvCxnSpPr>
            <p:cNvPr id="490" name="Shape 490"/>
            <p:cNvCxnSpPr/>
            <p:nvPr/>
          </p:nvCxnSpPr>
          <p:spPr>
            <a:xfrm rot="10800000" flipH="1">
              <a:off x="13181012" y="2630486"/>
              <a:ext cx="12699" cy="307974"/>
            </a:xfrm>
            <a:prstGeom prst="straightConnector1">
              <a:avLst/>
            </a:prstGeom>
            <a:noFill/>
            <a:ln w="50800" cap="rnd" cmpd="sng">
              <a:solidFill>
                <a:srgbClr val="1155CC"/>
              </a:solidFill>
              <a:prstDash val="solid"/>
              <a:miter/>
              <a:headEnd type="stealth" w="med" len="med"/>
              <a:tailEnd type="none" w="med" len="med"/>
            </a:ln>
          </p:spPr>
        </p:cxnSp>
        <p:sp>
          <p:nvSpPr>
            <p:cNvPr id="491" name="Shape 491"/>
            <p:cNvSpPr txBox="1"/>
            <p:nvPr/>
          </p:nvSpPr>
          <p:spPr>
            <a:xfrm>
              <a:off x="11703050" y="2946400"/>
              <a:ext cx="2984500" cy="536575"/>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kern="0" dirty="0">
                  <a:solidFill>
                    <a:srgbClr val="FFFFFF"/>
                  </a:solidFill>
                  <a:latin typeface="Arial" charset="0"/>
                  <a:ea typeface="Arial" charset="0"/>
                  <a:cs typeface="Arial" charset="0"/>
                  <a:sym typeface="Cabin"/>
                </a:rPr>
                <a:t>print(</a:t>
              </a:r>
              <a:r>
                <a:rPr lang="en-US" kern="0" dirty="0" err="1">
                  <a:solidFill>
                    <a:srgbClr val="00FF00"/>
                  </a:solidFill>
                  <a:latin typeface="Arial" charset="0"/>
                  <a:ea typeface="Arial" charset="0"/>
                  <a:cs typeface="Arial" charset="0"/>
                  <a:sym typeface="Cabin"/>
                </a:rPr>
                <a:t>i</a:t>
              </a:r>
              <a:r>
                <a:rPr lang="en-US" kern="0" dirty="0">
                  <a:solidFill>
                    <a:srgbClr val="FFFFFF"/>
                  </a:solidFill>
                  <a:latin typeface="Arial" charset="0"/>
                  <a:ea typeface="Arial" charset="0"/>
                  <a:cs typeface="Arial" charset="0"/>
                  <a:sym typeface="Cabin"/>
                </a:rPr>
                <a:t>)</a:t>
              </a:r>
              <a:endParaRPr lang="en-US" kern="0" dirty="0">
                <a:solidFill>
                  <a:srgbClr val="00FF00"/>
                </a:solidFill>
                <a:latin typeface="Arial" charset="0"/>
                <a:ea typeface="Arial" charset="0"/>
                <a:cs typeface="Arial" charset="0"/>
                <a:sym typeface="Cabin"/>
              </a:endParaRPr>
            </a:p>
          </p:txBody>
        </p:sp>
        <p:sp>
          <p:nvSpPr>
            <p:cNvPr id="492" name="Shape 492"/>
            <p:cNvSpPr txBox="1"/>
            <p:nvPr/>
          </p:nvSpPr>
          <p:spPr>
            <a:xfrm>
              <a:off x="11703050" y="2093911"/>
              <a:ext cx="2984500" cy="525462"/>
            </a:xfrm>
            <a:prstGeom prst="rect">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kern="0" dirty="0" err="1">
                  <a:solidFill>
                    <a:srgbClr val="00FF00"/>
                  </a:solidFill>
                  <a:latin typeface="Arial" charset="0"/>
                  <a:ea typeface="Arial" charset="0"/>
                  <a:cs typeface="Arial" charset="0"/>
                  <a:sym typeface="Cabin"/>
                </a:rPr>
                <a:t>i</a:t>
              </a:r>
              <a:r>
                <a:rPr lang="en-US" kern="0" dirty="0">
                  <a:solidFill>
                    <a:srgbClr val="00FF00"/>
                  </a:solidFill>
                  <a:latin typeface="Arial" charset="0"/>
                  <a:ea typeface="Arial" charset="0"/>
                  <a:cs typeface="Arial" charset="0"/>
                  <a:sym typeface="Cabin"/>
                </a:rPr>
                <a:t> = 4</a:t>
              </a:r>
            </a:p>
          </p:txBody>
        </p:sp>
        <p:cxnSp>
          <p:nvCxnSpPr>
            <p:cNvPr id="493" name="Shape 493"/>
            <p:cNvCxnSpPr/>
            <p:nvPr/>
          </p:nvCxnSpPr>
          <p:spPr>
            <a:xfrm rot="10800000" flipH="1">
              <a:off x="13181012" y="3459162"/>
              <a:ext cx="12699" cy="307974"/>
            </a:xfrm>
            <a:prstGeom prst="straightConnector1">
              <a:avLst/>
            </a:prstGeom>
            <a:noFill/>
            <a:ln w="50800" cap="rnd" cmpd="sng">
              <a:solidFill>
                <a:srgbClr val="1155CC"/>
              </a:solidFill>
              <a:prstDash val="solid"/>
              <a:miter/>
              <a:headEnd type="stealth" w="med" len="med"/>
              <a:tailEnd type="none" w="med" len="med"/>
            </a:ln>
          </p:spPr>
        </p:cxnSp>
        <p:cxnSp>
          <p:nvCxnSpPr>
            <p:cNvPr id="494" name="Shape 494"/>
            <p:cNvCxnSpPr/>
            <p:nvPr/>
          </p:nvCxnSpPr>
          <p:spPr>
            <a:xfrm rot="10800000" flipH="1">
              <a:off x="13181012" y="4310062"/>
              <a:ext cx="12699" cy="307974"/>
            </a:xfrm>
            <a:prstGeom prst="straightConnector1">
              <a:avLst/>
            </a:prstGeom>
            <a:noFill/>
            <a:ln w="50800" cap="rnd" cmpd="sng">
              <a:solidFill>
                <a:srgbClr val="1155CC"/>
              </a:solidFill>
              <a:prstDash val="solid"/>
              <a:miter/>
              <a:headEnd type="stealth" w="med" len="med"/>
              <a:tailEnd type="none" w="med" len="med"/>
            </a:ln>
          </p:spPr>
        </p:cxnSp>
        <p:sp>
          <p:nvSpPr>
            <p:cNvPr id="495" name="Shape 495"/>
            <p:cNvSpPr txBox="1"/>
            <p:nvPr/>
          </p:nvSpPr>
          <p:spPr>
            <a:xfrm>
              <a:off x="11703050" y="4625975"/>
              <a:ext cx="2984500" cy="536575"/>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kern="0" dirty="0">
                  <a:solidFill>
                    <a:srgbClr val="FFFFFF"/>
                  </a:solidFill>
                  <a:latin typeface="Arial" charset="0"/>
                  <a:ea typeface="Arial" charset="0"/>
                  <a:cs typeface="Arial" charset="0"/>
                  <a:sym typeface="Cabin"/>
                </a:rPr>
                <a:t>print(</a:t>
              </a:r>
              <a:r>
                <a:rPr lang="en-US" kern="0" dirty="0" err="1">
                  <a:solidFill>
                    <a:srgbClr val="00FF00"/>
                  </a:solidFill>
                  <a:latin typeface="Arial" charset="0"/>
                  <a:ea typeface="Arial" charset="0"/>
                  <a:cs typeface="Arial" charset="0"/>
                  <a:sym typeface="Cabin"/>
                </a:rPr>
                <a:t>i</a:t>
              </a:r>
              <a:r>
                <a:rPr lang="en-US" kern="0" dirty="0">
                  <a:solidFill>
                    <a:srgbClr val="FFFFFF"/>
                  </a:solidFill>
                  <a:latin typeface="Arial" charset="0"/>
                  <a:ea typeface="Arial" charset="0"/>
                  <a:cs typeface="Arial" charset="0"/>
                  <a:sym typeface="Cabin"/>
                </a:rPr>
                <a:t>)</a:t>
              </a:r>
            </a:p>
          </p:txBody>
        </p:sp>
        <p:sp>
          <p:nvSpPr>
            <p:cNvPr id="496" name="Shape 496"/>
            <p:cNvSpPr txBox="1"/>
            <p:nvPr/>
          </p:nvSpPr>
          <p:spPr>
            <a:xfrm>
              <a:off x="11703050" y="3773487"/>
              <a:ext cx="2984500" cy="525462"/>
            </a:xfrm>
            <a:prstGeom prst="rect">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kern="0">
                  <a:solidFill>
                    <a:srgbClr val="00FF00"/>
                  </a:solidFill>
                  <a:latin typeface="Arial" charset="0"/>
                  <a:ea typeface="Arial" charset="0"/>
                  <a:cs typeface="Arial" charset="0"/>
                  <a:sym typeface="Cabin"/>
                </a:rPr>
                <a:t>i = 3</a:t>
              </a:r>
            </a:p>
          </p:txBody>
        </p:sp>
        <p:cxnSp>
          <p:nvCxnSpPr>
            <p:cNvPr id="497" name="Shape 497"/>
            <p:cNvCxnSpPr/>
            <p:nvPr/>
          </p:nvCxnSpPr>
          <p:spPr>
            <a:xfrm rot="10800000" flipH="1">
              <a:off x="13181012" y="5208587"/>
              <a:ext cx="12699" cy="307974"/>
            </a:xfrm>
            <a:prstGeom prst="straightConnector1">
              <a:avLst/>
            </a:prstGeom>
            <a:noFill/>
            <a:ln w="50800" cap="rnd" cmpd="sng">
              <a:solidFill>
                <a:srgbClr val="1155CC"/>
              </a:solidFill>
              <a:prstDash val="solid"/>
              <a:miter/>
              <a:headEnd type="stealth" w="med" len="med"/>
              <a:tailEnd type="none" w="med" len="med"/>
            </a:ln>
          </p:spPr>
        </p:cxnSp>
        <p:cxnSp>
          <p:nvCxnSpPr>
            <p:cNvPr id="498" name="Shape 498"/>
            <p:cNvCxnSpPr/>
            <p:nvPr/>
          </p:nvCxnSpPr>
          <p:spPr>
            <a:xfrm rot="10800000" flipH="1">
              <a:off x="13181012" y="6107111"/>
              <a:ext cx="12699" cy="306386"/>
            </a:xfrm>
            <a:prstGeom prst="straightConnector1">
              <a:avLst/>
            </a:prstGeom>
            <a:noFill/>
            <a:ln w="50800" cap="rnd" cmpd="sng">
              <a:solidFill>
                <a:srgbClr val="1155CC"/>
              </a:solidFill>
              <a:prstDash val="solid"/>
              <a:miter/>
              <a:headEnd type="stealth" w="med" len="med"/>
              <a:tailEnd type="none" w="med" len="med"/>
            </a:ln>
          </p:spPr>
        </p:cxnSp>
        <p:sp>
          <p:nvSpPr>
            <p:cNvPr id="499" name="Shape 499"/>
            <p:cNvSpPr txBox="1"/>
            <p:nvPr/>
          </p:nvSpPr>
          <p:spPr>
            <a:xfrm>
              <a:off x="11703050" y="6421437"/>
              <a:ext cx="2984500" cy="536575"/>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kern="0" dirty="0">
                  <a:solidFill>
                    <a:srgbClr val="FFFFFF"/>
                  </a:solidFill>
                  <a:latin typeface="Arial" charset="0"/>
                  <a:ea typeface="Arial" charset="0"/>
                  <a:cs typeface="Arial" charset="0"/>
                  <a:sym typeface="Cabin"/>
                </a:rPr>
                <a:t>print(</a:t>
              </a:r>
              <a:r>
                <a:rPr lang="en-US" kern="0" dirty="0" err="1">
                  <a:solidFill>
                    <a:srgbClr val="00FF00"/>
                  </a:solidFill>
                  <a:latin typeface="Arial" charset="0"/>
                  <a:ea typeface="Arial" charset="0"/>
                  <a:cs typeface="Arial" charset="0"/>
                  <a:sym typeface="Cabin"/>
                </a:rPr>
                <a:t>i</a:t>
              </a:r>
              <a:r>
                <a:rPr lang="en-US" kern="0" dirty="0">
                  <a:solidFill>
                    <a:srgbClr val="FFFFFF"/>
                  </a:solidFill>
                  <a:latin typeface="Arial" charset="0"/>
                  <a:ea typeface="Arial" charset="0"/>
                  <a:cs typeface="Arial" charset="0"/>
                  <a:sym typeface="Cabin"/>
                </a:rPr>
                <a:t>)</a:t>
              </a:r>
            </a:p>
          </p:txBody>
        </p:sp>
        <p:sp>
          <p:nvSpPr>
            <p:cNvPr id="500" name="Shape 500"/>
            <p:cNvSpPr txBox="1"/>
            <p:nvPr/>
          </p:nvSpPr>
          <p:spPr>
            <a:xfrm>
              <a:off x="11703050" y="5570537"/>
              <a:ext cx="2984500" cy="523874"/>
            </a:xfrm>
            <a:prstGeom prst="rect">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kern="0">
                  <a:solidFill>
                    <a:srgbClr val="00FF00"/>
                  </a:solidFill>
                  <a:latin typeface="Arial" charset="0"/>
                  <a:ea typeface="Arial" charset="0"/>
                  <a:cs typeface="Arial" charset="0"/>
                  <a:sym typeface="Cabin"/>
                </a:rPr>
                <a:t>i = 2</a:t>
              </a:r>
            </a:p>
          </p:txBody>
        </p:sp>
        <p:cxnSp>
          <p:nvCxnSpPr>
            <p:cNvPr id="501" name="Shape 501"/>
            <p:cNvCxnSpPr/>
            <p:nvPr/>
          </p:nvCxnSpPr>
          <p:spPr>
            <a:xfrm rot="10800000" flipH="1">
              <a:off x="13181012" y="6934200"/>
              <a:ext cx="12699" cy="307974"/>
            </a:xfrm>
            <a:prstGeom prst="straightConnector1">
              <a:avLst/>
            </a:prstGeom>
            <a:noFill/>
            <a:ln w="50800" cap="rnd" cmpd="sng">
              <a:solidFill>
                <a:srgbClr val="1155CC"/>
              </a:solidFill>
              <a:prstDash val="solid"/>
              <a:miter/>
              <a:headEnd type="stealth" w="med" len="med"/>
              <a:tailEnd type="none" w="med" len="med"/>
            </a:ln>
          </p:spPr>
        </p:cxnSp>
        <p:cxnSp>
          <p:nvCxnSpPr>
            <p:cNvPr id="502" name="Shape 502"/>
            <p:cNvCxnSpPr/>
            <p:nvPr/>
          </p:nvCxnSpPr>
          <p:spPr>
            <a:xfrm rot="10800000" flipH="1">
              <a:off x="13181012" y="7808911"/>
              <a:ext cx="12699" cy="307974"/>
            </a:xfrm>
            <a:prstGeom prst="straightConnector1">
              <a:avLst/>
            </a:prstGeom>
            <a:noFill/>
            <a:ln w="50800" cap="rnd" cmpd="sng">
              <a:solidFill>
                <a:srgbClr val="1155CC"/>
              </a:solidFill>
              <a:prstDash val="solid"/>
              <a:miter/>
              <a:headEnd type="stealth" w="med" len="med"/>
              <a:tailEnd type="none" w="med" len="med"/>
            </a:ln>
          </p:spPr>
        </p:cxnSp>
        <p:sp>
          <p:nvSpPr>
            <p:cNvPr id="503" name="Shape 503"/>
            <p:cNvSpPr txBox="1"/>
            <p:nvPr/>
          </p:nvSpPr>
          <p:spPr>
            <a:xfrm>
              <a:off x="11703050" y="8124825"/>
              <a:ext cx="2984500" cy="53498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kern="0" dirty="0">
                  <a:solidFill>
                    <a:srgbClr val="FFFFFF"/>
                  </a:solidFill>
                  <a:latin typeface="Arial" charset="0"/>
                  <a:ea typeface="Arial" charset="0"/>
                  <a:cs typeface="Arial" charset="0"/>
                  <a:sym typeface="Cabin"/>
                </a:rPr>
                <a:t>print(</a:t>
              </a:r>
              <a:r>
                <a:rPr lang="en-US" kern="0" dirty="0" err="1">
                  <a:solidFill>
                    <a:srgbClr val="00FF00"/>
                  </a:solidFill>
                  <a:latin typeface="Arial" charset="0"/>
                  <a:ea typeface="Arial" charset="0"/>
                  <a:cs typeface="Arial" charset="0"/>
                  <a:sym typeface="Cabin"/>
                </a:rPr>
                <a:t>i</a:t>
              </a:r>
              <a:r>
                <a:rPr lang="en-US" kern="0" dirty="0">
                  <a:solidFill>
                    <a:srgbClr val="00FF00"/>
                  </a:solidFill>
                  <a:latin typeface="Arial" charset="0"/>
                  <a:ea typeface="Arial" charset="0"/>
                  <a:cs typeface="Arial" charset="0"/>
                  <a:sym typeface="Cabin"/>
                </a:rPr>
                <a:t>)</a:t>
              </a:r>
            </a:p>
          </p:txBody>
        </p:sp>
        <p:sp>
          <p:nvSpPr>
            <p:cNvPr id="504" name="Shape 504"/>
            <p:cNvSpPr txBox="1"/>
            <p:nvPr/>
          </p:nvSpPr>
          <p:spPr>
            <a:xfrm>
              <a:off x="11703050" y="7272336"/>
              <a:ext cx="2984500" cy="525462"/>
            </a:xfrm>
            <a:prstGeom prst="rect">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kern="0" dirty="0" err="1">
                  <a:solidFill>
                    <a:srgbClr val="00FF00"/>
                  </a:solidFill>
                  <a:latin typeface="Arial" charset="0"/>
                  <a:ea typeface="Arial" charset="0"/>
                  <a:cs typeface="Arial" charset="0"/>
                  <a:sym typeface="Cabin"/>
                </a:rPr>
                <a:t>i</a:t>
              </a:r>
              <a:r>
                <a:rPr lang="en-US" kern="0" dirty="0">
                  <a:solidFill>
                    <a:srgbClr val="00FF00"/>
                  </a:solidFill>
                  <a:latin typeface="Arial" charset="0"/>
                  <a:ea typeface="Arial" charset="0"/>
                  <a:cs typeface="Arial" charset="0"/>
                  <a:sym typeface="Cabin"/>
                </a:rPr>
                <a:t> = 1</a:t>
              </a:r>
            </a:p>
          </p:txBody>
        </p:sp>
      </p:grpSp>
      <p:sp>
        <p:nvSpPr>
          <p:cNvPr id="505" name="Shape 505"/>
          <p:cNvSpPr txBox="1"/>
          <p:nvPr/>
        </p:nvSpPr>
        <p:spPr>
          <a:xfrm>
            <a:off x="2520773" y="4375547"/>
            <a:ext cx="3525863" cy="642938"/>
          </a:xfrm>
          <a:prstGeom prst="rect">
            <a:avLst/>
          </a:prstGeom>
          <a:noFill/>
          <a:ln>
            <a:noFill/>
          </a:ln>
        </p:spPr>
        <p:txBody>
          <a:bodyPr lIns="0" tIns="0" rIns="0" bIns="0" anchor="ctr" anchorCtr="0">
            <a:noAutofit/>
          </a:bodyPr>
          <a:lstStyle/>
          <a:p>
            <a:pPr defTabSz="514350">
              <a:buClr>
                <a:srgbClr val="FFFF00"/>
              </a:buClr>
              <a:buSzPct val="25000"/>
            </a:pPr>
            <a:r>
              <a:rPr lang="en-US" sz="1688" b="1" kern="0" dirty="0">
                <a:solidFill>
                  <a:srgbClr val="FFFF00"/>
                </a:solidFill>
                <a:latin typeface="Courier"/>
                <a:ea typeface="Courier"/>
                <a:cs typeface="Courier"/>
                <a:sym typeface="Courier New"/>
              </a:rPr>
              <a:t>for</a:t>
            </a:r>
            <a:r>
              <a:rPr lang="en-US" sz="1688" b="1" kern="0" dirty="0">
                <a:solidFill>
                  <a:srgbClr val="FFFFFF"/>
                </a:solidFill>
                <a:latin typeface="Courier"/>
                <a:ea typeface="Courier"/>
                <a:cs typeface="Courier"/>
                <a:sym typeface="Courier New"/>
              </a:rPr>
              <a:t> </a:t>
            </a:r>
            <a:r>
              <a:rPr lang="en-US" sz="1688" b="1" kern="0" dirty="0" err="1">
                <a:solidFill>
                  <a:srgbClr val="00FF00"/>
                </a:solidFill>
                <a:latin typeface="Courier"/>
                <a:ea typeface="Courier"/>
                <a:cs typeface="Courier"/>
                <a:sym typeface="Courier New"/>
              </a:rPr>
              <a:t>i</a:t>
            </a: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in</a:t>
            </a:r>
            <a:r>
              <a:rPr lang="en-US" sz="1688" b="1" kern="0" dirty="0">
                <a:solidFill>
                  <a:srgbClr val="FFFFFF"/>
                </a:solidFill>
                <a:latin typeface="Courier"/>
                <a:ea typeface="Courier"/>
                <a:cs typeface="Courier"/>
                <a:sym typeface="Courier New"/>
              </a:rPr>
              <a:t> </a:t>
            </a:r>
            <a:r>
              <a:rPr lang="en-US" sz="1688" b="1" kern="0" dirty="0">
                <a:solidFill>
                  <a:srgbClr val="FF7F00"/>
                </a:solidFill>
                <a:latin typeface="Courier"/>
                <a:ea typeface="Courier"/>
                <a:cs typeface="Courier"/>
                <a:sym typeface="Courier New"/>
              </a:rPr>
              <a:t>[5, 4, 3, 2, 1]</a:t>
            </a:r>
            <a:r>
              <a:rPr lang="en-US" sz="1688" b="1" kern="0" dirty="0">
                <a:solidFill>
                  <a:srgbClr val="00FF00"/>
                </a:solidFill>
                <a:latin typeface="Courier"/>
                <a:ea typeface="Courier"/>
                <a:cs typeface="Courier"/>
                <a:sym typeface="Courier New"/>
              </a:rPr>
              <a:t> </a:t>
            </a:r>
            <a:r>
              <a:rPr lang="en-US" sz="1688" b="1" kern="0" dirty="0">
                <a:solidFill>
                  <a:srgbClr val="FFFFFF"/>
                </a:solidFill>
                <a:latin typeface="Courier"/>
                <a:ea typeface="Courier"/>
                <a:cs typeface="Courier"/>
                <a:sym typeface="Courier New"/>
              </a:rPr>
              <a:t>:</a:t>
            </a:r>
          </a:p>
          <a:p>
            <a:pPr defTabSz="514350">
              <a:buClr>
                <a:srgbClr val="FFFFFF"/>
              </a:buClr>
              <a:buSzPct val="25000"/>
            </a:pPr>
            <a:r>
              <a:rPr lang="en-US" sz="1688" b="1" kern="0" dirty="0">
                <a:solidFill>
                  <a:srgbClr val="FFFFFF"/>
                </a:solidFill>
                <a:latin typeface="Courier"/>
                <a:ea typeface="Courier"/>
                <a:cs typeface="Courier"/>
                <a:sym typeface="Courier New"/>
              </a:rPr>
              <a:t>    </a:t>
            </a:r>
            <a:r>
              <a:rPr lang="en-US" sz="1688" b="1" kern="0" dirty="0">
                <a:solidFill>
                  <a:srgbClr val="FFFF00"/>
                </a:solidFill>
                <a:latin typeface="Courier"/>
                <a:ea typeface="Courier"/>
                <a:cs typeface="Courier"/>
                <a:sym typeface="Courier New"/>
              </a:rPr>
              <a:t>print</a:t>
            </a:r>
            <a:r>
              <a:rPr lang="en-US" sz="1688" b="1" kern="0" dirty="0">
                <a:solidFill>
                  <a:srgbClr val="FFFFFF"/>
                </a:solidFill>
                <a:latin typeface="Courier"/>
                <a:ea typeface="Courier"/>
                <a:cs typeface="Courier"/>
                <a:sym typeface="Courier New"/>
              </a:rPr>
              <a:t>(</a:t>
            </a:r>
            <a:r>
              <a:rPr lang="en-US" sz="1688" b="1" kern="0" dirty="0" err="1">
                <a:solidFill>
                  <a:srgbClr val="00FF00"/>
                </a:solidFill>
                <a:latin typeface="Courier"/>
                <a:ea typeface="Courier"/>
                <a:cs typeface="Courier"/>
                <a:sym typeface="Courier New"/>
              </a:rPr>
              <a:t>i</a:t>
            </a:r>
            <a:r>
              <a:rPr lang="en-US" sz="1688" b="1" kern="0" dirty="0">
                <a:solidFill>
                  <a:srgbClr val="FFFFFF"/>
                </a:solidFill>
                <a:latin typeface="Courier"/>
                <a:ea typeface="Courier"/>
                <a:cs typeface="Courier"/>
                <a:sym typeface="Courier New"/>
              </a:rPr>
              <a:t>)</a:t>
            </a:r>
          </a:p>
        </p:txBody>
      </p:sp>
      <p:cxnSp>
        <p:nvCxnSpPr>
          <p:cNvPr id="38" name="Shape 451"/>
          <p:cNvCxnSpPr/>
          <p:nvPr/>
        </p:nvCxnSpPr>
        <p:spPr>
          <a:xfrm rot="10800000">
            <a:off x="1768015" y="1527890"/>
            <a:ext cx="8100" cy="318768"/>
          </a:xfrm>
          <a:prstGeom prst="straightConnector1">
            <a:avLst/>
          </a:prstGeom>
          <a:noFill/>
          <a:ln w="76200" cap="rnd" cmpd="sng">
            <a:solidFill>
              <a:srgbClr val="00FFFF"/>
            </a:solidFill>
            <a:prstDash val="solid"/>
            <a:miter/>
            <a:headEnd type="stealth" w="med" len="med"/>
            <a:tailEnd type="none" w="med" len="med"/>
          </a:ln>
        </p:spPr>
      </p:cxnSp>
      <p:sp>
        <p:nvSpPr>
          <p:cNvPr id="39" name="Shape 452"/>
          <p:cNvSpPr/>
          <p:nvPr/>
        </p:nvSpPr>
        <p:spPr>
          <a:xfrm>
            <a:off x="971550" y="1843088"/>
            <a:ext cx="1614431" cy="714318"/>
          </a:xfrm>
          <a:prstGeom prst="diamond">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13" kern="0">
                <a:solidFill>
                  <a:srgbClr val="FF9900"/>
                </a:solidFill>
                <a:latin typeface="Arial" charset="0"/>
                <a:ea typeface="Arial" charset="0"/>
                <a:cs typeface="Arial" charset="0"/>
                <a:sym typeface="Cabin"/>
              </a:rPr>
              <a:t>Done?</a:t>
            </a:r>
          </a:p>
        </p:txBody>
      </p:sp>
      <p:cxnSp>
        <p:nvCxnSpPr>
          <p:cNvPr id="40" name="Shape 453"/>
          <p:cNvCxnSpPr/>
          <p:nvPr/>
        </p:nvCxnSpPr>
        <p:spPr>
          <a:xfrm rot="10800000">
            <a:off x="1778800" y="2557518"/>
            <a:ext cx="6244" cy="842906"/>
          </a:xfrm>
          <a:prstGeom prst="straightConnector1">
            <a:avLst/>
          </a:prstGeom>
          <a:noFill/>
          <a:ln w="76200" cap="rnd" cmpd="sng">
            <a:solidFill>
              <a:srgbClr val="00FFFF"/>
            </a:solidFill>
            <a:prstDash val="solid"/>
            <a:miter/>
            <a:headEnd type="none" w="med" len="med"/>
            <a:tailEnd type="stealth" w="med" len="med"/>
          </a:ln>
        </p:spPr>
      </p:cxnSp>
      <p:cxnSp>
        <p:nvCxnSpPr>
          <p:cNvPr id="41" name="Shape 454"/>
          <p:cNvCxnSpPr/>
          <p:nvPr/>
        </p:nvCxnSpPr>
        <p:spPr>
          <a:xfrm flipH="1" flipV="1">
            <a:off x="3638784" y="2414643"/>
            <a:ext cx="1857" cy="330413"/>
          </a:xfrm>
          <a:prstGeom prst="straightConnector1">
            <a:avLst/>
          </a:prstGeom>
          <a:noFill/>
          <a:ln w="76200" cap="rnd" cmpd="sng">
            <a:solidFill>
              <a:srgbClr val="00FFFF"/>
            </a:solidFill>
            <a:prstDash val="solid"/>
            <a:miter/>
            <a:headEnd type="stealth" w="med" len="med"/>
            <a:tailEnd type="none" w="med" len="med"/>
          </a:ln>
        </p:spPr>
      </p:cxnSp>
      <p:cxnSp>
        <p:nvCxnSpPr>
          <p:cNvPr id="42" name="Shape 456"/>
          <p:cNvCxnSpPr>
            <a:stCxn id="49" idx="2"/>
          </p:cNvCxnSpPr>
          <p:nvPr/>
        </p:nvCxnSpPr>
        <p:spPr>
          <a:xfrm flipH="1">
            <a:off x="3638784" y="3136162"/>
            <a:ext cx="4556" cy="265950"/>
          </a:xfrm>
          <a:prstGeom prst="straightConnector1">
            <a:avLst/>
          </a:prstGeom>
          <a:noFill/>
          <a:ln w="76200" cap="rnd" cmpd="sng">
            <a:solidFill>
              <a:srgbClr val="00FFFF"/>
            </a:solidFill>
            <a:prstDash val="solid"/>
            <a:miter/>
            <a:headEnd type="none" w="med" len="med"/>
            <a:tailEnd type="none" w="med" len="med"/>
          </a:ln>
        </p:spPr>
      </p:cxnSp>
      <p:cxnSp>
        <p:nvCxnSpPr>
          <p:cNvPr id="43" name="Shape 458"/>
          <p:cNvCxnSpPr/>
          <p:nvPr/>
        </p:nvCxnSpPr>
        <p:spPr>
          <a:xfrm rot="10800000" flipH="1">
            <a:off x="1783258" y="3389689"/>
            <a:ext cx="1872113" cy="2699"/>
          </a:xfrm>
          <a:prstGeom prst="straightConnector1">
            <a:avLst/>
          </a:prstGeom>
          <a:noFill/>
          <a:ln w="76200" cap="rnd" cmpd="sng">
            <a:solidFill>
              <a:srgbClr val="00FFFF"/>
            </a:solidFill>
            <a:prstDash val="solid"/>
            <a:miter/>
            <a:headEnd type="none" w="med" len="med"/>
            <a:tailEnd type="none" w="med" len="med"/>
          </a:ln>
        </p:spPr>
      </p:cxnSp>
      <p:cxnSp>
        <p:nvCxnSpPr>
          <p:cNvPr id="44" name="Shape 459"/>
          <p:cNvCxnSpPr/>
          <p:nvPr/>
        </p:nvCxnSpPr>
        <p:spPr>
          <a:xfrm flipH="1">
            <a:off x="771511" y="2205633"/>
            <a:ext cx="223256" cy="1856"/>
          </a:xfrm>
          <a:prstGeom prst="straightConnector1">
            <a:avLst/>
          </a:prstGeom>
          <a:noFill/>
          <a:ln w="76200" cap="rnd" cmpd="sng">
            <a:solidFill>
              <a:srgbClr val="00FFFF"/>
            </a:solidFill>
            <a:prstDash val="solid"/>
            <a:miter/>
            <a:headEnd type="none" w="med" len="med"/>
            <a:tailEnd type="stealth" w="med" len="med"/>
          </a:ln>
        </p:spPr>
      </p:cxnSp>
      <p:cxnSp>
        <p:nvCxnSpPr>
          <p:cNvPr id="45" name="Shape 460"/>
          <p:cNvCxnSpPr/>
          <p:nvPr/>
        </p:nvCxnSpPr>
        <p:spPr>
          <a:xfrm rot="10800000" flipH="1">
            <a:off x="1776115" y="3804117"/>
            <a:ext cx="8943" cy="362475"/>
          </a:xfrm>
          <a:prstGeom prst="straightConnector1">
            <a:avLst/>
          </a:prstGeom>
          <a:noFill/>
          <a:ln w="76200" cap="rnd" cmpd="sng">
            <a:solidFill>
              <a:srgbClr val="00FFFF"/>
            </a:solidFill>
            <a:prstDash val="solid"/>
            <a:miter/>
            <a:headEnd type="stealth" w="med" len="med"/>
            <a:tailEnd type="none" w="med" len="med"/>
          </a:ln>
        </p:spPr>
      </p:cxnSp>
      <p:cxnSp>
        <p:nvCxnSpPr>
          <p:cNvPr id="46" name="Shape 461"/>
          <p:cNvCxnSpPr/>
          <p:nvPr/>
        </p:nvCxnSpPr>
        <p:spPr>
          <a:xfrm rot="10800000">
            <a:off x="788420" y="2235945"/>
            <a:ext cx="1856" cy="1563637"/>
          </a:xfrm>
          <a:prstGeom prst="straightConnector1">
            <a:avLst/>
          </a:prstGeom>
          <a:noFill/>
          <a:ln w="76200" cap="rnd" cmpd="sng">
            <a:solidFill>
              <a:srgbClr val="00FFFF"/>
            </a:solidFill>
            <a:prstDash val="solid"/>
            <a:miter/>
            <a:headEnd type="stealth" w="med" len="med"/>
            <a:tailEnd type="none" w="med" len="med"/>
          </a:ln>
        </p:spPr>
      </p:cxnSp>
      <p:cxnSp>
        <p:nvCxnSpPr>
          <p:cNvPr id="47" name="Shape 462"/>
          <p:cNvCxnSpPr/>
          <p:nvPr/>
        </p:nvCxnSpPr>
        <p:spPr>
          <a:xfrm>
            <a:off x="788490" y="3796445"/>
            <a:ext cx="985838" cy="0"/>
          </a:xfrm>
          <a:prstGeom prst="straightConnector1">
            <a:avLst/>
          </a:prstGeom>
          <a:noFill/>
          <a:ln w="76200" cap="rnd" cmpd="sng">
            <a:solidFill>
              <a:srgbClr val="00FFFF"/>
            </a:solidFill>
            <a:prstDash val="solid"/>
            <a:miter/>
            <a:headEnd type="none" w="med" len="med"/>
            <a:tailEnd type="none" w="med" len="med"/>
          </a:ln>
        </p:spPr>
      </p:cxnSp>
      <p:sp>
        <p:nvSpPr>
          <p:cNvPr id="48" name="Shape 463"/>
          <p:cNvSpPr txBox="1"/>
          <p:nvPr/>
        </p:nvSpPr>
        <p:spPr>
          <a:xfrm>
            <a:off x="475952" y="1778794"/>
            <a:ext cx="495598"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Yes</a:t>
            </a:r>
          </a:p>
        </p:txBody>
      </p:sp>
      <p:sp>
        <p:nvSpPr>
          <p:cNvPr id="49" name="Shape 457"/>
          <p:cNvSpPr txBox="1"/>
          <p:nvPr/>
        </p:nvSpPr>
        <p:spPr>
          <a:xfrm>
            <a:off x="2821782" y="2714625"/>
            <a:ext cx="1643118" cy="421537"/>
          </a:xfrm>
          <a:prstGeom prst="rect">
            <a:avLst/>
          </a:prstGeom>
          <a:noFill/>
          <a:ln w="76200" cap="flat" cmpd="sng">
            <a:solidFill>
              <a:srgbClr val="00FFFF"/>
            </a:solidFill>
            <a:prstDash val="solid"/>
            <a:round/>
            <a:headEnd type="none" w="med" len="med"/>
            <a:tailEnd type="none" w="med" len="med"/>
          </a:ln>
        </p:spPr>
        <p:txBody>
          <a:bodyPr lIns="0" tIns="0" rIns="0" bIns="0" anchor="ctr" anchorCtr="0">
            <a:noAutofit/>
          </a:bodyPr>
          <a:lstStyle/>
          <a:p>
            <a:pPr algn="ctr" defTabSz="514350">
              <a:buClr>
                <a:srgbClr val="FFFFFF"/>
              </a:buClr>
              <a:buSzPct val="25000"/>
            </a:pPr>
            <a:r>
              <a:rPr lang="en-US" sz="1969" kern="0" dirty="0">
                <a:solidFill>
                  <a:srgbClr val="FFFFFF"/>
                </a:solidFill>
                <a:latin typeface="Arial" charset="0"/>
                <a:ea typeface="Arial" charset="0"/>
                <a:cs typeface="Arial" charset="0"/>
                <a:sym typeface="Cabin"/>
              </a:rPr>
              <a:t>print(</a:t>
            </a:r>
            <a:r>
              <a:rPr lang="en-US" sz="1969" kern="0" dirty="0" err="1">
                <a:solidFill>
                  <a:srgbClr val="00FF00"/>
                </a:solidFill>
                <a:latin typeface="Arial" charset="0"/>
                <a:ea typeface="Arial" charset="0"/>
                <a:cs typeface="Arial" charset="0"/>
                <a:sym typeface="Cabin"/>
              </a:rPr>
              <a:t>i</a:t>
            </a:r>
            <a:r>
              <a:rPr lang="en-US" sz="1969" kern="0" dirty="0">
                <a:solidFill>
                  <a:srgbClr val="FFFFFF"/>
                </a:solidFill>
                <a:latin typeface="Arial" charset="0"/>
                <a:ea typeface="Arial" charset="0"/>
                <a:cs typeface="Arial" charset="0"/>
                <a:sym typeface="Cabin"/>
              </a:rPr>
              <a:t>)</a:t>
            </a:r>
          </a:p>
        </p:txBody>
      </p:sp>
      <p:sp>
        <p:nvSpPr>
          <p:cNvPr id="50" name="Shape 464"/>
          <p:cNvSpPr txBox="1"/>
          <p:nvPr/>
        </p:nvSpPr>
        <p:spPr>
          <a:xfrm>
            <a:off x="2365959" y="1643119"/>
            <a:ext cx="407194"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No</a:t>
            </a:r>
          </a:p>
        </p:txBody>
      </p:sp>
      <p:sp>
        <p:nvSpPr>
          <p:cNvPr id="51" name="Shape 455"/>
          <p:cNvSpPr txBox="1"/>
          <p:nvPr/>
        </p:nvSpPr>
        <p:spPr>
          <a:xfrm>
            <a:off x="2821781" y="1993107"/>
            <a:ext cx="1685981" cy="421537"/>
          </a:xfrm>
          <a:prstGeom prst="rect">
            <a:avLst/>
          </a:prstGeom>
          <a:noFill/>
          <a:ln w="76200" cap="flat" cmpd="sng">
            <a:solidFill>
              <a:srgbClr val="FFFF00"/>
            </a:solidFill>
            <a:prstDash val="solid"/>
            <a:round/>
            <a:headEnd type="none" w="med" len="med"/>
            <a:tailEnd type="none" w="med" len="med"/>
          </a:ln>
        </p:spPr>
        <p:txBody>
          <a:bodyPr lIns="0" tIns="0" rIns="0" bIns="0" anchor="ctr" anchorCtr="0">
            <a:noAutofit/>
          </a:bodyPr>
          <a:lstStyle/>
          <a:p>
            <a:pPr algn="ctr" defTabSz="514350">
              <a:buClr>
                <a:srgbClr val="FF0000"/>
              </a:buClr>
              <a:buSzPct val="25000"/>
            </a:pPr>
            <a:r>
              <a:rPr lang="en-US" sz="1969" kern="0">
                <a:solidFill>
                  <a:srgbClr val="FF9900"/>
                </a:solidFill>
                <a:latin typeface="Arial" charset="0"/>
                <a:ea typeface="Arial" charset="0"/>
                <a:cs typeface="Arial" charset="0"/>
                <a:sym typeface="Cabin"/>
              </a:rPr>
              <a:t>Move </a:t>
            </a:r>
            <a:r>
              <a:rPr lang="en-US" sz="1969" kern="0">
                <a:solidFill>
                  <a:srgbClr val="00FF00"/>
                </a:solidFill>
                <a:latin typeface="Arial" charset="0"/>
                <a:ea typeface="Arial" charset="0"/>
                <a:cs typeface="Arial" charset="0"/>
                <a:sym typeface="Cabin"/>
              </a:rPr>
              <a:t>i</a:t>
            </a:r>
            <a:r>
              <a:rPr lang="en-US" sz="1969" kern="0">
                <a:solidFill>
                  <a:srgbClr val="FF9900"/>
                </a:solidFill>
                <a:latin typeface="Arial" charset="0"/>
                <a:ea typeface="Arial" charset="0"/>
                <a:cs typeface="Arial" charset="0"/>
                <a:sym typeface="Cabin"/>
              </a:rPr>
              <a:t> ahead</a:t>
            </a:r>
          </a:p>
        </p:txBody>
      </p:sp>
      <p:cxnSp>
        <p:nvCxnSpPr>
          <p:cNvPr id="52" name="Shape 467"/>
          <p:cNvCxnSpPr/>
          <p:nvPr/>
        </p:nvCxnSpPr>
        <p:spPr>
          <a:xfrm>
            <a:off x="2607483" y="2205633"/>
            <a:ext cx="223256" cy="1856"/>
          </a:xfrm>
          <a:prstGeom prst="straightConnector1">
            <a:avLst/>
          </a:prstGeom>
          <a:noFill/>
          <a:ln w="76200" cap="rnd" cmpd="sng">
            <a:solidFill>
              <a:srgbClr val="00FFFF"/>
            </a:solidFill>
            <a:prstDash val="solid"/>
            <a:miter/>
            <a:headEnd type="none" w="med" len="med"/>
            <a:tailEnd type="triangle" w="med" len="med"/>
          </a:ln>
        </p:spPr>
      </p:cxnSp>
    </p:spTree>
    <p:extLst>
      <p:ext uri="{BB962C8B-B14F-4D97-AF65-F5344CB8AC3E}">
        <p14:creationId xmlns:p14="http://schemas.microsoft.com/office/powerpoint/2010/main" val="41621193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Shape 517"/>
          <p:cNvSpPr txBox="1">
            <a:spLocks noGrp="1"/>
          </p:cNvSpPr>
          <p:nvPr>
            <p:ph type="title"/>
          </p:nvPr>
        </p:nvSpPr>
        <p:spPr>
          <a:xfrm>
            <a:off x="650081" y="1721644"/>
            <a:ext cx="7836694" cy="2832497"/>
          </a:xfrm>
          <a:prstGeom prst="rect">
            <a:avLst/>
          </a:prstGeom>
          <a:noFill/>
          <a:ln>
            <a:noFill/>
          </a:ln>
        </p:spPr>
        <p:txBody>
          <a:bodyPr lIns="21431" tIns="21431" rIns="21431" bIns="21431" anchor="ctr" anchorCtr="0">
            <a:noAutofit/>
          </a:bodyPr>
          <a:lstStyle/>
          <a:p>
            <a:pPr>
              <a:buClr>
                <a:srgbClr val="00FF00"/>
              </a:buClr>
              <a:buSzPct val="25000"/>
            </a:pPr>
            <a:r>
              <a:rPr lang="en-US" sz="4275" dirty="0">
                <a:solidFill>
                  <a:srgbClr val="FFD966"/>
                </a:solidFill>
                <a:latin typeface="Arial" charset="0"/>
                <a:ea typeface="Arial" charset="0"/>
                <a:cs typeface="Arial" charset="0"/>
                <a:sym typeface="Cabin"/>
              </a:rPr>
              <a:t>Loop Idioms:</a:t>
            </a:r>
            <a:br>
              <a:rPr lang="en-US" sz="4275" dirty="0">
                <a:solidFill>
                  <a:srgbClr val="FFD966"/>
                </a:solidFill>
                <a:latin typeface="Arial" charset="0"/>
                <a:ea typeface="Arial" charset="0"/>
                <a:cs typeface="Arial" charset="0"/>
                <a:sym typeface="Cabin"/>
              </a:rPr>
            </a:br>
            <a:r>
              <a:rPr lang="en-US" sz="4275" dirty="0">
                <a:solidFill>
                  <a:srgbClr val="FFD966"/>
                </a:solidFill>
                <a:latin typeface="Arial" charset="0"/>
                <a:ea typeface="Arial" charset="0"/>
                <a:cs typeface="Arial" charset="0"/>
                <a:sym typeface="Cabin"/>
              </a:rPr>
              <a:t>What We Do in Loops</a:t>
            </a:r>
          </a:p>
          <a:p>
            <a:pPr>
              <a:buClr>
                <a:srgbClr val="00FF00"/>
              </a:buClr>
              <a:buSzPct val="25000"/>
            </a:pPr>
            <a:r>
              <a:rPr lang="en-US" sz="4275" dirty="0">
                <a:solidFill>
                  <a:srgbClr val="00FF00"/>
                </a:solidFill>
                <a:latin typeface="Arial" charset="0"/>
                <a:ea typeface="Arial" charset="0"/>
                <a:cs typeface="Arial" charset="0"/>
                <a:sym typeface="Cabin"/>
              </a:rPr>
              <a:t/>
            </a:r>
            <a:br>
              <a:rPr lang="en-US" sz="4275" dirty="0">
                <a:solidFill>
                  <a:srgbClr val="00FF00"/>
                </a:solidFill>
                <a:latin typeface="Arial" charset="0"/>
                <a:ea typeface="Arial" charset="0"/>
                <a:cs typeface="Arial" charset="0"/>
                <a:sym typeface="Cabin"/>
              </a:rPr>
            </a:br>
            <a:r>
              <a:rPr lang="en-US" sz="2700" dirty="0">
                <a:solidFill>
                  <a:schemeClr val="lt1"/>
                </a:solidFill>
                <a:latin typeface="Arial" charset="0"/>
                <a:ea typeface="Arial" charset="0"/>
                <a:cs typeface="Arial" charset="0"/>
                <a:sym typeface="Cabin"/>
              </a:rPr>
              <a:t>Note:   Even though these examples are simple, the patterns apply to all kinds of loops</a:t>
            </a:r>
          </a:p>
        </p:txBody>
      </p:sp>
    </p:spTree>
    <p:extLst>
      <p:ext uri="{BB962C8B-B14F-4D97-AF65-F5344CB8AC3E}">
        <p14:creationId xmlns:p14="http://schemas.microsoft.com/office/powerpoint/2010/main" val="3941659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Shape 522"/>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Making </a:t>
            </a:r>
            <a:r>
              <a:rPr lang="en-US" sz="4275">
                <a:solidFill>
                  <a:srgbClr val="FFD966"/>
                </a:solidFill>
              </a:rPr>
              <a:t>“</a:t>
            </a:r>
            <a:r>
              <a:rPr lang="en-US" sz="4275">
                <a:solidFill>
                  <a:srgbClr val="FFD966"/>
                </a:solidFill>
                <a:latin typeface="Arial" charset="0"/>
                <a:ea typeface="Arial" charset="0"/>
                <a:cs typeface="Arial" charset="0"/>
                <a:sym typeface="Cabin"/>
              </a:rPr>
              <a:t>smart</a:t>
            </a:r>
            <a:r>
              <a:rPr lang="en-US" sz="4275">
                <a:solidFill>
                  <a:srgbClr val="FFD966"/>
                </a:solidFill>
              </a:rPr>
              <a:t>”</a:t>
            </a:r>
            <a:r>
              <a:rPr lang="en-US" sz="4275">
                <a:solidFill>
                  <a:srgbClr val="FFD966"/>
                </a:solidFill>
                <a:latin typeface="Arial" charset="0"/>
                <a:ea typeface="Arial" charset="0"/>
                <a:cs typeface="Arial" charset="0"/>
                <a:sym typeface="Cabin"/>
              </a:rPr>
              <a:t> loops</a:t>
            </a:r>
          </a:p>
        </p:txBody>
      </p:sp>
      <p:sp>
        <p:nvSpPr>
          <p:cNvPr id="523" name="Shape 523"/>
          <p:cNvSpPr txBox="1">
            <a:spLocks noGrp="1"/>
          </p:cNvSpPr>
          <p:nvPr>
            <p:ph type="body" idx="1"/>
          </p:nvPr>
        </p:nvSpPr>
        <p:spPr>
          <a:xfrm>
            <a:off x="650081" y="2321719"/>
            <a:ext cx="3850481" cy="3207599"/>
          </a:xfrm>
          <a:prstGeom prst="rect">
            <a:avLst/>
          </a:prstGeom>
          <a:noFill/>
          <a:ln>
            <a:noFill/>
          </a:ln>
        </p:spPr>
        <p:txBody>
          <a:bodyPr lIns="21431" tIns="21431" rIns="21431" bIns="21431" anchor="ctr" anchorCtr="0">
            <a:noAutofit/>
          </a:bodyPr>
          <a:lstStyle/>
          <a:p>
            <a:pPr marL="0" indent="0">
              <a:spcBef>
                <a:spcPts val="0"/>
              </a:spcBef>
              <a:buNone/>
            </a:pPr>
            <a:r>
              <a:rPr lang="en-US" sz="2025" dirty="0">
                <a:solidFill>
                  <a:schemeClr val="lt1"/>
                </a:solidFill>
                <a:latin typeface="Arial" charset="0"/>
                <a:ea typeface="Arial" charset="0"/>
                <a:cs typeface="Arial" charset="0"/>
                <a:sym typeface="Cabin"/>
              </a:rPr>
              <a:t>The trick is </a:t>
            </a:r>
            <a:r>
              <a:rPr lang="en-US" sz="2025" dirty="0">
                <a:solidFill>
                  <a:schemeClr val="lt1"/>
                </a:solidFill>
              </a:rPr>
              <a:t>“</a:t>
            </a:r>
            <a:r>
              <a:rPr lang="en-US" sz="2025" dirty="0">
                <a:solidFill>
                  <a:schemeClr val="lt1"/>
                </a:solidFill>
                <a:latin typeface="Arial" charset="0"/>
                <a:ea typeface="Arial" charset="0"/>
                <a:cs typeface="Arial" charset="0"/>
                <a:sym typeface="Cabin"/>
              </a:rPr>
              <a:t>knowing</a:t>
            </a:r>
            <a:r>
              <a:rPr lang="en-US" sz="2025" dirty="0">
                <a:solidFill>
                  <a:schemeClr val="lt1"/>
                </a:solidFill>
              </a:rPr>
              <a:t>”</a:t>
            </a:r>
            <a:r>
              <a:rPr lang="en-US" sz="2025" dirty="0">
                <a:solidFill>
                  <a:schemeClr val="lt1"/>
                </a:solidFill>
                <a:latin typeface="Arial" charset="0"/>
                <a:ea typeface="Arial" charset="0"/>
                <a:cs typeface="Arial" charset="0"/>
                <a:sym typeface="Cabin"/>
              </a:rPr>
              <a:t> something about the whole loop when you are stuck writing code that only sees one entry at a time</a:t>
            </a:r>
          </a:p>
        </p:txBody>
      </p:sp>
      <p:sp>
        <p:nvSpPr>
          <p:cNvPr id="524" name="Shape 524"/>
          <p:cNvSpPr txBox="1"/>
          <p:nvPr/>
        </p:nvSpPr>
        <p:spPr>
          <a:xfrm>
            <a:off x="5200650" y="2336006"/>
            <a:ext cx="2857500" cy="664369"/>
          </a:xfrm>
          <a:prstGeom prst="rect">
            <a:avLst/>
          </a:prstGeom>
          <a:noFill/>
          <a:ln w="50800" cap="rnd" cmpd="sng">
            <a:solidFill>
              <a:srgbClr val="00FFFF"/>
            </a:solidFill>
            <a:prstDash val="solid"/>
            <a:miter/>
            <a:headEnd type="none" w="med" len="med"/>
            <a:tailEnd type="none" w="med" len="med"/>
          </a:ln>
        </p:spPr>
        <p:txBody>
          <a:bodyPr lIns="0" tIns="0" rIns="0" bIns="0" anchor="ctr" anchorCtr="0">
            <a:noAutofit/>
          </a:bodyPr>
          <a:lstStyle/>
          <a:p>
            <a:pPr algn="ctr" defTabSz="514350">
              <a:buClr>
                <a:srgbClr val="FFFFFF"/>
              </a:buClr>
              <a:buSzPct val="25000"/>
            </a:pPr>
            <a:r>
              <a:rPr lang="en-US" sz="1856" kern="0" dirty="0">
                <a:solidFill>
                  <a:srgbClr val="FFFFFF"/>
                </a:solidFill>
                <a:latin typeface="Arial" charset="0"/>
                <a:ea typeface="Arial" charset="0"/>
                <a:cs typeface="Arial" charset="0"/>
                <a:sym typeface="Cabin"/>
              </a:rPr>
              <a:t>Set some variables to initial values</a:t>
            </a:r>
          </a:p>
        </p:txBody>
      </p:sp>
      <p:sp>
        <p:nvSpPr>
          <p:cNvPr id="525" name="Shape 525"/>
          <p:cNvSpPr txBox="1"/>
          <p:nvPr/>
        </p:nvSpPr>
        <p:spPr>
          <a:xfrm>
            <a:off x="5550694" y="3436144"/>
            <a:ext cx="2478881" cy="1285875"/>
          </a:xfrm>
          <a:prstGeom prst="rect">
            <a:avLst/>
          </a:prstGeom>
          <a:noFill/>
          <a:ln w="50800" cap="rnd" cmpd="sng">
            <a:solidFill>
              <a:srgbClr val="00FFFF"/>
            </a:solidFill>
            <a:prstDash val="solid"/>
            <a:miter/>
            <a:headEnd type="none" w="med" len="med"/>
            <a:tailEnd type="none" w="med" len="med"/>
          </a:ln>
        </p:spPr>
        <p:txBody>
          <a:bodyPr lIns="0" tIns="0" rIns="0" bIns="0" anchor="ctr" anchorCtr="0">
            <a:noAutofit/>
          </a:bodyPr>
          <a:lstStyle/>
          <a:p>
            <a:pPr algn="ctr" defTabSz="514350">
              <a:buClr>
                <a:srgbClr val="FFFFFF"/>
              </a:buClr>
              <a:buSzPct val="25000"/>
            </a:pPr>
            <a:r>
              <a:rPr lang="en-US" sz="1856" kern="0">
                <a:solidFill>
                  <a:srgbClr val="FFFFFF"/>
                </a:solidFill>
                <a:latin typeface="Arial" charset="0"/>
                <a:ea typeface="Arial" charset="0"/>
                <a:cs typeface="Arial" charset="0"/>
                <a:sym typeface="Cabin"/>
              </a:rPr>
              <a:t>Look for something or do something to each entry separately, updating a variable</a:t>
            </a:r>
          </a:p>
        </p:txBody>
      </p:sp>
      <p:sp>
        <p:nvSpPr>
          <p:cNvPr id="526" name="Shape 526"/>
          <p:cNvSpPr txBox="1"/>
          <p:nvPr/>
        </p:nvSpPr>
        <p:spPr>
          <a:xfrm>
            <a:off x="5152430" y="3057525"/>
            <a:ext cx="1911846" cy="350043"/>
          </a:xfrm>
          <a:prstGeom prst="rect">
            <a:avLst/>
          </a:prstGeom>
          <a:noFill/>
          <a:ln>
            <a:noFill/>
          </a:ln>
        </p:spPr>
        <p:txBody>
          <a:bodyPr lIns="0" tIns="0" rIns="0" bIns="0" anchor="ctr" anchorCtr="0">
            <a:noAutofit/>
          </a:bodyPr>
          <a:lstStyle/>
          <a:p>
            <a:pPr algn="ctr" defTabSz="514350">
              <a:buClr>
                <a:srgbClr val="FFFF00"/>
              </a:buClr>
              <a:buSzPct val="25000"/>
            </a:pPr>
            <a:r>
              <a:rPr lang="en-US" sz="2025" kern="0">
                <a:solidFill>
                  <a:srgbClr val="FFFF00"/>
                </a:solidFill>
                <a:latin typeface="Arial" charset="0"/>
                <a:ea typeface="Arial" charset="0"/>
                <a:cs typeface="Arial" charset="0"/>
                <a:sym typeface="Cabin"/>
              </a:rPr>
              <a:t>for </a:t>
            </a:r>
            <a:r>
              <a:rPr lang="en-US" sz="2025" kern="0">
                <a:solidFill>
                  <a:srgbClr val="00FFFF"/>
                </a:solidFill>
                <a:latin typeface="Arial" charset="0"/>
                <a:ea typeface="Arial" charset="0"/>
                <a:cs typeface="Arial" charset="0"/>
                <a:sym typeface="Cabin"/>
              </a:rPr>
              <a:t>thing</a:t>
            </a:r>
            <a:r>
              <a:rPr lang="en-US" sz="2025" kern="0">
                <a:solidFill>
                  <a:srgbClr val="FFFF00"/>
                </a:solidFill>
                <a:latin typeface="Arial" charset="0"/>
                <a:ea typeface="Arial" charset="0"/>
                <a:cs typeface="Arial" charset="0"/>
                <a:sym typeface="Cabin"/>
              </a:rPr>
              <a:t> in data:</a:t>
            </a:r>
          </a:p>
        </p:txBody>
      </p:sp>
      <p:sp>
        <p:nvSpPr>
          <p:cNvPr id="527" name="Shape 527"/>
          <p:cNvSpPr txBox="1"/>
          <p:nvPr/>
        </p:nvSpPr>
        <p:spPr>
          <a:xfrm>
            <a:off x="5200650" y="4914900"/>
            <a:ext cx="2857500" cy="571500"/>
          </a:xfrm>
          <a:prstGeom prst="rect">
            <a:avLst/>
          </a:prstGeom>
          <a:noFill/>
          <a:ln w="50800" cap="rnd" cmpd="sng">
            <a:solidFill>
              <a:srgbClr val="00FFFF"/>
            </a:solidFill>
            <a:prstDash val="solid"/>
            <a:miter/>
            <a:headEnd type="none" w="med" len="med"/>
            <a:tailEnd type="none" w="med" len="med"/>
          </a:ln>
        </p:spPr>
        <p:txBody>
          <a:bodyPr lIns="0" tIns="0" rIns="0" bIns="0" anchor="ctr" anchorCtr="0">
            <a:noAutofit/>
          </a:bodyPr>
          <a:lstStyle/>
          <a:p>
            <a:pPr algn="ctr" defTabSz="514350">
              <a:buClr>
                <a:srgbClr val="FFFFFF"/>
              </a:buClr>
              <a:buSzPct val="25000"/>
            </a:pPr>
            <a:r>
              <a:rPr lang="en-US" sz="1856" kern="0">
                <a:solidFill>
                  <a:srgbClr val="FFFFFF"/>
                </a:solidFill>
                <a:latin typeface="Arial" charset="0"/>
                <a:ea typeface="Arial" charset="0"/>
                <a:cs typeface="Arial" charset="0"/>
                <a:sym typeface="Cabin"/>
              </a:rPr>
              <a:t>Look at the variables</a:t>
            </a:r>
          </a:p>
        </p:txBody>
      </p:sp>
    </p:spTree>
    <p:extLst>
      <p:ext uri="{BB962C8B-B14F-4D97-AF65-F5344CB8AC3E}">
        <p14:creationId xmlns:p14="http://schemas.microsoft.com/office/powerpoint/2010/main" val="39681706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Shape 532"/>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FF00"/>
              </a:buClr>
              <a:buSzPct val="25000"/>
            </a:pPr>
            <a:r>
              <a:rPr lang="en-US" sz="4275">
                <a:solidFill>
                  <a:srgbClr val="FFD966"/>
                </a:solidFill>
                <a:latin typeface="Arial" charset="0"/>
                <a:ea typeface="Arial" charset="0"/>
                <a:cs typeface="Arial" charset="0"/>
                <a:sym typeface="Cabin"/>
              </a:rPr>
              <a:t>Looping Through a Set</a:t>
            </a:r>
          </a:p>
        </p:txBody>
      </p:sp>
      <p:sp>
        <p:nvSpPr>
          <p:cNvPr id="533" name="Shape 533"/>
          <p:cNvSpPr txBox="1"/>
          <p:nvPr/>
        </p:nvSpPr>
        <p:spPr>
          <a:xfrm>
            <a:off x="799045" y="2682183"/>
            <a:ext cx="4373156" cy="1246556"/>
          </a:xfrm>
          <a:prstGeom prst="rect">
            <a:avLst/>
          </a:prstGeom>
          <a:noFill/>
          <a:ln>
            <a:noFill/>
          </a:ln>
        </p:spPr>
        <p:txBody>
          <a:bodyPr lIns="0" tIns="0" rIns="0" bIns="0" anchor="ctr" anchorCtr="0">
            <a:noAutofit/>
          </a:bodyPr>
          <a:lstStyle/>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a:t>
            </a:r>
            <a:r>
              <a:rPr lang="en-US" sz="1463" b="1" kern="0" dirty="0">
                <a:solidFill>
                  <a:srgbClr val="00FFFF"/>
                </a:solidFill>
                <a:latin typeface="Courier"/>
                <a:ea typeface="Courier"/>
                <a:cs typeface="Courier"/>
                <a:sym typeface="Courier New"/>
              </a:rPr>
              <a:t>thing</a:t>
            </a: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a:t>
            </a:r>
            <a:r>
              <a:rPr lang="en-US" sz="1463" b="1" kern="0" dirty="0">
                <a:solidFill>
                  <a:srgbClr val="00FFFF"/>
                </a:solidFill>
                <a:latin typeface="Courier"/>
                <a:ea typeface="Courier"/>
                <a:cs typeface="Courier"/>
                <a:sym typeface="Courier New"/>
              </a:rPr>
              <a:t>[9, 41, 12, 3, 74, 15] </a:t>
            </a:r>
            <a:r>
              <a:rPr lang="en-US" sz="1463" b="1" kern="0" dirty="0">
                <a:solidFill>
                  <a:srgbClr val="FFFF00"/>
                </a:solidFill>
                <a:latin typeface="Courier"/>
                <a:ea typeface="Courier"/>
                <a:cs typeface="Courier"/>
                <a:sym typeface="Courier New"/>
              </a:rPr>
              <a:t>:</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00FFFF"/>
                </a:solidFill>
                <a:latin typeface="Courier"/>
                <a:ea typeface="Courier"/>
                <a:cs typeface="Courier"/>
                <a:sym typeface="Courier New"/>
              </a:rPr>
              <a:t>thing</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a:t>
            </a:r>
            <a:r>
              <a:rPr lang="en-US" sz="1463" b="1" kern="0" dirty="0">
                <a:solidFill>
                  <a:srgbClr val="FFFFFF"/>
                </a:solidFill>
                <a:latin typeface="Courier"/>
                <a:ea typeface="Courier"/>
                <a:cs typeface="Courier"/>
                <a:sym typeface="Courier New"/>
              </a:rPr>
              <a:t>)</a:t>
            </a:r>
          </a:p>
        </p:txBody>
      </p:sp>
      <p:sp>
        <p:nvSpPr>
          <p:cNvPr id="534" name="Shape 534"/>
          <p:cNvSpPr txBox="1"/>
          <p:nvPr/>
        </p:nvSpPr>
        <p:spPr>
          <a:xfrm>
            <a:off x="5644455" y="2352080"/>
            <a:ext cx="2681586" cy="2803921"/>
          </a:xfrm>
          <a:prstGeom prst="rect">
            <a:avLst/>
          </a:prstGeom>
          <a:noFill/>
          <a:ln>
            <a:noFill/>
          </a:ln>
        </p:spPr>
        <p:txBody>
          <a:bodyPr lIns="0" tIns="0" rIns="0" bIns="0" anchor="ctr" anchorCtr="0">
            <a:noAutofit/>
          </a:bodyPr>
          <a:lstStyle/>
          <a:p>
            <a:pPr defTabSz="514350">
              <a:buClr>
                <a:srgbClr val="FFFF00"/>
              </a:buClr>
              <a:buSzPct val="25000"/>
            </a:pPr>
            <a:r>
              <a:rPr lang="en-US" sz="2025" kern="0" dirty="0">
                <a:solidFill>
                  <a:srgbClr val="FFFF00"/>
                </a:solidFill>
                <a:latin typeface="Arial" charset="0"/>
                <a:ea typeface="Arial" charset="0"/>
                <a:cs typeface="Arial" charset="0"/>
                <a:sym typeface="Cabin"/>
              </a:rPr>
              <a:t>$ python </a:t>
            </a:r>
            <a:r>
              <a:rPr lang="en-US" sz="2025" kern="0" dirty="0" err="1">
                <a:solidFill>
                  <a:srgbClr val="FFFF00"/>
                </a:solidFill>
                <a:latin typeface="Arial" charset="0"/>
                <a:ea typeface="Arial" charset="0"/>
                <a:cs typeface="Arial" charset="0"/>
                <a:sym typeface="Cabin"/>
              </a:rPr>
              <a:t>basicloop.py</a:t>
            </a:r>
            <a:endParaRPr lang="en-US" sz="2025" kern="0" dirty="0">
              <a:solidFill>
                <a:srgbClr val="FFFF00"/>
              </a:solidFill>
              <a:latin typeface="Arial" charset="0"/>
              <a:ea typeface="Arial" charset="0"/>
              <a:cs typeface="Arial" charset="0"/>
              <a:sym typeface="Cabin"/>
            </a:endParaRPr>
          </a:p>
          <a:p>
            <a:pPr defTabSz="514350">
              <a:buClr>
                <a:srgbClr val="FF7F00"/>
              </a:buClr>
              <a:buSzPct val="25000"/>
            </a:pPr>
            <a:r>
              <a:rPr lang="en-US" sz="2025" kern="0" dirty="0">
                <a:solidFill>
                  <a:srgbClr val="FF7F00"/>
                </a:solidFill>
                <a:latin typeface="Arial" charset="0"/>
                <a:ea typeface="Arial" charset="0"/>
                <a:cs typeface="Arial" charset="0"/>
                <a:sym typeface="Cabin"/>
              </a:rPr>
              <a:t>Before</a:t>
            </a:r>
          </a:p>
          <a:p>
            <a:pPr defTabSz="514350">
              <a:buClr>
                <a:srgbClr val="FF00FF"/>
              </a:buClr>
              <a:buSzPct val="25000"/>
            </a:pPr>
            <a:r>
              <a:rPr lang="en-US" sz="2025" kern="0" dirty="0">
                <a:solidFill>
                  <a:srgbClr val="00FFFF"/>
                </a:solidFill>
                <a:latin typeface="Arial" charset="0"/>
                <a:ea typeface="Arial" charset="0"/>
                <a:cs typeface="Arial" charset="0"/>
                <a:sym typeface="Cabin"/>
              </a:rPr>
              <a:t>9</a:t>
            </a:r>
          </a:p>
          <a:p>
            <a:pPr defTabSz="514350">
              <a:buClr>
                <a:srgbClr val="FF00FF"/>
              </a:buClr>
              <a:buSzPct val="25000"/>
            </a:pPr>
            <a:r>
              <a:rPr lang="en-US" sz="2025" kern="0" dirty="0">
                <a:solidFill>
                  <a:srgbClr val="00FFFF"/>
                </a:solidFill>
                <a:latin typeface="Arial" charset="0"/>
                <a:ea typeface="Arial" charset="0"/>
                <a:cs typeface="Arial" charset="0"/>
                <a:sym typeface="Cabin"/>
              </a:rPr>
              <a:t>41</a:t>
            </a:r>
          </a:p>
          <a:p>
            <a:pPr defTabSz="514350">
              <a:buClr>
                <a:srgbClr val="FF00FF"/>
              </a:buClr>
              <a:buSzPct val="25000"/>
            </a:pPr>
            <a:r>
              <a:rPr lang="en-US" sz="2025" kern="0" dirty="0">
                <a:solidFill>
                  <a:srgbClr val="00FFFF"/>
                </a:solidFill>
                <a:latin typeface="Arial" charset="0"/>
                <a:ea typeface="Arial" charset="0"/>
                <a:cs typeface="Arial" charset="0"/>
                <a:sym typeface="Cabin"/>
              </a:rPr>
              <a:t>12</a:t>
            </a:r>
          </a:p>
          <a:p>
            <a:pPr defTabSz="514350">
              <a:buClr>
                <a:srgbClr val="FF00FF"/>
              </a:buClr>
              <a:buSzPct val="25000"/>
            </a:pPr>
            <a:r>
              <a:rPr lang="en-US" sz="2025" kern="0" dirty="0">
                <a:solidFill>
                  <a:srgbClr val="00FFFF"/>
                </a:solidFill>
                <a:latin typeface="Arial" charset="0"/>
                <a:ea typeface="Arial" charset="0"/>
                <a:cs typeface="Arial" charset="0"/>
                <a:sym typeface="Cabin"/>
              </a:rPr>
              <a:t>3</a:t>
            </a:r>
          </a:p>
          <a:p>
            <a:pPr defTabSz="514350">
              <a:buClr>
                <a:srgbClr val="FF00FF"/>
              </a:buClr>
              <a:buSzPct val="25000"/>
            </a:pPr>
            <a:r>
              <a:rPr lang="en-US" sz="2025" kern="0" dirty="0">
                <a:solidFill>
                  <a:srgbClr val="00FFFF"/>
                </a:solidFill>
                <a:latin typeface="Arial" charset="0"/>
                <a:ea typeface="Arial" charset="0"/>
                <a:cs typeface="Arial" charset="0"/>
                <a:sym typeface="Cabin"/>
              </a:rPr>
              <a:t>74</a:t>
            </a:r>
          </a:p>
          <a:p>
            <a:pPr defTabSz="514350">
              <a:buClr>
                <a:srgbClr val="FF00FF"/>
              </a:buClr>
              <a:buSzPct val="25000"/>
            </a:pPr>
            <a:r>
              <a:rPr lang="en-US" sz="2025" kern="0" dirty="0">
                <a:solidFill>
                  <a:srgbClr val="00FFFF"/>
                </a:solidFill>
                <a:latin typeface="Arial" charset="0"/>
                <a:ea typeface="Arial" charset="0"/>
                <a:cs typeface="Arial" charset="0"/>
                <a:sym typeface="Cabin"/>
              </a:rPr>
              <a:t>15</a:t>
            </a:r>
          </a:p>
          <a:p>
            <a:pPr defTabSz="514350">
              <a:buClr>
                <a:srgbClr val="FF7F00"/>
              </a:buClr>
              <a:buSzPct val="25000"/>
            </a:pPr>
            <a:r>
              <a:rPr lang="en-US" sz="2025" kern="0" dirty="0">
                <a:solidFill>
                  <a:srgbClr val="FF7F00"/>
                </a:solidFill>
                <a:latin typeface="Arial" charset="0"/>
                <a:ea typeface="Arial" charset="0"/>
                <a:cs typeface="Arial" charset="0"/>
                <a:sym typeface="Cabin"/>
              </a:rPr>
              <a:t>After</a:t>
            </a:r>
          </a:p>
        </p:txBody>
      </p:sp>
    </p:spTree>
    <p:extLst>
      <p:ext uri="{BB962C8B-B14F-4D97-AF65-F5344CB8AC3E}">
        <p14:creationId xmlns:p14="http://schemas.microsoft.com/office/powerpoint/2010/main" val="40039066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Shape 539"/>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Tree>
    <p:extLst>
      <p:ext uri="{BB962C8B-B14F-4D97-AF65-F5344CB8AC3E}">
        <p14:creationId xmlns:p14="http://schemas.microsoft.com/office/powerpoint/2010/main" val="23419615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Shape 544"/>
          <p:cNvSpPr txBox="1"/>
          <p:nvPr/>
        </p:nvSpPr>
        <p:spPr>
          <a:xfrm>
            <a:off x="2121694"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3</a:t>
            </a:r>
          </a:p>
        </p:txBody>
      </p:sp>
      <p:sp>
        <p:nvSpPr>
          <p:cNvPr id="545" name="Shape 545"/>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Tree>
    <p:extLst>
      <p:ext uri="{BB962C8B-B14F-4D97-AF65-F5344CB8AC3E}">
        <p14:creationId xmlns:p14="http://schemas.microsoft.com/office/powerpoint/2010/main" val="36433499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Shape 550"/>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51" name="Shape 551"/>
          <p:cNvSpPr txBox="1"/>
          <p:nvPr/>
        </p:nvSpPr>
        <p:spPr>
          <a:xfrm>
            <a:off x="3005733"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41</a:t>
            </a:r>
          </a:p>
        </p:txBody>
      </p:sp>
    </p:spTree>
    <p:extLst>
      <p:ext uri="{BB962C8B-B14F-4D97-AF65-F5344CB8AC3E}">
        <p14:creationId xmlns:p14="http://schemas.microsoft.com/office/powerpoint/2010/main" val="24087712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Shape 556"/>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57" name="Shape 557"/>
          <p:cNvSpPr txBox="1"/>
          <p:nvPr/>
        </p:nvSpPr>
        <p:spPr>
          <a:xfrm>
            <a:off x="4019252"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12</a:t>
            </a:r>
          </a:p>
        </p:txBody>
      </p:sp>
    </p:spTree>
    <p:extLst>
      <p:ext uri="{BB962C8B-B14F-4D97-AF65-F5344CB8AC3E}">
        <p14:creationId xmlns:p14="http://schemas.microsoft.com/office/powerpoint/2010/main" val="18523892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Shape 562"/>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63" name="Shape 563"/>
          <p:cNvSpPr txBox="1"/>
          <p:nvPr/>
        </p:nvSpPr>
        <p:spPr>
          <a:xfrm>
            <a:off x="5031879"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9</a:t>
            </a:r>
          </a:p>
        </p:txBody>
      </p:sp>
    </p:spTree>
    <p:extLst>
      <p:ext uri="{BB962C8B-B14F-4D97-AF65-F5344CB8AC3E}">
        <p14:creationId xmlns:p14="http://schemas.microsoft.com/office/powerpoint/2010/main" val="20338472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Shape 568"/>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69" name="Shape 569"/>
          <p:cNvSpPr txBox="1"/>
          <p:nvPr/>
        </p:nvSpPr>
        <p:spPr>
          <a:xfrm>
            <a:off x="6002536"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74</a:t>
            </a:r>
          </a:p>
        </p:txBody>
      </p:sp>
    </p:spTree>
    <p:extLst>
      <p:ext uri="{BB962C8B-B14F-4D97-AF65-F5344CB8AC3E}">
        <p14:creationId xmlns:p14="http://schemas.microsoft.com/office/powerpoint/2010/main" val="2009101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Shape 574"/>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75" name="Shape 575"/>
          <p:cNvSpPr txBox="1"/>
          <p:nvPr/>
        </p:nvSpPr>
        <p:spPr>
          <a:xfrm>
            <a:off x="7058026"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15</a:t>
            </a:r>
          </a:p>
        </p:txBody>
      </p:sp>
    </p:spTree>
    <p:extLst>
      <p:ext uri="{BB962C8B-B14F-4D97-AF65-F5344CB8AC3E}">
        <p14:creationId xmlns:p14="http://schemas.microsoft.com/office/powerpoint/2010/main" val="36935544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Shape 580"/>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Tree>
    <p:extLst>
      <p:ext uri="{BB962C8B-B14F-4D97-AF65-F5344CB8AC3E}">
        <p14:creationId xmlns:p14="http://schemas.microsoft.com/office/powerpoint/2010/main" val="11689166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Shape 585"/>
          <p:cNvSpPr txBox="1"/>
          <p:nvPr/>
        </p:nvSpPr>
        <p:spPr>
          <a:xfrm>
            <a:off x="2121694"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3</a:t>
            </a:r>
          </a:p>
        </p:txBody>
      </p:sp>
      <p:sp>
        <p:nvSpPr>
          <p:cNvPr id="586" name="Shape 586"/>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87" name="Shape 587"/>
          <p:cNvSpPr txBox="1"/>
          <p:nvPr/>
        </p:nvSpPr>
        <p:spPr>
          <a:xfrm>
            <a:off x="3005733"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41</a:t>
            </a:r>
          </a:p>
        </p:txBody>
      </p:sp>
      <p:sp>
        <p:nvSpPr>
          <p:cNvPr id="588" name="Shape 588"/>
          <p:cNvSpPr txBox="1"/>
          <p:nvPr/>
        </p:nvSpPr>
        <p:spPr>
          <a:xfrm>
            <a:off x="4019252"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12</a:t>
            </a:r>
          </a:p>
        </p:txBody>
      </p:sp>
      <p:sp>
        <p:nvSpPr>
          <p:cNvPr id="589" name="Shape 589"/>
          <p:cNvSpPr txBox="1"/>
          <p:nvPr/>
        </p:nvSpPr>
        <p:spPr>
          <a:xfrm>
            <a:off x="5031879"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9</a:t>
            </a:r>
          </a:p>
        </p:txBody>
      </p:sp>
      <p:sp>
        <p:nvSpPr>
          <p:cNvPr id="590" name="Shape 590"/>
          <p:cNvSpPr txBox="1"/>
          <p:nvPr/>
        </p:nvSpPr>
        <p:spPr>
          <a:xfrm>
            <a:off x="6002536"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74</a:t>
            </a:r>
          </a:p>
        </p:txBody>
      </p:sp>
      <p:sp>
        <p:nvSpPr>
          <p:cNvPr id="591" name="Shape 591"/>
          <p:cNvSpPr txBox="1"/>
          <p:nvPr/>
        </p:nvSpPr>
        <p:spPr>
          <a:xfrm>
            <a:off x="7058026"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15</a:t>
            </a:r>
          </a:p>
        </p:txBody>
      </p:sp>
    </p:spTree>
    <p:extLst>
      <p:ext uri="{BB962C8B-B14F-4D97-AF65-F5344CB8AC3E}">
        <p14:creationId xmlns:p14="http://schemas.microsoft.com/office/powerpoint/2010/main" val="28540719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Shape 539"/>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3" name="Shape 597"/>
          <p:cNvSpPr txBox="1"/>
          <p:nvPr/>
        </p:nvSpPr>
        <p:spPr>
          <a:xfrm>
            <a:off x="3629025" y="4321969"/>
            <a:ext cx="3286068" cy="73574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algn="ctr" defTabSz="514350"/>
            <a:endParaRPr sz="788" kern="0">
              <a:solidFill>
                <a:srgbClr val="000000"/>
              </a:solidFill>
              <a:latin typeface="Arial"/>
              <a:cs typeface="Arial"/>
              <a:sym typeface="Arial"/>
            </a:endParaRPr>
          </a:p>
        </p:txBody>
      </p:sp>
      <p:sp>
        <p:nvSpPr>
          <p:cNvPr id="4" name="Shape 598"/>
          <p:cNvSpPr txBox="1"/>
          <p:nvPr/>
        </p:nvSpPr>
        <p:spPr>
          <a:xfrm>
            <a:off x="1598414" y="4514850"/>
            <a:ext cx="1881485"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dirty="0" err="1">
                <a:solidFill>
                  <a:srgbClr val="FFFFFF"/>
                </a:solidFill>
                <a:latin typeface="Arial" charset="0"/>
                <a:ea typeface="Arial" charset="0"/>
                <a:cs typeface="Arial" charset="0"/>
                <a:sym typeface="Cabin"/>
              </a:rPr>
              <a:t>largest_so_far</a:t>
            </a:r>
            <a:endParaRPr lang="en-US" sz="2025" kern="0" dirty="0">
              <a:solidFill>
                <a:srgbClr val="FFFFFF"/>
              </a:solidFill>
              <a:latin typeface="Arial" charset="0"/>
              <a:ea typeface="Arial" charset="0"/>
              <a:cs typeface="Arial" charset="0"/>
              <a:sym typeface="Cabin"/>
            </a:endParaRPr>
          </a:p>
        </p:txBody>
      </p:sp>
      <p:sp>
        <p:nvSpPr>
          <p:cNvPr id="5" name="Shape 599"/>
          <p:cNvSpPr txBox="1"/>
          <p:nvPr/>
        </p:nvSpPr>
        <p:spPr>
          <a:xfrm>
            <a:off x="3736181" y="4378226"/>
            <a:ext cx="427781" cy="623362"/>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a:t>
            </a:r>
          </a:p>
        </p:txBody>
      </p:sp>
    </p:spTree>
    <p:extLst>
      <p:ext uri="{BB962C8B-B14F-4D97-AF65-F5344CB8AC3E}">
        <p14:creationId xmlns:p14="http://schemas.microsoft.com/office/powerpoint/2010/main" val="3204473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Shape 544"/>
          <p:cNvSpPr txBox="1"/>
          <p:nvPr/>
        </p:nvSpPr>
        <p:spPr>
          <a:xfrm>
            <a:off x="2121694"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3</a:t>
            </a:r>
          </a:p>
        </p:txBody>
      </p:sp>
      <p:sp>
        <p:nvSpPr>
          <p:cNvPr id="545" name="Shape 545"/>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4" name="Shape 597"/>
          <p:cNvSpPr txBox="1"/>
          <p:nvPr/>
        </p:nvSpPr>
        <p:spPr>
          <a:xfrm>
            <a:off x="3629025" y="4321969"/>
            <a:ext cx="3286068" cy="73574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algn="ctr" defTabSz="514350"/>
            <a:endParaRPr sz="788" kern="0">
              <a:solidFill>
                <a:srgbClr val="000000"/>
              </a:solidFill>
              <a:latin typeface="Arial"/>
              <a:cs typeface="Arial"/>
              <a:sym typeface="Arial"/>
            </a:endParaRPr>
          </a:p>
        </p:txBody>
      </p:sp>
      <p:sp>
        <p:nvSpPr>
          <p:cNvPr id="5" name="Shape 598"/>
          <p:cNvSpPr txBox="1"/>
          <p:nvPr/>
        </p:nvSpPr>
        <p:spPr>
          <a:xfrm>
            <a:off x="1598414" y="4514850"/>
            <a:ext cx="1881485"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dirty="0" err="1">
                <a:solidFill>
                  <a:srgbClr val="FFFFFF"/>
                </a:solidFill>
                <a:latin typeface="Arial" charset="0"/>
                <a:ea typeface="Arial" charset="0"/>
                <a:cs typeface="Arial" charset="0"/>
                <a:sym typeface="Cabin"/>
              </a:rPr>
              <a:t>largest_so_far</a:t>
            </a:r>
            <a:endParaRPr lang="en-US" sz="2025" kern="0" dirty="0">
              <a:solidFill>
                <a:srgbClr val="FFFFFF"/>
              </a:solidFill>
              <a:latin typeface="Arial" charset="0"/>
              <a:ea typeface="Arial" charset="0"/>
              <a:cs typeface="Arial" charset="0"/>
              <a:sym typeface="Cabin"/>
            </a:endParaRPr>
          </a:p>
        </p:txBody>
      </p:sp>
      <p:sp>
        <p:nvSpPr>
          <p:cNvPr id="6" name="Shape 599"/>
          <p:cNvSpPr txBox="1"/>
          <p:nvPr/>
        </p:nvSpPr>
        <p:spPr>
          <a:xfrm>
            <a:off x="3736181" y="4378226"/>
            <a:ext cx="427781" cy="623362"/>
          </a:xfrm>
          <a:prstGeom prst="rect">
            <a:avLst/>
          </a:prstGeom>
          <a:noFill/>
          <a:ln>
            <a:noFill/>
          </a:ln>
        </p:spPr>
        <p:txBody>
          <a:bodyPr lIns="0" tIns="0" rIns="0" bIns="0" anchor="ctr" anchorCtr="0">
            <a:noAutofit/>
          </a:bodyPr>
          <a:lstStyle/>
          <a:p>
            <a:pPr defTabSz="514350">
              <a:buClr>
                <a:srgbClr val="FF00FF"/>
              </a:buClr>
              <a:buSzPct val="25000"/>
            </a:pPr>
            <a:r>
              <a:rPr lang="en-US" sz="3038" kern="0" dirty="0">
                <a:solidFill>
                  <a:srgbClr val="FF00FF"/>
                </a:solidFill>
                <a:latin typeface="Arial" charset="0"/>
                <a:ea typeface="Arial" charset="0"/>
                <a:cs typeface="Arial" charset="0"/>
                <a:sym typeface="Cabin"/>
              </a:rPr>
              <a:t>3</a:t>
            </a:r>
          </a:p>
        </p:txBody>
      </p:sp>
    </p:spTree>
    <p:extLst>
      <p:ext uri="{BB962C8B-B14F-4D97-AF65-F5344CB8AC3E}">
        <p14:creationId xmlns:p14="http://schemas.microsoft.com/office/powerpoint/2010/main" val="12409732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Shape 550"/>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51" name="Shape 551"/>
          <p:cNvSpPr txBox="1"/>
          <p:nvPr/>
        </p:nvSpPr>
        <p:spPr>
          <a:xfrm>
            <a:off x="3005733"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41</a:t>
            </a:r>
          </a:p>
        </p:txBody>
      </p:sp>
      <p:sp>
        <p:nvSpPr>
          <p:cNvPr id="4" name="Shape 597"/>
          <p:cNvSpPr txBox="1"/>
          <p:nvPr/>
        </p:nvSpPr>
        <p:spPr>
          <a:xfrm>
            <a:off x="3629025" y="4321969"/>
            <a:ext cx="3286068" cy="73574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algn="ctr" defTabSz="514350"/>
            <a:endParaRPr sz="788" kern="0">
              <a:solidFill>
                <a:srgbClr val="000000"/>
              </a:solidFill>
              <a:latin typeface="Arial"/>
              <a:cs typeface="Arial"/>
              <a:sym typeface="Arial"/>
            </a:endParaRPr>
          </a:p>
        </p:txBody>
      </p:sp>
      <p:sp>
        <p:nvSpPr>
          <p:cNvPr id="5" name="Shape 598"/>
          <p:cNvSpPr txBox="1"/>
          <p:nvPr/>
        </p:nvSpPr>
        <p:spPr>
          <a:xfrm>
            <a:off x="1598414" y="4514850"/>
            <a:ext cx="1881485"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dirty="0" err="1">
                <a:solidFill>
                  <a:srgbClr val="FFFFFF"/>
                </a:solidFill>
                <a:latin typeface="Arial" charset="0"/>
                <a:ea typeface="Arial" charset="0"/>
                <a:cs typeface="Arial" charset="0"/>
                <a:sym typeface="Cabin"/>
              </a:rPr>
              <a:t>largest_so_far</a:t>
            </a:r>
            <a:endParaRPr lang="en-US" sz="2025" kern="0" dirty="0">
              <a:solidFill>
                <a:srgbClr val="FFFFFF"/>
              </a:solidFill>
              <a:latin typeface="Arial" charset="0"/>
              <a:ea typeface="Arial" charset="0"/>
              <a:cs typeface="Arial" charset="0"/>
              <a:sym typeface="Cabin"/>
            </a:endParaRPr>
          </a:p>
        </p:txBody>
      </p:sp>
      <p:sp>
        <p:nvSpPr>
          <p:cNvPr id="6" name="Shape 599"/>
          <p:cNvSpPr txBox="1"/>
          <p:nvPr/>
        </p:nvSpPr>
        <p:spPr>
          <a:xfrm>
            <a:off x="3736181" y="4378226"/>
            <a:ext cx="1190328" cy="623362"/>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41</a:t>
            </a:r>
            <a:endParaRPr lang="en-US" sz="3038" kern="0" dirty="0">
              <a:solidFill>
                <a:srgbClr val="FF00FF"/>
              </a:solidFill>
              <a:latin typeface="Arial" charset="0"/>
              <a:ea typeface="Arial" charset="0"/>
              <a:cs typeface="Arial" charset="0"/>
              <a:sym typeface="Cabin"/>
            </a:endParaRPr>
          </a:p>
        </p:txBody>
      </p:sp>
    </p:spTree>
    <p:extLst>
      <p:ext uri="{BB962C8B-B14F-4D97-AF65-F5344CB8AC3E}">
        <p14:creationId xmlns:p14="http://schemas.microsoft.com/office/powerpoint/2010/main" val="29658810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Shape 556"/>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57" name="Shape 557"/>
          <p:cNvSpPr txBox="1"/>
          <p:nvPr/>
        </p:nvSpPr>
        <p:spPr>
          <a:xfrm>
            <a:off x="4019252"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12</a:t>
            </a:r>
          </a:p>
        </p:txBody>
      </p:sp>
      <p:sp>
        <p:nvSpPr>
          <p:cNvPr id="4" name="Shape 597"/>
          <p:cNvSpPr txBox="1"/>
          <p:nvPr/>
        </p:nvSpPr>
        <p:spPr>
          <a:xfrm>
            <a:off x="3629025" y="4321969"/>
            <a:ext cx="3286068" cy="73574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algn="ctr" defTabSz="514350"/>
            <a:endParaRPr sz="788" kern="0">
              <a:solidFill>
                <a:srgbClr val="000000"/>
              </a:solidFill>
              <a:latin typeface="Arial"/>
              <a:cs typeface="Arial"/>
              <a:sym typeface="Arial"/>
            </a:endParaRPr>
          </a:p>
        </p:txBody>
      </p:sp>
      <p:sp>
        <p:nvSpPr>
          <p:cNvPr id="5" name="Shape 598"/>
          <p:cNvSpPr txBox="1"/>
          <p:nvPr/>
        </p:nvSpPr>
        <p:spPr>
          <a:xfrm>
            <a:off x="1598414" y="4514850"/>
            <a:ext cx="1881485"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dirty="0" err="1">
                <a:solidFill>
                  <a:srgbClr val="FFFFFF"/>
                </a:solidFill>
                <a:latin typeface="Arial" charset="0"/>
                <a:ea typeface="Arial" charset="0"/>
                <a:cs typeface="Arial" charset="0"/>
                <a:sym typeface="Cabin"/>
              </a:rPr>
              <a:t>largest_so_far</a:t>
            </a:r>
            <a:endParaRPr lang="en-US" sz="2025" kern="0" dirty="0">
              <a:solidFill>
                <a:srgbClr val="FFFFFF"/>
              </a:solidFill>
              <a:latin typeface="Arial" charset="0"/>
              <a:ea typeface="Arial" charset="0"/>
              <a:cs typeface="Arial" charset="0"/>
              <a:sym typeface="Cabin"/>
            </a:endParaRPr>
          </a:p>
        </p:txBody>
      </p:sp>
      <p:sp>
        <p:nvSpPr>
          <p:cNvPr id="6" name="Shape 599"/>
          <p:cNvSpPr txBox="1"/>
          <p:nvPr/>
        </p:nvSpPr>
        <p:spPr>
          <a:xfrm>
            <a:off x="3736181" y="4378226"/>
            <a:ext cx="1190328" cy="623362"/>
          </a:xfrm>
          <a:prstGeom prst="rect">
            <a:avLst/>
          </a:prstGeom>
          <a:noFill/>
          <a:ln>
            <a:noFill/>
          </a:ln>
        </p:spPr>
        <p:txBody>
          <a:bodyPr lIns="0" tIns="0" rIns="0" bIns="0" anchor="ctr" anchorCtr="0">
            <a:noAutofit/>
          </a:bodyPr>
          <a:lstStyle/>
          <a:p>
            <a:pPr defTabSz="514350">
              <a:buClr>
                <a:srgbClr val="FF00FF"/>
              </a:buClr>
              <a:buSzPct val="25000"/>
            </a:pPr>
            <a:r>
              <a:rPr lang="en-US" sz="3038" kern="0" dirty="0">
                <a:solidFill>
                  <a:srgbClr val="FF00FF"/>
                </a:solidFill>
                <a:latin typeface="Arial" charset="0"/>
                <a:ea typeface="Arial" charset="0"/>
                <a:cs typeface="Arial" charset="0"/>
                <a:sym typeface="Cabin"/>
              </a:rPr>
              <a:t>41</a:t>
            </a:r>
          </a:p>
        </p:txBody>
      </p:sp>
    </p:spTree>
    <p:extLst>
      <p:ext uri="{BB962C8B-B14F-4D97-AF65-F5344CB8AC3E}">
        <p14:creationId xmlns:p14="http://schemas.microsoft.com/office/powerpoint/2010/main" val="34799115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Shape 562"/>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63" name="Shape 563"/>
          <p:cNvSpPr txBox="1"/>
          <p:nvPr/>
        </p:nvSpPr>
        <p:spPr>
          <a:xfrm>
            <a:off x="5031879"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9</a:t>
            </a:r>
          </a:p>
        </p:txBody>
      </p:sp>
      <p:sp>
        <p:nvSpPr>
          <p:cNvPr id="4" name="Shape 597"/>
          <p:cNvSpPr txBox="1"/>
          <p:nvPr/>
        </p:nvSpPr>
        <p:spPr>
          <a:xfrm>
            <a:off x="3629025" y="4321969"/>
            <a:ext cx="3286068" cy="73574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algn="ctr" defTabSz="514350"/>
            <a:endParaRPr sz="788" kern="0">
              <a:solidFill>
                <a:srgbClr val="000000"/>
              </a:solidFill>
              <a:latin typeface="Arial"/>
              <a:cs typeface="Arial"/>
              <a:sym typeface="Arial"/>
            </a:endParaRPr>
          </a:p>
        </p:txBody>
      </p:sp>
      <p:sp>
        <p:nvSpPr>
          <p:cNvPr id="5" name="Shape 598"/>
          <p:cNvSpPr txBox="1"/>
          <p:nvPr/>
        </p:nvSpPr>
        <p:spPr>
          <a:xfrm>
            <a:off x="1598414" y="4514850"/>
            <a:ext cx="1881485"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dirty="0" err="1">
                <a:solidFill>
                  <a:srgbClr val="FFFFFF"/>
                </a:solidFill>
                <a:latin typeface="Arial" charset="0"/>
                <a:ea typeface="Arial" charset="0"/>
                <a:cs typeface="Arial" charset="0"/>
                <a:sym typeface="Cabin"/>
              </a:rPr>
              <a:t>largest_so_far</a:t>
            </a:r>
            <a:endParaRPr lang="en-US" sz="2025" kern="0" dirty="0">
              <a:solidFill>
                <a:srgbClr val="FFFFFF"/>
              </a:solidFill>
              <a:latin typeface="Arial" charset="0"/>
              <a:ea typeface="Arial" charset="0"/>
              <a:cs typeface="Arial" charset="0"/>
              <a:sym typeface="Cabin"/>
            </a:endParaRPr>
          </a:p>
        </p:txBody>
      </p:sp>
      <p:sp>
        <p:nvSpPr>
          <p:cNvPr id="6" name="Shape 599"/>
          <p:cNvSpPr txBox="1"/>
          <p:nvPr/>
        </p:nvSpPr>
        <p:spPr>
          <a:xfrm>
            <a:off x="3736181" y="4378226"/>
            <a:ext cx="1190328" cy="623362"/>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41</a:t>
            </a:r>
            <a:endParaRPr lang="en-US" sz="3038" kern="0" dirty="0">
              <a:solidFill>
                <a:srgbClr val="FF00FF"/>
              </a:solidFill>
              <a:latin typeface="Arial" charset="0"/>
              <a:ea typeface="Arial" charset="0"/>
              <a:cs typeface="Arial" charset="0"/>
              <a:sym typeface="Cabin"/>
            </a:endParaRPr>
          </a:p>
        </p:txBody>
      </p:sp>
    </p:spTree>
    <p:extLst>
      <p:ext uri="{BB962C8B-B14F-4D97-AF65-F5344CB8AC3E}">
        <p14:creationId xmlns:p14="http://schemas.microsoft.com/office/powerpoint/2010/main" val="196170943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Shape 568"/>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69" name="Shape 569"/>
          <p:cNvSpPr txBox="1"/>
          <p:nvPr/>
        </p:nvSpPr>
        <p:spPr>
          <a:xfrm>
            <a:off x="6002536"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74</a:t>
            </a:r>
          </a:p>
        </p:txBody>
      </p:sp>
      <p:sp>
        <p:nvSpPr>
          <p:cNvPr id="4" name="Shape 597"/>
          <p:cNvSpPr txBox="1"/>
          <p:nvPr/>
        </p:nvSpPr>
        <p:spPr>
          <a:xfrm>
            <a:off x="3629025" y="4321969"/>
            <a:ext cx="3286068" cy="73574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algn="ctr" defTabSz="514350"/>
            <a:endParaRPr sz="788" kern="0">
              <a:solidFill>
                <a:srgbClr val="000000"/>
              </a:solidFill>
              <a:latin typeface="Arial"/>
              <a:cs typeface="Arial"/>
              <a:sym typeface="Arial"/>
            </a:endParaRPr>
          </a:p>
        </p:txBody>
      </p:sp>
      <p:sp>
        <p:nvSpPr>
          <p:cNvPr id="5" name="Shape 598"/>
          <p:cNvSpPr txBox="1"/>
          <p:nvPr/>
        </p:nvSpPr>
        <p:spPr>
          <a:xfrm>
            <a:off x="1598414" y="4514850"/>
            <a:ext cx="1881485" cy="349987"/>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dirty="0" err="1">
                <a:solidFill>
                  <a:srgbClr val="FFFFFF"/>
                </a:solidFill>
                <a:latin typeface="Arial" charset="0"/>
                <a:ea typeface="Arial" charset="0"/>
                <a:cs typeface="Arial" charset="0"/>
                <a:sym typeface="Cabin"/>
              </a:rPr>
              <a:t>largest_so_far</a:t>
            </a:r>
            <a:endParaRPr lang="en-US" sz="2025" kern="0" dirty="0">
              <a:solidFill>
                <a:srgbClr val="FFFFFF"/>
              </a:solidFill>
              <a:latin typeface="Arial" charset="0"/>
              <a:ea typeface="Arial" charset="0"/>
              <a:cs typeface="Arial" charset="0"/>
              <a:sym typeface="Cabin"/>
            </a:endParaRPr>
          </a:p>
        </p:txBody>
      </p:sp>
      <p:sp>
        <p:nvSpPr>
          <p:cNvPr id="6" name="Shape 599"/>
          <p:cNvSpPr txBox="1"/>
          <p:nvPr/>
        </p:nvSpPr>
        <p:spPr>
          <a:xfrm>
            <a:off x="3736181" y="4378226"/>
            <a:ext cx="1190328" cy="623362"/>
          </a:xfrm>
          <a:prstGeom prst="rect">
            <a:avLst/>
          </a:prstGeom>
          <a:noFill/>
          <a:ln>
            <a:noFill/>
          </a:ln>
        </p:spPr>
        <p:txBody>
          <a:bodyPr lIns="0" tIns="0" rIns="0" bIns="0" anchor="ctr" anchorCtr="0">
            <a:noAutofit/>
          </a:bodyPr>
          <a:lstStyle/>
          <a:p>
            <a:pPr defTabSz="514350">
              <a:buClr>
                <a:srgbClr val="FF00FF"/>
              </a:buClr>
              <a:buSzPct val="25000"/>
            </a:pPr>
            <a:r>
              <a:rPr lang="en-US" sz="3038" kern="0" dirty="0">
                <a:solidFill>
                  <a:srgbClr val="FF00FF"/>
                </a:solidFill>
                <a:latin typeface="Arial" charset="0"/>
                <a:ea typeface="Arial" charset="0"/>
                <a:cs typeface="Arial" charset="0"/>
                <a:sym typeface="Cabin"/>
              </a:rPr>
              <a:t>74</a:t>
            </a:r>
          </a:p>
        </p:txBody>
      </p:sp>
    </p:spTree>
    <p:extLst>
      <p:ext uri="{BB962C8B-B14F-4D97-AF65-F5344CB8AC3E}">
        <p14:creationId xmlns:p14="http://schemas.microsoft.com/office/powerpoint/2010/main" val="27580064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Shape 574"/>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75" name="Shape 575"/>
          <p:cNvSpPr txBox="1"/>
          <p:nvPr/>
        </p:nvSpPr>
        <p:spPr>
          <a:xfrm>
            <a:off x="7058026"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15</a:t>
            </a:r>
          </a:p>
        </p:txBody>
      </p:sp>
      <p:sp>
        <p:nvSpPr>
          <p:cNvPr id="4" name="Shape 597"/>
          <p:cNvSpPr txBox="1"/>
          <p:nvPr/>
        </p:nvSpPr>
        <p:spPr>
          <a:xfrm>
            <a:off x="3629025" y="4321969"/>
            <a:ext cx="3286068" cy="73574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algn="ctr" defTabSz="514350"/>
            <a:endParaRPr sz="788" kern="0">
              <a:solidFill>
                <a:srgbClr val="000000"/>
              </a:solidFill>
              <a:latin typeface="Arial"/>
              <a:cs typeface="Arial"/>
              <a:sym typeface="Arial"/>
            </a:endParaRPr>
          </a:p>
        </p:txBody>
      </p:sp>
      <p:sp>
        <p:nvSpPr>
          <p:cNvPr id="5" name="Shape 599"/>
          <p:cNvSpPr txBox="1"/>
          <p:nvPr/>
        </p:nvSpPr>
        <p:spPr>
          <a:xfrm>
            <a:off x="3736181" y="4378226"/>
            <a:ext cx="1190328" cy="623362"/>
          </a:xfrm>
          <a:prstGeom prst="rect">
            <a:avLst/>
          </a:prstGeom>
          <a:noFill/>
          <a:ln>
            <a:noFill/>
          </a:ln>
        </p:spPr>
        <p:txBody>
          <a:bodyPr lIns="0" tIns="0" rIns="0" bIns="0" anchor="ctr" anchorCtr="0">
            <a:noAutofit/>
          </a:bodyPr>
          <a:lstStyle/>
          <a:p>
            <a:pPr defTabSz="514350">
              <a:buClr>
                <a:srgbClr val="FF00FF"/>
              </a:buClr>
              <a:buSzPct val="25000"/>
            </a:pPr>
            <a:r>
              <a:rPr lang="en-US" sz="3038" kern="0" dirty="0">
                <a:solidFill>
                  <a:srgbClr val="FF00FF"/>
                </a:solidFill>
                <a:latin typeface="Arial" charset="0"/>
                <a:ea typeface="Arial" charset="0"/>
                <a:cs typeface="Arial" charset="0"/>
                <a:sym typeface="Cabin"/>
              </a:rPr>
              <a:t>74</a:t>
            </a:r>
          </a:p>
        </p:txBody>
      </p:sp>
    </p:spTree>
    <p:extLst>
      <p:ext uri="{BB962C8B-B14F-4D97-AF65-F5344CB8AC3E}">
        <p14:creationId xmlns:p14="http://schemas.microsoft.com/office/powerpoint/2010/main" val="34219339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Shape 585"/>
          <p:cNvSpPr txBox="1"/>
          <p:nvPr/>
        </p:nvSpPr>
        <p:spPr>
          <a:xfrm>
            <a:off x="2121694"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3</a:t>
            </a:r>
          </a:p>
        </p:txBody>
      </p:sp>
      <p:sp>
        <p:nvSpPr>
          <p:cNvPr id="586" name="Shape 586"/>
          <p:cNvSpPr txBox="1">
            <a:spLocks noGrp="1"/>
          </p:cNvSpPr>
          <p:nvPr>
            <p:ph type="title"/>
          </p:nvPr>
        </p:nvSpPr>
        <p:spPr>
          <a:prstGeom prst="rect">
            <a:avLst/>
          </a:prstGeom>
          <a:noFill/>
          <a:ln>
            <a:noFill/>
          </a:ln>
        </p:spPr>
        <p:txBody>
          <a:bodyPr lIns="21431" tIns="21431" rIns="21431" bIns="21431" anchor="ctr" anchorCtr="0">
            <a:noAutofit/>
          </a:bodyPr>
          <a:lstStyle/>
          <a:p>
            <a:pPr>
              <a:buClr>
                <a:schemeClr val="lt1"/>
              </a:buClr>
              <a:buSzPct val="25000"/>
            </a:pPr>
            <a:r>
              <a:rPr lang="en-US" sz="4275">
                <a:solidFill>
                  <a:srgbClr val="FFD966"/>
                </a:solidFill>
                <a:latin typeface="Arial" charset="0"/>
                <a:ea typeface="Arial" charset="0"/>
                <a:cs typeface="Arial" charset="0"/>
                <a:sym typeface="Cabin"/>
              </a:rPr>
              <a:t>What is the Largest Number?</a:t>
            </a:r>
          </a:p>
        </p:txBody>
      </p:sp>
      <p:sp>
        <p:nvSpPr>
          <p:cNvPr id="587" name="Shape 587"/>
          <p:cNvSpPr txBox="1"/>
          <p:nvPr/>
        </p:nvSpPr>
        <p:spPr>
          <a:xfrm>
            <a:off x="3005733"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41</a:t>
            </a:r>
          </a:p>
        </p:txBody>
      </p:sp>
      <p:sp>
        <p:nvSpPr>
          <p:cNvPr id="588" name="Shape 588"/>
          <p:cNvSpPr txBox="1"/>
          <p:nvPr/>
        </p:nvSpPr>
        <p:spPr>
          <a:xfrm>
            <a:off x="4019252"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12</a:t>
            </a:r>
          </a:p>
        </p:txBody>
      </p:sp>
      <p:sp>
        <p:nvSpPr>
          <p:cNvPr id="589" name="Shape 589"/>
          <p:cNvSpPr txBox="1"/>
          <p:nvPr/>
        </p:nvSpPr>
        <p:spPr>
          <a:xfrm>
            <a:off x="5031879"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9</a:t>
            </a:r>
          </a:p>
        </p:txBody>
      </p:sp>
      <p:sp>
        <p:nvSpPr>
          <p:cNvPr id="590" name="Shape 590"/>
          <p:cNvSpPr txBox="1"/>
          <p:nvPr/>
        </p:nvSpPr>
        <p:spPr>
          <a:xfrm>
            <a:off x="6002536"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74</a:t>
            </a:r>
          </a:p>
        </p:txBody>
      </p:sp>
      <p:sp>
        <p:nvSpPr>
          <p:cNvPr id="591" name="Shape 591"/>
          <p:cNvSpPr txBox="1"/>
          <p:nvPr/>
        </p:nvSpPr>
        <p:spPr>
          <a:xfrm>
            <a:off x="7058026" y="2887861"/>
            <a:ext cx="564299" cy="664369"/>
          </a:xfrm>
          <a:prstGeom prst="rect">
            <a:avLst/>
          </a:prstGeom>
          <a:noFill/>
          <a:ln>
            <a:noFill/>
          </a:ln>
        </p:spPr>
        <p:txBody>
          <a:bodyPr lIns="0" tIns="0" rIns="0" bIns="0" anchor="ctr" anchorCtr="0">
            <a:noAutofit/>
          </a:bodyPr>
          <a:lstStyle/>
          <a:p>
            <a:pPr defTabSz="514350">
              <a:buClr>
                <a:srgbClr val="FF00FF"/>
              </a:buClr>
              <a:buSzPct val="25000"/>
            </a:pPr>
            <a:r>
              <a:rPr lang="en-US" sz="3038" kern="0">
                <a:solidFill>
                  <a:srgbClr val="FF00FF"/>
                </a:solidFill>
                <a:latin typeface="Arial" charset="0"/>
                <a:ea typeface="Arial" charset="0"/>
                <a:cs typeface="Arial" charset="0"/>
                <a:sym typeface="Cabin"/>
              </a:rPr>
              <a:t>15</a:t>
            </a:r>
          </a:p>
        </p:txBody>
      </p:sp>
      <p:sp>
        <p:nvSpPr>
          <p:cNvPr id="9" name="Shape 597"/>
          <p:cNvSpPr txBox="1"/>
          <p:nvPr/>
        </p:nvSpPr>
        <p:spPr>
          <a:xfrm>
            <a:off x="3629025" y="4321969"/>
            <a:ext cx="3286068" cy="735749"/>
          </a:xfrm>
          <a:prstGeom prst="rect">
            <a:avLst/>
          </a:prstGeom>
          <a:noFill/>
          <a:ln w="25400" cap="rnd" cmpd="sng">
            <a:solidFill>
              <a:srgbClr val="00FF00"/>
            </a:solidFill>
            <a:prstDash val="solid"/>
            <a:miter/>
            <a:headEnd type="none" w="med" len="med"/>
            <a:tailEnd type="none" w="med" len="med"/>
          </a:ln>
        </p:spPr>
        <p:txBody>
          <a:bodyPr lIns="0" tIns="0" rIns="0" bIns="0" anchor="t" anchorCtr="0">
            <a:noAutofit/>
          </a:bodyPr>
          <a:lstStyle/>
          <a:p>
            <a:pPr algn="ctr" defTabSz="514350"/>
            <a:endParaRPr sz="788" kern="0">
              <a:solidFill>
                <a:srgbClr val="000000"/>
              </a:solidFill>
              <a:latin typeface="Arial"/>
              <a:cs typeface="Arial"/>
              <a:sym typeface="Arial"/>
            </a:endParaRPr>
          </a:p>
        </p:txBody>
      </p:sp>
      <p:sp>
        <p:nvSpPr>
          <p:cNvPr id="10" name="Shape 599"/>
          <p:cNvSpPr txBox="1"/>
          <p:nvPr/>
        </p:nvSpPr>
        <p:spPr>
          <a:xfrm>
            <a:off x="3736181" y="4378226"/>
            <a:ext cx="1190328" cy="623362"/>
          </a:xfrm>
          <a:prstGeom prst="rect">
            <a:avLst/>
          </a:prstGeom>
          <a:noFill/>
          <a:ln>
            <a:noFill/>
          </a:ln>
        </p:spPr>
        <p:txBody>
          <a:bodyPr lIns="0" tIns="0" rIns="0" bIns="0" anchor="ctr" anchorCtr="0">
            <a:noAutofit/>
          </a:bodyPr>
          <a:lstStyle/>
          <a:p>
            <a:pPr defTabSz="514350">
              <a:buClr>
                <a:srgbClr val="FF00FF"/>
              </a:buClr>
              <a:buSzPct val="25000"/>
            </a:pPr>
            <a:r>
              <a:rPr lang="en-US" sz="3038" kern="0" dirty="0">
                <a:solidFill>
                  <a:srgbClr val="FF00FF"/>
                </a:solidFill>
                <a:latin typeface="Arial" charset="0"/>
                <a:ea typeface="Arial" charset="0"/>
                <a:cs typeface="Arial" charset="0"/>
                <a:sym typeface="Cabin"/>
              </a:rPr>
              <a:t>74</a:t>
            </a:r>
          </a:p>
        </p:txBody>
      </p:sp>
    </p:spTree>
    <p:extLst>
      <p:ext uri="{BB962C8B-B14F-4D97-AF65-F5344CB8AC3E}">
        <p14:creationId xmlns:p14="http://schemas.microsoft.com/office/powerpoint/2010/main" val="24899326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Shape 672"/>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Finding the Largest Value</a:t>
            </a:r>
          </a:p>
        </p:txBody>
      </p:sp>
      <p:sp>
        <p:nvSpPr>
          <p:cNvPr id="673" name="Shape 673"/>
          <p:cNvSpPr txBox="1"/>
          <p:nvPr/>
        </p:nvSpPr>
        <p:spPr>
          <a:xfrm>
            <a:off x="911461" y="2549939"/>
            <a:ext cx="4497693" cy="1869919"/>
          </a:xfrm>
          <a:prstGeom prst="rect">
            <a:avLst/>
          </a:prstGeom>
          <a:noFill/>
          <a:ln>
            <a:noFill/>
          </a:ln>
        </p:spPr>
        <p:txBody>
          <a:bodyPr lIns="0" tIns="0" rIns="0" bIns="0" anchor="ctr" anchorCtr="0">
            <a:noAutofit/>
          </a:bodyPr>
          <a:lstStyle/>
          <a:p>
            <a:pPr defTabSz="514350">
              <a:buClr>
                <a:srgbClr val="00FFFF"/>
              </a:buClr>
              <a:buSzPct val="25000"/>
            </a:pPr>
            <a:r>
              <a:rPr lang="en-US" sz="1463" b="1" kern="0" dirty="0" err="1">
                <a:solidFill>
                  <a:srgbClr val="00FF00"/>
                </a:solidFill>
                <a:latin typeface="Courier"/>
                <a:ea typeface="Courier"/>
                <a:cs typeface="Courier"/>
                <a:sym typeface="Courier New"/>
              </a:rPr>
              <a:t>largest_so_far</a:t>
            </a:r>
            <a:r>
              <a:rPr lang="en-US" sz="1463" b="1" kern="0" dirty="0">
                <a:solidFill>
                  <a:srgbClr val="00FF00"/>
                </a:solidFill>
                <a:latin typeface="Courier"/>
                <a:ea typeface="Courier"/>
                <a:cs typeface="Courier"/>
                <a:sym typeface="Courier New"/>
              </a:rPr>
              <a:t> = -1</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 </a:t>
            </a:r>
            <a:r>
              <a:rPr lang="en-US" sz="1463" b="1" kern="0" dirty="0" err="1">
                <a:solidFill>
                  <a:srgbClr val="00FF00"/>
                </a:solidFill>
                <a:latin typeface="Courier"/>
                <a:ea typeface="Courier"/>
                <a:cs typeface="Courier"/>
                <a:sym typeface="Courier New"/>
              </a:rPr>
              <a:t>largest_so_far</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a:t>
            </a:r>
            <a:r>
              <a:rPr lang="en-US" sz="1463" b="1" kern="0" dirty="0" err="1">
                <a:solidFill>
                  <a:srgbClr val="FF00FF"/>
                </a:solidFill>
                <a:latin typeface="Courier"/>
                <a:ea typeface="Courier"/>
                <a:cs typeface="Courier"/>
                <a:sym typeface="Courier New"/>
              </a:rPr>
              <a:t>the_num</a:t>
            </a: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a:t>
            </a:r>
          </a:p>
          <a:p>
            <a:pPr defTabSz="514350">
              <a:buClr>
                <a:srgbClr val="FFFF00"/>
              </a:buClr>
              <a:buSzPct val="25000"/>
            </a:pPr>
            <a:r>
              <a:rPr lang="en-US" sz="1463" b="1" kern="0" dirty="0">
                <a:solidFill>
                  <a:srgbClr val="FF00FF"/>
                </a:solidFill>
                <a:latin typeface="Courier"/>
                <a:ea typeface="Courier"/>
                <a:cs typeface="Courier"/>
                <a:sym typeface="Courier New"/>
              </a:rPr>
              <a:t>   if </a:t>
            </a:r>
            <a:r>
              <a:rPr lang="en-US" sz="1463" b="1" kern="0" dirty="0" err="1">
                <a:solidFill>
                  <a:srgbClr val="FF00FF"/>
                </a:solidFill>
                <a:latin typeface="Courier"/>
                <a:ea typeface="Courier"/>
                <a:cs typeface="Courier"/>
                <a:sym typeface="Courier New"/>
              </a:rPr>
              <a:t>the_num</a:t>
            </a:r>
            <a:r>
              <a:rPr lang="en-US" sz="1463" b="1" kern="0" dirty="0">
                <a:solidFill>
                  <a:srgbClr val="FF00FF"/>
                </a:solidFill>
                <a:latin typeface="Courier"/>
                <a:ea typeface="Courier"/>
                <a:cs typeface="Courier"/>
                <a:sym typeface="Courier New"/>
              </a:rPr>
              <a:t> &gt; </a:t>
            </a:r>
            <a:r>
              <a:rPr lang="en-US" sz="1463" b="1" kern="0" dirty="0" err="1">
                <a:solidFill>
                  <a:srgbClr val="00FF00"/>
                </a:solidFill>
                <a:latin typeface="Courier"/>
                <a:ea typeface="Courier"/>
                <a:cs typeface="Courier"/>
                <a:sym typeface="Courier New"/>
              </a:rPr>
              <a:t>largest_so_far</a:t>
            </a:r>
            <a:r>
              <a:rPr lang="en-US" sz="1463" b="1" kern="0" dirty="0">
                <a:solidFill>
                  <a:srgbClr val="FF00FF"/>
                </a:solidFill>
                <a:latin typeface="Courier"/>
                <a:ea typeface="Courier"/>
                <a:cs typeface="Courier"/>
                <a:sym typeface="Courier New"/>
              </a:rPr>
              <a:t> :</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err="1">
                <a:solidFill>
                  <a:srgbClr val="00FF00"/>
                </a:solidFill>
                <a:latin typeface="Courier"/>
                <a:ea typeface="Courier"/>
                <a:cs typeface="Courier"/>
                <a:sym typeface="Courier New"/>
              </a:rPr>
              <a:t>largest_so_far</a:t>
            </a:r>
            <a:r>
              <a:rPr lang="en-US" sz="1463" b="1" kern="0" dirty="0">
                <a:solidFill>
                  <a:srgbClr val="00FF00"/>
                </a:solidFill>
                <a:latin typeface="Courier"/>
                <a:ea typeface="Courier"/>
                <a:cs typeface="Courier"/>
                <a:sym typeface="Courier New"/>
              </a:rPr>
              <a:t> = </a:t>
            </a:r>
            <a:r>
              <a:rPr lang="en-US" sz="1463" b="1" kern="0" dirty="0" err="1">
                <a:solidFill>
                  <a:srgbClr val="FF00FF"/>
                </a:solidFill>
                <a:latin typeface="Courier"/>
                <a:ea typeface="Courier"/>
                <a:cs typeface="Courier"/>
                <a:sym typeface="Courier New"/>
              </a:rPr>
              <a:t>the_num</a:t>
            </a:r>
            <a:endParaRPr lang="en-US" sz="1463" b="1" kern="0" dirty="0">
              <a:solidFill>
                <a:srgbClr val="FF00FF"/>
              </a:solidFill>
              <a:latin typeface="Courier"/>
              <a:ea typeface="Courier"/>
              <a:cs typeface="Courier"/>
              <a:sym typeface="Courier New"/>
            </a:endParaRP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err="1">
                <a:solidFill>
                  <a:srgbClr val="00FF00"/>
                </a:solidFill>
                <a:latin typeface="Courier"/>
                <a:ea typeface="Courier"/>
                <a:cs typeface="Courier"/>
                <a:sym typeface="Courier New"/>
              </a:rPr>
              <a:t>largest_so_far</a:t>
            </a:r>
            <a:r>
              <a:rPr lang="en-US" sz="1463" b="1" kern="0" dirty="0">
                <a:solidFill>
                  <a:srgbClr val="00FF00"/>
                </a:solidFill>
                <a:latin typeface="Courier"/>
                <a:ea typeface="Courier"/>
                <a:cs typeface="Courier"/>
                <a:sym typeface="Courier New"/>
              </a:rPr>
              <a:t>,</a:t>
            </a:r>
            <a:r>
              <a:rPr lang="en-US" sz="1463" b="1" kern="0" dirty="0">
                <a:solidFill>
                  <a:srgbClr val="FF00FF"/>
                </a:solidFill>
                <a:latin typeface="Courier"/>
                <a:ea typeface="Courier"/>
                <a:cs typeface="Courier"/>
                <a:sym typeface="Courier New"/>
              </a:rPr>
              <a:t> </a:t>
            </a:r>
            <a:r>
              <a:rPr lang="en-US" sz="1463" b="1" kern="0" dirty="0" err="1">
                <a:solidFill>
                  <a:srgbClr val="FF00FF"/>
                </a:solidFill>
                <a:latin typeface="Courier"/>
                <a:ea typeface="Courier"/>
                <a:cs typeface="Courier"/>
                <a:sym typeface="Courier New"/>
              </a:rPr>
              <a:t>the_num</a:t>
            </a:r>
            <a:r>
              <a:rPr lang="en-US" sz="1463" b="1" kern="0" dirty="0">
                <a:solidFill>
                  <a:srgbClr val="FFFFFF"/>
                </a:solidFill>
                <a:latin typeface="Courier"/>
                <a:ea typeface="Courier"/>
                <a:cs typeface="Courier"/>
                <a:sym typeface="Courier New"/>
              </a:rPr>
              <a:t>)</a:t>
            </a:r>
          </a:p>
          <a:p>
            <a:pPr defTabSz="514350">
              <a:buClr>
                <a:srgbClr val="FF00FF"/>
              </a:buClr>
            </a:pPr>
            <a:endParaRPr sz="1463" b="1" kern="0" dirty="0">
              <a:solidFill>
                <a:srgbClr val="FF00FF"/>
              </a:solidFill>
              <a:latin typeface="Courier"/>
              <a:ea typeface="Courier"/>
              <a:cs typeface="Courier"/>
              <a:sym typeface="Courier New"/>
            </a:endParaRP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 </a:t>
            </a:r>
            <a:r>
              <a:rPr lang="en-US" sz="1463" b="1" kern="0" dirty="0" err="1">
                <a:solidFill>
                  <a:srgbClr val="00FF00"/>
                </a:solidFill>
                <a:latin typeface="Courier"/>
                <a:ea typeface="Courier"/>
                <a:cs typeface="Courier"/>
                <a:sym typeface="Courier New"/>
              </a:rPr>
              <a:t>largest_so_far</a:t>
            </a:r>
            <a:r>
              <a:rPr lang="en-US" sz="1463" b="1" kern="0" dirty="0">
                <a:solidFill>
                  <a:srgbClr val="FFFFFF"/>
                </a:solidFill>
                <a:latin typeface="Courier"/>
                <a:ea typeface="Courier"/>
                <a:cs typeface="Courier"/>
                <a:sym typeface="Courier New"/>
              </a:rPr>
              <a:t>)</a:t>
            </a:r>
          </a:p>
        </p:txBody>
      </p:sp>
      <p:sp>
        <p:nvSpPr>
          <p:cNvPr id="674" name="Shape 674"/>
          <p:cNvSpPr txBox="1"/>
          <p:nvPr/>
        </p:nvSpPr>
        <p:spPr>
          <a:xfrm>
            <a:off x="5772150" y="2143125"/>
            <a:ext cx="2373468" cy="2804793"/>
          </a:xfrm>
          <a:prstGeom prst="rect">
            <a:avLst/>
          </a:prstGeom>
          <a:noFill/>
          <a:ln>
            <a:noFill/>
          </a:ln>
        </p:spPr>
        <p:txBody>
          <a:bodyPr lIns="0" tIns="0" rIns="0" bIns="0" anchor="ctr" anchorCtr="0">
            <a:noAutofit/>
          </a:bodyPr>
          <a:lstStyle/>
          <a:p>
            <a:pPr defTabSz="514350">
              <a:buClr>
                <a:srgbClr val="FFFFFF"/>
              </a:buClr>
              <a:buSzPct val="25000"/>
            </a:pPr>
            <a:r>
              <a:rPr lang="en-US" sz="1688" kern="0">
                <a:solidFill>
                  <a:srgbClr val="FFFFFF"/>
                </a:solidFill>
                <a:latin typeface="Arial" charset="0"/>
                <a:ea typeface="Arial" charset="0"/>
                <a:cs typeface="Arial" charset="0"/>
                <a:sym typeface="Cabin"/>
              </a:rPr>
              <a:t>$</a:t>
            </a:r>
            <a:r>
              <a:rPr lang="en-US" sz="1688" kern="0">
                <a:solidFill>
                  <a:srgbClr val="FFFF00"/>
                </a:solidFill>
                <a:latin typeface="Arial" charset="0"/>
                <a:ea typeface="Arial" charset="0"/>
                <a:cs typeface="Arial" charset="0"/>
                <a:sym typeface="Cabin"/>
              </a:rPr>
              <a:t> python largest.py</a:t>
            </a:r>
          </a:p>
          <a:p>
            <a:pPr defTabSz="514350">
              <a:buClr>
                <a:srgbClr val="FF7F00"/>
              </a:buClr>
              <a:buSzPct val="25000"/>
            </a:pPr>
            <a:r>
              <a:rPr lang="en-US" sz="1688" kern="0">
                <a:solidFill>
                  <a:srgbClr val="FF7F00"/>
                </a:solidFill>
                <a:latin typeface="Arial" charset="0"/>
                <a:ea typeface="Arial" charset="0"/>
                <a:cs typeface="Arial" charset="0"/>
                <a:sym typeface="Cabin"/>
              </a:rPr>
              <a:t>Before </a:t>
            </a:r>
            <a:r>
              <a:rPr lang="en-US" sz="1688" kern="0">
                <a:solidFill>
                  <a:srgbClr val="00FFFF"/>
                </a:solidFill>
                <a:latin typeface="Arial" charset="0"/>
                <a:ea typeface="Arial" charset="0"/>
                <a:cs typeface="Arial" charset="0"/>
                <a:sym typeface="Cabin"/>
              </a:rPr>
              <a:t>-1</a:t>
            </a:r>
          </a:p>
          <a:p>
            <a:pPr defTabSz="514350">
              <a:buClr>
                <a:srgbClr val="00FFFF"/>
              </a:buClr>
              <a:buSzPct val="25000"/>
            </a:pPr>
            <a:r>
              <a:rPr lang="en-US" sz="1688" kern="0">
                <a:solidFill>
                  <a:srgbClr val="00FF00"/>
                </a:solidFill>
                <a:latin typeface="Arial" charset="0"/>
                <a:ea typeface="Arial" charset="0"/>
                <a:cs typeface="Arial" charset="0"/>
                <a:sym typeface="Cabin"/>
              </a:rPr>
              <a:t>9</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9</a:t>
            </a:r>
          </a:p>
          <a:p>
            <a:pPr defTabSz="514350">
              <a:buClr>
                <a:srgbClr val="00FFFF"/>
              </a:buClr>
              <a:buSzPct val="25000"/>
            </a:pPr>
            <a:r>
              <a:rPr lang="en-US" sz="1688" kern="0">
                <a:solidFill>
                  <a:srgbClr val="00FF00"/>
                </a:solidFill>
                <a:latin typeface="Arial" charset="0"/>
                <a:ea typeface="Arial" charset="0"/>
                <a:cs typeface="Arial" charset="0"/>
                <a:sym typeface="Cabin"/>
              </a:rPr>
              <a:t>41</a:t>
            </a:r>
            <a:r>
              <a:rPr lang="en-US" sz="1688" kern="0">
                <a:solidFill>
                  <a:srgbClr val="FF00FF"/>
                </a:solidFill>
                <a:latin typeface="Arial" charset="0"/>
                <a:ea typeface="Arial" charset="0"/>
                <a:cs typeface="Arial" charset="0"/>
                <a:sym typeface="Cabin"/>
              </a:rPr>
              <a:t>  41</a:t>
            </a:r>
          </a:p>
          <a:p>
            <a:pPr defTabSz="514350">
              <a:buClr>
                <a:srgbClr val="00FFFF"/>
              </a:buClr>
              <a:buSzPct val="25000"/>
            </a:pPr>
            <a:r>
              <a:rPr lang="en-US" sz="1688" kern="0">
                <a:solidFill>
                  <a:srgbClr val="00FF00"/>
                </a:solidFill>
                <a:latin typeface="Arial" charset="0"/>
                <a:ea typeface="Arial" charset="0"/>
                <a:cs typeface="Arial" charset="0"/>
                <a:sym typeface="Cabin"/>
              </a:rPr>
              <a:t>41</a:t>
            </a:r>
            <a:r>
              <a:rPr lang="en-US" sz="1688" kern="0">
                <a:solidFill>
                  <a:srgbClr val="FF00FF"/>
                </a:solidFill>
                <a:latin typeface="Arial" charset="0"/>
                <a:ea typeface="Arial" charset="0"/>
                <a:cs typeface="Arial" charset="0"/>
                <a:sym typeface="Cabin"/>
              </a:rPr>
              <a:t> 12</a:t>
            </a:r>
          </a:p>
          <a:p>
            <a:pPr defTabSz="514350">
              <a:buClr>
                <a:srgbClr val="00FFFF"/>
              </a:buClr>
              <a:buSzPct val="25000"/>
            </a:pPr>
            <a:r>
              <a:rPr lang="en-US" sz="1688" kern="0">
                <a:solidFill>
                  <a:srgbClr val="00FF00"/>
                </a:solidFill>
                <a:latin typeface="Arial" charset="0"/>
                <a:ea typeface="Arial" charset="0"/>
                <a:cs typeface="Arial" charset="0"/>
                <a:sym typeface="Cabin"/>
              </a:rPr>
              <a:t>41</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3</a:t>
            </a:r>
          </a:p>
          <a:p>
            <a:pPr defTabSz="514350">
              <a:buClr>
                <a:srgbClr val="00FFFF"/>
              </a:buClr>
              <a:buSzPct val="25000"/>
            </a:pPr>
            <a:r>
              <a:rPr lang="en-US" sz="1688" kern="0">
                <a:solidFill>
                  <a:srgbClr val="00FF00"/>
                </a:solidFill>
                <a:latin typeface="Arial" charset="0"/>
                <a:ea typeface="Arial" charset="0"/>
                <a:cs typeface="Arial" charset="0"/>
                <a:sym typeface="Cabin"/>
              </a:rPr>
              <a:t>74</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74</a:t>
            </a:r>
          </a:p>
          <a:p>
            <a:pPr defTabSz="514350">
              <a:buClr>
                <a:srgbClr val="00FFFF"/>
              </a:buClr>
              <a:buSzPct val="25000"/>
            </a:pPr>
            <a:r>
              <a:rPr lang="en-US" sz="1688" kern="0">
                <a:solidFill>
                  <a:srgbClr val="00FF00"/>
                </a:solidFill>
                <a:latin typeface="Arial" charset="0"/>
                <a:ea typeface="Arial" charset="0"/>
                <a:cs typeface="Arial" charset="0"/>
                <a:sym typeface="Cabin"/>
              </a:rPr>
              <a:t>74</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15</a:t>
            </a:r>
          </a:p>
          <a:p>
            <a:pPr defTabSz="514350">
              <a:buClr>
                <a:srgbClr val="FF7F00"/>
              </a:buClr>
              <a:buSzPct val="25000"/>
            </a:pPr>
            <a:r>
              <a:rPr lang="en-US" sz="1688" kern="0">
                <a:solidFill>
                  <a:srgbClr val="FF7F00"/>
                </a:solidFill>
                <a:latin typeface="Arial" charset="0"/>
                <a:ea typeface="Arial" charset="0"/>
                <a:cs typeface="Arial" charset="0"/>
                <a:sym typeface="Cabin"/>
              </a:rPr>
              <a:t>After </a:t>
            </a:r>
            <a:r>
              <a:rPr lang="en-US" sz="1688" kern="0">
                <a:solidFill>
                  <a:srgbClr val="00FFFF"/>
                </a:solidFill>
                <a:latin typeface="Arial" charset="0"/>
                <a:ea typeface="Arial" charset="0"/>
                <a:cs typeface="Arial" charset="0"/>
                <a:sym typeface="Cabin"/>
              </a:rPr>
              <a:t>74</a:t>
            </a:r>
          </a:p>
        </p:txBody>
      </p:sp>
      <p:sp>
        <p:nvSpPr>
          <p:cNvPr id="675" name="Shape 675"/>
          <p:cNvSpPr txBox="1"/>
          <p:nvPr/>
        </p:nvSpPr>
        <p:spPr>
          <a:xfrm>
            <a:off x="509921" y="4904184"/>
            <a:ext cx="8301149" cy="734914"/>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sz="1688" kern="0">
                <a:solidFill>
                  <a:srgbClr val="FFFFFF"/>
                </a:solidFill>
                <a:latin typeface="Arial" charset="0"/>
                <a:ea typeface="Arial" charset="0"/>
                <a:cs typeface="Arial" charset="0"/>
                <a:sym typeface="Cabin"/>
              </a:rPr>
              <a:t>We make a </a:t>
            </a:r>
            <a:r>
              <a:rPr lang="en-US" sz="1688" kern="0">
                <a:solidFill>
                  <a:srgbClr val="BBE0E3"/>
                </a:solidFill>
                <a:latin typeface="Arial" charset="0"/>
                <a:ea typeface="Arial" charset="0"/>
                <a:cs typeface="Arial" charset="0"/>
                <a:sym typeface="Cabin"/>
              </a:rPr>
              <a:t>variable</a:t>
            </a:r>
            <a:r>
              <a:rPr lang="en-US" sz="1688" kern="0">
                <a:solidFill>
                  <a:srgbClr val="FFFFFF"/>
                </a:solidFill>
                <a:latin typeface="Arial" charset="0"/>
                <a:ea typeface="Arial" charset="0"/>
                <a:cs typeface="Arial" charset="0"/>
                <a:sym typeface="Cabin"/>
              </a:rPr>
              <a:t> that contains the </a:t>
            </a:r>
            <a:r>
              <a:rPr lang="en-US" sz="1688" kern="0">
                <a:solidFill>
                  <a:srgbClr val="BBE0E3"/>
                </a:solidFill>
                <a:latin typeface="Arial" charset="0"/>
                <a:ea typeface="Arial" charset="0"/>
                <a:cs typeface="Arial" charset="0"/>
                <a:sym typeface="Cabin"/>
              </a:rPr>
              <a:t>largest value we have seen so far</a:t>
            </a:r>
            <a:r>
              <a:rPr lang="en-US" sz="1688" kern="0">
                <a:solidFill>
                  <a:srgbClr val="FFFFFF"/>
                </a:solidFill>
                <a:latin typeface="Arial" charset="0"/>
                <a:ea typeface="Arial" charset="0"/>
                <a:cs typeface="Arial" charset="0"/>
                <a:sym typeface="Cabin"/>
              </a:rPr>
              <a:t>. </a:t>
            </a:r>
            <a:r>
              <a:rPr lang="en-US" sz="1688" kern="0" dirty="0">
                <a:solidFill>
                  <a:srgbClr val="FFFFFF"/>
                </a:solidFill>
                <a:latin typeface="Arial" charset="0"/>
                <a:ea typeface="Arial" charset="0"/>
                <a:cs typeface="Arial" charset="0"/>
                <a:sym typeface="Cabin"/>
              </a:rPr>
              <a:t>If the current </a:t>
            </a:r>
            <a:r>
              <a:rPr lang="en-US" sz="1688" kern="0" dirty="0">
                <a:solidFill>
                  <a:srgbClr val="FF00FF"/>
                </a:solidFill>
                <a:latin typeface="Arial" charset="0"/>
                <a:ea typeface="Arial" charset="0"/>
                <a:cs typeface="Arial" charset="0"/>
                <a:sym typeface="Cabin"/>
              </a:rPr>
              <a:t>number we are looking at</a:t>
            </a:r>
            <a:r>
              <a:rPr lang="en-US" sz="1688" kern="0" dirty="0">
                <a:solidFill>
                  <a:srgbClr val="FFFFFF"/>
                </a:solidFill>
                <a:latin typeface="Arial" charset="0"/>
                <a:ea typeface="Arial" charset="0"/>
                <a:cs typeface="Arial" charset="0"/>
                <a:sym typeface="Cabin"/>
              </a:rPr>
              <a:t> is larger, it is the new </a:t>
            </a:r>
            <a:r>
              <a:rPr lang="en-US" sz="1688" kern="0" dirty="0">
                <a:solidFill>
                  <a:srgbClr val="00FF00"/>
                </a:solidFill>
                <a:latin typeface="Arial" charset="0"/>
                <a:ea typeface="Arial" charset="0"/>
                <a:cs typeface="Arial" charset="0"/>
                <a:sym typeface="Cabin"/>
              </a:rPr>
              <a:t>largest value we have seen so far</a:t>
            </a:r>
            <a:r>
              <a:rPr lang="en-US" sz="1688" kern="0" dirty="0">
                <a:solidFill>
                  <a:srgbClr val="FFFFFF"/>
                </a:solidFill>
                <a:latin typeface="Arial" charset="0"/>
                <a:ea typeface="Arial" charset="0"/>
                <a:cs typeface="Arial" charset="0"/>
                <a:sym typeface="Cabin"/>
              </a:rPr>
              <a:t>.</a:t>
            </a:r>
          </a:p>
        </p:txBody>
      </p:sp>
    </p:spTree>
    <p:extLst>
      <p:ext uri="{BB962C8B-B14F-4D97-AF65-F5344CB8AC3E}">
        <p14:creationId xmlns:p14="http://schemas.microsoft.com/office/powerpoint/2010/main" val="4279014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FFD966"/>
                </a:solidFill>
              </a:rPr>
              <a:t>More Loop Patterns</a:t>
            </a:r>
            <a:r>
              <a:rPr lang="is-IS" dirty="0">
                <a:solidFill>
                  <a:srgbClr val="FFD966"/>
                </a:solidFill>
              </a:rPr>
              <a:t>…</a:t>
            </a:r>
            <a:endParaRPr lang="en-US" dirty="0">
              <a:solidFill>
                <a:srgbClr val="FFD966"/>
              </a:solidFill>
            </a:endParaRPr>
          </a:p>
        </p:txBody>
      </p:sp>
    </p:spTree>
    <p:extLst>
      <p:ext uri="{BB962C8B-B14F-4D97-AF65-F5344CB8AC3E}">
        <p14:creationId xmlns:p14="http://schemas.microsoft.com/office/powerpoint/2010/main" val="91605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Shape 680"/>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Counting in a Loop</a:t>
            </a:r>
          </a:p>
        </p:txBody>
      </p:sp>
      <p:sp>
        <p:nvSpPr>
          <p:cNvPr id="681" name="Shape 681"/>
          <p:cNvSpPr txBox="1"/>
          <p:nvPr/>
        </p:nvSpPr>
        <p:spPr>
          <a:xfrm>
            <a:off x="979580" y="2347608"/>
            <a:ext cx="4497693" cy="1869919"/>
          </a:xfrm>
          <a:prstGeom prst="rect">
            <a:avLst/>
          </a:prstGeom>
          <a:noFill/>
          <a:ln>
            <a:noFill/>
          </a:ln>
        </p:spPr>
        <p:txBody>
          <a:bodyPr lIns="0" tIns="0" rIns="0" bIns="0" anchor="ctr" anchorCtr="0">
            <a:noAutofit/>
          </a:bodyPr>
          <a:lstStyle/>
          <a:p>
            <a:pPr defTabSz="514350">
              <a:buClr>
                <a:srgbClr val="00FFFF"/>
              </a:buClr>
              <a:buSzPct val="25000"/>
            </a:pPr>
            <a:r>
              <a:rPr lang="en-US" sz="1463" b="1" kern="0" dirty="0" err="1">
                <a:solidFill>
                  <a:srgbClr val="00FFFF"/>
                </a:solidFill>
                <a:latin typeface="Courier"/>
                <a:ea typeface="Courier"/>
                <a:cs typeface="Courier"/>
                <a:sym typeface="Courier New"/>
              </a:rPr>
              <a:t>zork</a:t>
            </a:r>
            <a:r>
              <a:rPr lang="en-US" sz="1463" b="1" kern="0" dirty="0">
                <a:solidFill>
                  <a:srgbClr val="00FFFF"/>
                </a:solidFill>
                <a:latin typeface="Courier"/>
                <a:ea typeface="Courier"/>
                <a:cs typeface="Courier"/>
                <a:sym typeface="Courier New"/>
              </a:rPr>
              <a:t> = 0</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 </a:t>
            </a:r>
            <a:r>
              <a:rPr lang="en-US" sz="1463" b="1" kern="0" dirty="0" err="1">
                <a:solidFill>
                  <a:srgbClr val="FF7F00"/>
                </a:solidFill>
                <a:latin typeface="Courier"/>
                <a:ea typeface="Courier"/>
                <a:cs typeface="Courier"/>
                <a:sym typeface="Courier New"/>
              </a:rPr>
              <a:t>zork</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thing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err="1">
                <a:solidFill>
                  <a:srgbClr val="00FFFF"/>
                </a:solidFill>
                <a:latin typeface="Courier"/>
                <a:ea typeface="Courier"/>
                <a:cs typeface="Courier"/>
                <a:sym typeface="Courier New"/>
              </a:rPr>
              <a:t>zork</a:t>
            </a:r>
            <a:r>
              <a:rPr lang="en-US" sz="1463" b="1" kern="0" dirty="0">
                <a:solidFill>
                  <a:srgbClr val="00FFFF"/>
                </a:solidFill>
                <a:latin typeface="Courier"/>
                <a:ea typeface="Courier"/>
                <a:cs typeface="Courier"/>
                <a:sym typeface="Courier New"/>
              </a:rPr>
              <a:t> = </a:t>
            </a:r>
            <a:r>
              <a:rPr lang="en-US" sz="1463" b="1" kern="0" dirty="0" err="1">
                <a:solidFill>
                  <a:srgbClr val="00FFFF"/>
                </a:solidFill>
                <a:latin typeface="Courier"/>
                <a:ea typeface="Courier"/>
                <a:cs typeface="Courier"/>
                <a:sym typeface="Courier New"/>
              </a:rPr>
              <a:t>zork</a:t>
            </a:r>
            <a:r>
              <a:rPr lang="en-US" sz="1463" b="1" kern="0" dirty="0">
                <a:solidFill>
                  <a:srgbClr val="00FFFF"/>
                </a:solidFill>
                <a:latin typeface="Courier"/>
                <a:ea typeface="Courier"/>
                <a:cs typeface="Courier"/>
                <a:sym typeface="Courier New"/>
              </a:rPr>
              <a:t> + 1</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err="1">
                <a:solidFill>
                  <a:srgbClr val="00FFFF"/>
                </a:solidFill>
                <a:latin typeface="Courier"/>
                <a:ea typeface="Courier"/>
                <a:cs typeface="Courier"/>
                <a:sym typeface="Courier New"/>
              </a:rPr>
              <a:t>zork</a:t>
            </a:r>
            <a:r>
              <a:rPr lang="en-US" sz="1463" b="1" kern="0" dirty="0">
                <a:solidFill>
                  <a:srgbClr val="FF00FF"/>
                </a:solidFill>
                <a:latin typeface="Courier"/>
                <a:ea typeface="Courier"/>
                <a:cs typeface="Courier"/>
                <a:sym typeface="Courier New"/>
              </a:rPr>
              <a:t>, thing</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 </a:t>
            </a:r>
            <a:r>
              <a:rPr lang="en-US" sz="1463" b="1" kern="0" dirty="0" err="1">
                <a:solidFill>
                  <a:srgbClr val="00FFFF"/>
                </a:solidFill>
                <a:latin typeface="Courier"/>
                <a:ea typeface="Courier"/>
                <a:cs typeface="Courier"/>
                <a:sym typeface="Courier New"/>
              </a:rPr>
              <a:t>zork</a:t>
            </a:r>
            <a:r>
              <a:rPr lang="en-US" sz="1463" b="1" kern="0" dirty="0">
                <a:solidFill>
                  <a:srgbClr val="FFFFFF"/>
                </a:solidFill>
                <a:latin typeface="Courier"/>
                <a:ea typeface="Courier"/>
                <a:cs typeface="Courier"/>
                <a:sym typeface="Courier New"/>
              </a:rPr>
              <a:t>)</a:t>
            </a:r>
          </a:p>
        </p:txBody>
      </p:sp>
      <p:sp>
        <p:nvSpPr>
          <p:cNvPr id="682" name="Shape 682"/>
          <p:cNvSpPr txBox="1"/>
          <p:nvPr/>
        </p:nvSpPr>
        <p:spPr>
          <a:xfrm>
            <a:off x="5772150" y="2185987"/>
            <a:ext cx="2373468" cy="2629463"/>
          </a:xfrm>
          <a:prstGeom prst="rect">
            <a:avLst/>
          </a:prstGeom>
          <a:noFill/>
          <a:ln>
            <a:noFill/>
          </a:ln>
        </p:spPr>
        <p:txBody>
          <a:bodyPr lIns="0" tIns="0" rIns="0" bIns="0" anchor="ctr" anchorCtr="0">
            <a:noAutofit/>
          </a:bodyPr>
          <a:lstStyle/>
          <a:p>
            <a:pPr defTabSz="514350">
              <a:buClr>
                <a:srgbClr val="FFFFFF"/>
              </a:buClr>
              <a:buSzPct val="25000"/>
            </a:pPr>
            <a:r>
              <a:rPr lang="en-US" sz="1688" kern="0">
                <a:solidFill>
                  <a:srgbClr val="FFFFFF"/>
                </a:solidFill>
                <a:latin typeface="Arial" charset="0"/>
                <a:ea typeface="Arial" charset="0"/>
                <a:cs typeface="Arial" charset="0"/>
                <a:sym typeface="Cabin"/>
              </a:rPr>
              <a:t>$</a:t>
            </a:r>
            <a:r>
              <a:rPr lang="en-US" sz="1688" kern="0">
                <a:solidFill>
                  <a:srgbClr val="FFFF00"/>
                </a:solidFill>
                <a:latin typeface="Arial" charset="0"/>
                <a:ea typeface="Arial" charset="0"/>
                <a:cs typeface="Arial" charset="0"/>
                <a:sym typeface="Cabin"/>
              </a:rPr>
              <a:t> python countloop.py</a:t>
            </a:r>
          </a:p>
          <a:p>
            <a:pPr defTabSz="514350">
              <a:buClr>
                <a:srgbClr val="FF7F00"/>
              </a:buClr>
              <a:buSzPct val="25000"/>
            </a:pPr>
            <a:r>
              <a:rPr lang="en-US" sz="1688" kern="0">
                <a:solidFill>
                  <a:srgbClr val="FF7F00"/>
                </a:solidFill>
                <a:latin typeface="Arial" charset="0"/>
                <a:ea typeface="Arial" charset="0"/>
                <a:cs typeface="Arial" charset="0"/>
                <a:sym typeface="Cabin"/>
              </a:rPr>
              <a:t>Before 0</a:t>
            </a:r>
          </a:p>
          <a:p>
            <a:pPr defTabSz="514350">
              <a:buClr>
                <a:srgbClr val="00FFFF"/>
              </a:buClr>
              <a:buSzPct val="25000"/>
            </a:pPr>
            <a:r>
              <a:rPr lang="en-US" sz="1688" kern="0">
                <a:solidFill>
                  <a:srgbClr val="00FFFF"/>
                </a:solidFill>
                <a:latin typeface="Arial" charset="0"/>
                <a:ea typeface="Arial" charset="0"/>
                <a:cs typeface="Arial" charset="0"/>
                <a:sym typeface="Cabin"/>
              </a:rPr>
              <a:t>1 </a:t>
            </a:r>
            <a:r>
              <a:rPr lang="en-US" sz="1688" kern="0">
                <a:solidFill>
                  <a:srgbClr val="FF00FF"/>
                </a:solidFill>
                <a:latin typeface="Arial" charset="0"/>
                <a:ea typeface="Arial" charset="0"/>
                <a:cs typeface="Arial" charset="0"/>
                <a:sym typeface="Cabin"/>
              </a:rPr>
              <a:t>9</a:t>
            </a:r>
          </a:p>
          <a:p>
            <a:pPr defTabSz="514350">
              <a:buClr>
                <a:srgbClr val="00FFFF"/>
              </a:buClr>
              <a:buSzPct val="25000"/>
            </a:pPr>
            <a:r>
              <a:rPr lang="en-US" sz="1688" kern="0">
                <a:solidFill>
                  <a:srgbClr val="00FFFF"/>
                </a:solidFill>
                <a:latin typeface="Arial" charset="0"/>
                <a:ea typeface="Arial" charset="0"/>
                <a:cs typeface="Arial" charset="0"/>
                <a:sym typeface="Cabin"/>
              </a:rPr>
              <a:t>2</a:t>
            </a:r>
            <a:r>
              <a:rPr lang="en-US" sz="1688" kern="0">
                <a:solidFill>
                  <a:srgbClr val="FF00FF"/>
                </a:solidFill>
                <a:latin typeface="Arial" charset="0"/>
                <a:ea typeface="Arial" charset="0"/>
                <a:cs typeface="Arial" charset="0"/>
                <a:sym typeface="Cabin"/>
              </a:rPr>
              <a:t> 41</a:t>
            </a:r>
          </a:p>
          <a:p>
            <a:pPr defTabSz="514350">
              <a:buClr>
                <a:srgbClr val="00FFFF"/>
              </a:buClr>
              <a:buSzPct val="25000"/>
            </a:pPr>
            <a:r>
              <a:rPr lang="en-US" sz="1688" kern="0">
                <a:solidFill>
                  <a:srgbClr val="00FFFF"/>
                </a:solidFill>
                <a:latin typeface="Arial" charset="0"/>
                <a:ea typeface="Arial" charset="0"/>
                <a:cs typeface="Arial" charset="0"/>
                <a:sym typeface="Cabin"/>
              </a:rPr>
              <a:t>3</a:t>
            </a:r>
            <a:r>
              <a:rPr lang="en-US" sz="1688" kern="0">
                <a:solidFill>
                  <a:srgbClr val="FF00FF"/>
                </a:solidFill>
                <a:latin typeface="Arial" charset="0"/>
                <a:ea typeface="Arial" charset="0"/>
                <a:cs typeface="Arial" charset="0"/>
                <a:sym typeface="Cabin"/>
              </a:rPr>
              <a:t> 12</a:t>
            </a:r>
          </a:p>
          <a:p>
            <a:pPr defTabSz="514350">
              <a:buClr>
                <a:srgbClr val="00FFFF"/>
              </a:buClr>
              <a:buSzPct val="25000"/>
            </a:pPr>
            <a:r>
              <a:rPr lang="en-US" sz="1688" kern="0">
                <a:solidFill>
                  <a:srgbClr val="00FFFF"/>
                </a:solidFill>
                <a:latin typeface="Arial" charset="0"/>
                <a:ea typeface="Arial" charset="0"/>
                <a:cs typeface="Arial" charset="0"/>
                <a:sym typeface="Cabin"/>
              </a:rPr>
              <a:t>4 </a:t>
            </a:r>
            <a:r>
              <a:rPr lang="en-US" sz="1688" kern="0">
                <a:solidFill>
                  <a:srgbClr val="FF00FF"/>
                </a:solidFill>
                <a:latin typeface="Arial" charset="0"/>
                <a:ea typeface="Arial" charset="0"/>
                <a:cs typeface="Arial" charset="0"/>
                <a:sym typeface="Cabin"/>
              </a:rPr>
              <a:t>3</a:t>
            </a:r>
          </a:p>
          <a:p>
            <a:pPr defTabSz="514350">
              <a:buClr>
                <a:srgbClr val="00FFFF"/>
              </a:buClr>
              <a:buSzPct val="25000"/>
            </a:pPr>
            <a:r>
              <a:rPr lang="en-US" sz="1688" kern="0">
                <a:solidFill>
                  <a:srgbClr val="00FFFF"/>
                </a:solidFill>
                <a:latin typeface="Arial" charset="0"/>
                <a:ea typeface="Arial" charset="0"/>
                <a:cs typeface="Arial" charset="0"/>
                <a:sym typeface="Cabin"/>
              </a:rPr>
              <a:t>5 </a:t>
            </a:r>
            <a:r>
              <a:rPr lang="en-US" sz="1688" kern="0">
                <a:solidFill>
                  <a:srgbClr val="FF00FF"/>
                </a:solidFill>
                <a:latin typeface="Arial" charset="0"/>
                <a:ea typeface="Arial" charset="0"/>
                <a:cs typeface="Arial" charset="0"/>
                <a:sym typeface="Cabin"/>
              </a:rPr>
              <a:t>74</a:t>
            </a:r>
          </a:p>
          <a:p>
            <a:pPr defTabSz="514350">
              <a:buClr>
                <a:srgbClr val="00FFFF"/>
              </a:buClr>
              <a:buSzPct val="25000"/>
            </a:pPr>
            <a:r>
              <a:rPr lang="en-US" sz="1688" kern="0">
                <a:solidFill>
                  <a:srgbClr val="00FFFF"/>
                </a:solidFill>
                <a:latin typeface="Arial" charset="0"/>
                <a:ea typeface="Arial" charset="0"/>
                <a:cs typeface="Arial" charset="0"/>
                <a:sym typeface="Cabin"/>
              </a:rPr>
              <a:t>6 </a:t>
            </a:r>
            <a:r>
              <a:rPr lang="en-US" sz="1688" kern="0">
                <a:solidFill>
                  <a:srgbClr val="FF00FF"/>
                </a:solidFill>
                <a:latin typeface="Arial" charset="0"/>
                <a:ea typeface="Arial" charset="0"/>
                <a:cs typeface="Arial" charset="0"/>
                <a:sym typeface="Cabin"/>
              </a:rPr>
              <a:t>15</a:t>
            </a:r>
          </a:p>
          <a:p>
            <a:pPr defTabSz="514350">
              <a:buClr>
                <a:srgbClr val="FF7F00"/>
              </a:buClr>
              <a:buSzPct val="25000"/>
            </a:pPr>
            <a:r>
              <a:rPr lang="en-US" sz="1688" kern="0">
                <a:solidFill>
                  <a:srgbClr val="FF7F00"/>
                </a:solidFill>
                <a:latin typeface="Arial" charset="0"/>
                <a:ea typeface="Arial" charset="0"/>
                <a:cs typeface="Arial" charset="0"/>
                <a:sym typeface="Cabin"/>
              </a:rPr>
              <a:t>After </a:t>
            </a:r>
            <a:r>
              <a:rPr lang="en-US" sz="1688" kern="0">
                <a:solidFill>
                  <a:srgbClr val="00FFFF"/>
                </a:solidFill>
                <a:latin typeface="Arial" charset="0"/>
                <a:ea typeface="Arial" charset="0"/>
                <a:cs typeface="Arial" charset="0"/>
                <a:sym typeface="Cabin"/>
              </a:rPr>
              <a:t>6</a:t>
            </a:r>
          </a:p>
        </p:txBody>
      </p:sp>
      <p:sp>
        <p:nvSpPr>
          <p:cNvPr id="683" name="Shape 683"/>
          <p:cNvSpPr txBox="1"/>
          <p:nvPr/>
        </p:nvSpPr>
        <p:spPr>
          <a:xfrm>
            <a:off x="650082" y="4850915"/>
            <a:ext cx="7915218" cy="642938"/>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kern="0">
                <a:solidFill>
                  <a:srgbClr val="FFFFFF"/>
                </a:solidFill>
                <a:latin typeface="Arial" charset="0"/>
                <a:ea typeface="Arial" charset="0"/>
                <a:cs typeface="Arial" charset="0"/>
                <a:sym typeface="Cabin"/>
              </a:rPr>
              <a:t>To </a:t>
            </a:r>
            <a:r>
              <a:rPr lang="en-US" kern="0">
                <a:solidFill>
                  <a:srgbClr val="00FF00"/>
                </a:solidFill>
                <a:latin typeface="Arial" charset="0"/>
                <a:ea typeface="Arial" charset="0"/>
                <a:cs typeface="Arial" charset="0"/>
                <a:sym typeface="Cabin"/>
              </a:rPr>
              <a:t>count</a:t>
            </a:r>
            <a:r>
              <a:rPr lang="en-US" kern="0">
                <a:solidFill>
                  <a:srgbClr val="FFFFFF"/>
                </a:solidFill>
                <a:latin typeface="Arial" charset="0"/>
                <a:ea typeface="Arial" charset="0"/>
                <a:cs typeface="Arial" charset="0"/>
                <a:sym typeface="Cabin"/>
              </a:rPr>
              <a:t> how many times we execute a loop, we introduce a </a:t>
            </a:r>
            <a:r>
              <a:rPr lang="en-US" kern="0">
                <a:solidFill>
                  <a:srgbClr val="00FFFF"/>
                </a:solidFill>
                <a:latin typeface="Arial" charset="0"/>
                <a:ea typeface="Arial" charset="0"/>
                <a:cs typeface="Arial" charset="0"/>
                <a:sym typeface="Cabin"/>
              </a:rPr>
              <a:t>counter variable that starts at 0</a:t>
            </a:r>
            <a:r>
              <a:rPr lang="en-US" kern="0">
                <a:solidFill>
                  <a:srgbClr val="FFFFFF"/>
                </a:solidFill>
                <a:latin typeface="Arial" charset="0"/>
                <a:ea typeface="Arial" charset="0"/>
                <a:cs typeface="Arial" charset="0"/>
                <a:sym typeface="Cabin"/>
              </a:rPr>
              <a:t> and we add </a:t>
            </a:r>
            <a:r>
              <a:rPr lang="en-US" kern="0">
                <a:solidFill>
                  <a:srgbClr val="00FFFF"/>
                </a:solidFill>
                <a:latin typeface="Arial" charset="0"/>
                <a:ea typeface="Arial" charset="0"/>
                <a:cs typeface="Arial" charset="0"/>
                <a:sym typeface="Cabin"/>
              </a:rPr>
              <a:t>one to it each time through the loop.</a:t>
            </a:r>
          </a:p>
        </p:txBody>
      </p:sp>
    </p:spTree>
    <p:extLst>
      <p:ext uri="{BB962C8B-B14F-4D97-AF65-F5344CB8AC3E}">
        <p14:creationId xmlns:p14="http://schemas.microsoft.com/office/powerpoint/2010/main" val="14723907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Shape 688"/>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Summing in a Loop</a:t>
            </a:r>
          </a:p>
        </p:txBody>
      </p:sp>
      <p:sp>
        <p:nvSpPr>
          <p:cNvPr id="689" name="Shape 689"/>
          <p:cNvSpPr txBox="1"/>
          <p:nvPr/>
        </p:nvSpPr>
        <p:spPr>
          <a:xfrm>
            <a:off x="979580" y="2347608"/>
            <a:ext cx="4222631" cy="1869919"/>
          </a:xfrm>
          <a:prstGeom prst="rect">
            <a:avLst/>
          </a:prstGeom>
          <a:noFill/>
          <a:ln>
            <a:noFill/>
          </a:ln>
        </p:spPr>
        <p:txBody>
          <a:bodyPr lIns="0" tIns="0" rIns="0" bIns="0" anchor="ctr" anchorCtr="0">
            <a:noAutofit/>
          </a:bodyPr>
          <a:lstStyle/>
          <a:p>
            <a:pPr defTabSz="514350">
              <a:buClr>
                <a:srgbClr val="00FF00"/>
              </a:buClr>
              <a:buSzPct val="25000"/>
            </a:pPr>
            <a:r>
              <a:rPr lang="en-US" sz="1463" b="1" kern="0" dirty="0" err="1">
                <a:solidFill>
                  <a:srgbClr val="00FF00"/>
                </a:solidFill>
                <a:latin typeface="Courier"/>
                <a:ea typeface="Courier"/>
                <a:cs typeface="Courier"/>
                <a:sym typeface="Courier New"/>
              </a:rPr>
              <a:t>zork</a:t>
            </a:r>
            <a:r>
              <a:rPr lang="en-US" sz="1463" b="1" kern="0" dirty="0">
                <a:solidFill>
                  <a:srgbClr val="00FF00"/>
                </a:solidFill>
                <a:latin typeface="Courier"/>
                <a:ea typeface="Courier"/>
                <a:cs typeface="Courier"/>
                <a:sym typeface="Courier New"/>
              </a:rPr>
              <a:t> = 0</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('Before', </a:t>
            </a:r>
            <a:r>
              <a:rPr lang="en-US" sz="1463" b="1" kern="0" dirty="0" err="1">
                <a:solidFill>
                  <a:srgbClr val="00FF00"/>
                </a:solidFill>
                <a:latin typeface="Courier"/>
                <a:ea typeface="Courier"/>
                <a:cs typeface="Courier"/>
                <a:sym typeface="Courier New"/>
              </a:rPr>
              <a:t>zork</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FFFF"/>
                </a:solidFill>
                <a:latin typeface="Courier"/>
                <a:ea typeface="Courier"/>
                <a:cs typeface="Courier"/>
                <a:sym typeface="Courier New"/>
              </a:rPr>
              <a:t> </a:t>
            </a:r>
            <a:r>
              <a:rPr lang="en-US" sz="1463" b="1" kern="0" dirty="0">
                <a:solidFill>
                  <a:srgbClr val="00FFFF"/>
                </a:solidFill>
                <a:latin typeface="Courier"/>
                <a:ea typeface="Courier"/>
                <a:cs typeface="Courier"/>
                <a:sym typeface="Courier New"/>
              </a:rPr>
              <a:t>thing</a:t>
            </a:r>
            <a:r>
              <a:rPr lang="en-US" sz="1463" b="1" kern="0" dirty="0">
                <a:solidFill>
                  <a:srgbClr val="FFFF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in</a:t>
            </a:r>
            <a:r>
              <a:rPr lang="en-US" sz="1463" b="1" kern="0" dirty="0">
                <a:solidFill>
                  <a:srgbClr val="FFFFFF"/>
                </a:solidFill>
                <a:latin typeface="Courier"/>
                <a:ea typeface="Courier"/>
                <a:cs typeface="Courier"/>
                <a:sym typeface="Courier New"/>
              </a:rPr>
              <a:t> [9, 41, 12, 3, 74, 15] :</a:t>
            </a:r>
          </a:p>
          <a:p>
            <a:pPr defTabSz="514350">
              <a:buClr>
                <a:srgbClr val="FFFFFF"/>
              </a:buClr>
              <a:buSzPct val="25000"/>
            </a:pPr>
            <a:r>
              <a:rPr lang="en-US" sz="1463" b="1" kern="0" dirty="0">
                <a:solidFill>
                  <a:srgbClr val="FFFFFF"/>
                </a:solidFill>
                <a:latin typeface="Courier"/>
                <a:ea typeface="Courier"/>
                <a:cs typeface="Courier"/>
                <a:sym typeface="Courier New"/>
              </a:rPr>
              <a:t>    </a:t>
            </a:r>
            <a:r>
              <a:rPr lang="en-US" sz="1463" b="1" kern="0" dirty="0" err="1">
                <a:solidFill>
                  <a:srgbClr val="00FF00"/>
                </a:solidFill>
                <a:latin typeface="Courier"/>
                <a:ea typeface="Courier"/>
                <a:cs typeface="Courier"/>
                <a:sym typeface="Courier New"/>
              </a:rPr>
              <a:t>zork</a:t>
            </a:r>
            <a:r>
              <a:rPr lang="en-US" sz="1463" b="1" kern="0" dirty="0">
                <a:solidFill>
                  <a:srgbClr val="00FF00"/>
                </a:solidFill>
                <a:latin typeface="Courier"/>
                <a:ea typeface="Courier"/>
                <a:cs typeface="Courier"/>
                <a:sym typeface="Courier New"/>
              </a:rPr>
              <a:t> = </a:t>
            </a:r>
            <a:r>
              <a:rPr lang="en-US" sz="1463" b="1" kern="0" dirty="0" err="1">
                <a:solidFill>
                  <a:srgbClr val="00FF00"/>
                </a:solidFill>
                <a:latin typeface="Courier"/>
                <a:ea typeface="Courier"/>
                <a:cs typeface="Courier"/>
                <a:sym typeface="Courier New"/>
              </a:rPr>
              <a:t>zork</a:t>
            </a:r>
            <a:r>
              <a:rPr lang="en-US" sz="1463" b="1" kern="0" dirty="0">
                <a:solidFill>
                  <a:srgbClr val="00FF00"/>
                </a:solidFill>
                <a:latin typeface="Courier"/>
                <a:ea typeface="Courier"/>
                <a:cs typeface="Courier"/>
                <a:sym typeface="Courier New"/>
              </a:rPr>
              <a:t> +</a:t>
            </a:r>
            <a:r>
              <a:rPr lang="en-US" sz="1463" b="1" kern="0" dirty="0">
                <a:solidFill>
                  <a:srgbClr val="FFFFFF"/>
                </a:solidFill>
                <a:latin typeface="Courier"/>
                <a:ea typeface="Courier"/>
                <a:cs typeface="Courier"/>
                <a:sym typeface="Courier New"/>
              </a:rPr>
              <a:t> </a:t>
            </a:r>
            <a:r>
              <a:rPr lang="en-US" sz="1463" b="1" kern="0" dirty="0">
                <a:solidFill>
                  <a:srgbClr val="00FFFF"/>
                </a:solidFill>
                <a:latin typeface="Courier"/>
                <a:ea typeface="Courier"/>
                <a:cs typeface="Courier"/>
                <a:sym typeface="Courier New"/>
              </a:rPr>
              <a:t>thing</a:t>
            </a:r>
          </a:p>
          <a:p>
            <a:pPr defTabSz="514350">
              <a:buClr>
                <a:srgbClr val="FFFFFF"/>
              </a:buClr>
              <a:buSzPct val="25000"/>
            </a:pPr>
            <a:r>
              <a:rPr lang="en-US" sz="1463" b="1" kern="0" dirty="0">
                <a:solidFill>
                  <a:srgbClr val="FFFF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err="1">
                <a:solidFill>
                  <a:srgbClr val="00FF00"/>
                </a:solidFill>
                <a:latin typeface="Courier"/>
                <a:ea typeface="Courier"/>
                <a:cs typeface="Courier"/>
                <a:sym typeface="Courier New"/>
              </a:rPr>
              <a:t>zork</a:t>
            </a:r>
            <a:r>
              <a:rPr lang="en-US" sz="1463" b="1" kern="0" dirty="0">
                <a:solidFill>
                  <a:srgbClr val="FFFFFF"/>
                </a:solidFill>
                <a:latin typeface="Courier"/>
                <a:ea typeface="Courier"/>
                <a:cs typeface="Courier"/>
                <a:sym typeface="Courier New"/>
              </a:rPr>
              <a:t>, </a:t>
            </a:r>
            <a:r>
              <a:rPr lang="en-US" sz="1463" b="1" kern="0" dirty="0">
                <a:solidFill>
                  <a:srgbClr val="00FFFF"/>
                </a:solidFill>
                <a:latin typeface="Courier"/>
                <a:ea typeface="Courier"/>
                <a:cs typeface="Courier"/>
                <a:sym typeface="Courier New"/>
              </a:rPr>
              <a:t>thing</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('After', </a:t>
            </a:r>
            <a:r>
              <a:rPr lang="en-US" sz="1463" b="1" kern="0" dirty="0" err="1">
                <a:solidFill>
                  <a:srgbClr val="00FF00"/>
                </a:solidFill>
                <a:latin typeface="Courier"/>
                <a:ea typeface="Courier"/>
                <a:cs typeface="Courier"/>
                <a:sym typeface="Courier New"/>
              </a:rPr>
              <a:t>zork</a:t>
            </a:r>
            <a:r>
              <a:rPr lang="en-US" sz="1463" b="1" kern="0" dirty="0">
                <a:solidFill>
                  <a:srgbClr val="FFFFFF"/>
                </a:solidFill>
                <a:latin typeface="Courier"/>
                <a:ea typeface="Courier"/>
                <a:cs typeface="Courier"/>
                <a:sym typeface="Courier New"/>
              </a:rPr>
              <a:t>)</a:t>
            </a:r>
          </a:p>
        </p:txBody>
      </p:sp>
      <p:sp>
        <p:nvSpPr>
          <p:cNvPr id="690" name="Shape 690"/>
          <p:cNvSpPr txBox="1"/>
          <p:nvPr/>
        </p:nvSpPr>
        <p:spPr>
          <a:xfrm>
            <a:off x="5772150" y="2100263"/>
            <a:ext cx="2373468" cy="2804793"/>
          </a:xfrm>
          <a:prstGeom prst="rect">
            <a:avLst/>
          </a:prstGeom>
          <a:noFill/>
          <a:ln>
            <a:noFill/>
          </a:ln>
        </p:spPr>
        <p:txBody>
          <a:bodyPr lIns="0" tIns="0" rIns="0" bIns="0" anchor="ctr" anchorCtr="0">
            <a:noAutofit/>
          </a:bodyPr>
          <a:lstStyle/>
          <a:p>
            <a:pPr defTabSz="514350">
              <a:buClr>
                <a:srgbClr val="FFFFFF"/>
              </a:buClr>
              <a:buSzPct val="25000"/>
            </a:pPr>
            <a:r>
              <a:rPr lang="en-US" sz="1688" kern="0">
                <a:solidFill>
                  <a:srgbClr val="FFFFFF"/>
                </a:solidFill>
                <a:latin typeface="Arial" charset="0"/>
                <a:ea typeface="Arial" charset="0"/>
                <a:cs typeface="Arial" charset="0"/>
                <a:sym typeface="Cabin"/>
              </a:rPr>
              <a:t>$</a:t>
            </a:r>
            <a:r>
              <a:rPr lang="en-US" sz="1688" kern="0">
                <a:solidFill>
                  <a:srgbClr val="FFFF00"/>
                </a:solidFill>
                <a:latin typeface="Arial" charset="0"/>
                <a:ea typeface="Arial" charset="0"/>
                <a:cs typeface="Arial" charset="0"/>
                <a:sym typeface="Cabin"/>
              </a:rPr>
              <a:t> python countloop.py</a:t>
            </a:r>
            <a:r>
              <a:rPr lang="en-US" sz="1688" kern="0">
                <a:solidFill>
                  <a:srgbClr val="FF7F00"/>
                </a:solidFill>
                <a:latin typeface="Arial" charset="0"/>
                <a:ea typeface="Arial" charset="0"/>
                <a:cs typeface="Arial" charset="0"/>
                <a:sym typeface="Cabin"/>
              </a:rPr>
              <a:t> </a:t>
            </a:r>
          </a:p>
          <a:p>
            <a:pPr defTabSz="514350">
              <a:buClr>
                <a:srgbClr val="FF7F00"/>
              </a:buClr>
              <a:buSzPct val="25000"/>
            </a:pPr>
            <a:r>
              <a:rPr lang="en-US" sz="1688" kern="0">
                <a:solidFill>
                  <a:srgbClr val="FF7F00"/>
                </a:solidFill>
                <a:latin typeface="Arial" charset="0"/>
                <a:ea typeface="Arial" charset="0"/>
                <a:cs typeface="Arial" charset="0"/>
                <a:sym typeface="Cabin"/>
              </a:rPr>
              <a:t>Before </a:t>
            </a:r>
            <a:r>
              <a:rPr lang="en-US" sz="1688" kern="0">
                <a:solidFill>
                  <a:srgbClr val="00FF00"/>
                </a:solidFill>
                <a:latin typeface="Arial" charset="0"/>
                <a:ea typeface="Arial" charset="0"/>
                <a:cs typeface="Arial" charset="0"/>
                <a:sym typeface="Cabin"/>
              </a:rPr>
              <a:t>0</a:t>
            </a:r>
          </a:p>
          <a:p>
            <a:pPr defTabSz="514350">
              <a:buClr>
                <a:srgbClr val="00FF00"/>
              </a:buClr>
              <a:buSzPct val="25000"/>
            </a:pPr>
            <a:r>
              <a:rPr lang="en-US" sz="1688" kern="0">
                <a:solidFill>
                  <a:srgbClr val="00FF00"/>
                </a:solidFill>
                <a:latin typeface="Arial" charset="0"/>
                <a:ea typeface="Arial" charset="0"/>
                <a:cs typeface="Arial" charset="0"/>
                <a:sym typeface="Cabin"/>
              </a:rPr>
              <a:t>9</a:t>
            </a:r>
            <a:r>
              <a:rPr lang="en-US" sz="1688" kern="0">
                <a:solidFill>
                  <a:srgbClr val="FF00FF"/>
                </a:solidFill>
                <a:latin typeface="Arial" charset="0"/>
                <a:ea typeface="Arial" charset="0"/>
                <a:cs typeface="Arial" charset="0"/>
                <a:sym typeface="Cabin"/>
              </a:rPr>
              <a:t> </a:t>
            </a:r>
            <a:r>
              <a:rPr lang="en-US" sz="1688" kern="0">
                <a:solidFill>
                  <a:srgbClr val="00FFFF"/>
                </a:solidFill>
                <a:latin typeface="Arial" charset="0"/>
                <a:ea typeface="Arial" charset="0"/>
                <a:cs typeface="Arial" charset="0"/>
                <a:sym typeface="Cabin"/>
              </a:rPr>
              <a:t>9</a:t>
            </a:r>
          </a:p>
          <a:p>
            <a:pPr defTabSz="514350">
              <a:buClr>
                <a:srgbClr val="00FF00"/>
              </a:buClr>
              <a:buSzPct val="25000"/>
            </a:pPr>
            <a:r>
              <a:rPr lang="en-US" sz="1688" kern="0">
                <a:solidFill>
                  <a:srgbClr val="00FF00"/>
                </a:solidFill>
                <a:latin typeface="Arial" charset="0"/>
                <a:ea typeface="Arial" charset="0"/>
                <a:cs typeface="Arial" charset="0"/>
                <a:sym typeface="Cabin"/>
              </a:rPr>
              <a:t>50</a:t>
            </a:r>
            <a:r>
              <a:rPr lang="en-US" sz="1688" kern="0">
                <a:solidFill>
                  <a:srgbClr val="FF00FF"/>
                </a:solidFill>
                <a:latin typeface="Arial" charset="0"/>
                <a:ea typeface="Arial" charset="0"/>
                <a:cs typeface="Arial" charset="0"/>
                <a:sym typeface="Cabin"/>
              </a:rPr>
              <a:t> </a:t>
            </a:r>
            <a:r>
              <a:rPr lang="en-US" sz="1688" kern="0">
                <a:solidFill>
                  <a:srgbClr val="00FFFF"/>
                </a:solidFill>
                <a:latin typeface="Arial" charset="0"/>
                <a:ea typeface="Arial" charset="0"/>
                <a:cs typeface="Arial" charset="0"/>
                <a:sym typeface="Cabin"/>
              </a:rPr>
              <a:t>41</a:t>
            </a:r>
          </a:p>
          <a:p>
            <a:pPr defTabSz="514350">
              <a:buClr>
                <a:srgbClr val="00FF00"/>
              </a:buClr>
              <a:buSzPct val="25000"/>
            </a:pPr>
            <a:r>
              <a:rPr lang="en-US" sz="1688" kern="0">
                <a:solidFill>
                  <a:srgbClr val="00FF00"/>
                </a:solidFill>
                <a:latin typeface="Arial" charset="0"/>
                <a:ea typeface="Arial" charset="0"/>
                <a:cs typeface="Arial" charset="0"/>
                <a:sym typeface="Cabin"/>
              </a:rPr>
              <a:t>62</a:t>
            </a:r>
            <a:r>
              <a:rPr lang="en-US" sz="1688" kern="0">
                <a:solidFill>
                  <a:srgbClr val="FF00FF"/>
                </a:solidFill>
                <a:latin typeface="Arial" charset="0"/>
                <a:ea typeface="Arial" charset="0"/>
                <a:cs typeface="Arial" charset="0"/>
                <a:sym typeface="Cabin"/>
              </a:rPr>
              <a:t> </a:t>
            </a:r>
            <a:r>
              <a:rPr lang="en-US" sz="1688" kern="0">
                <a:solidFill>
                  <a:srgbClr val="00FFFF"/>
                </a:solidFill>
                <a:latin typeface="Arial" charset="0"/>
                <a:ea typeface="Arial" charset="0"/>
                <a:cs typeface="Arial" charset="0"/>
                <a:sym typeface="Cabin"/>
              </a:rPr>
              <a:t>12</a:t>
            </a:r>
          </a:p>
          <a:p>
            <a:pPr defTabSz="514350">
              <a:buClr>
                <a:srgbClr val="00FF00"/>
              </a:buClr>
              <a:buSzPct val="25000"/>
            </a:pPr>
            <a:r>
              <a:rPr lang="en-US" sz="1688" kern="0">
                <a:solidFill>
                  <a:srgbClr val="00FF00"/>
                </a:solidFill>
                <a:latin typeface="Arial" charset="0"/>
                <a:ea typeface="Arial" charset="0"/>
                <a:cs typeface="Arial" charset="0"/>
                <a:sym typeface="Cabin"/>
              </a:rPr>
              <a:t>65</a:t>
            </a:r>
            <a:r>
              <a:rPr lang="en-US" sz="1688" kern="0">
                <a:solidFill>
                  <a:srgbClr val="FF00FF"/>
                </a:solidFill>
                <a:latin typeface="Arial" charset="0"/>
                <a:ea typeface="Arial" charset="0"/>
                <a:cs typeface="Arial" charset="0"/>
                <a:sym typeface="Cabin"/>
              </a:rPr>
              <a:t> </a:t>
            </a:r>
            <a:r>
              <a:rPr lang="en-US" sz="1688" kern="0">
                <a:solidFill>
                  <a:srgbClr val="00FFFF"/>
                </a:solidFill>
                <a:latin typeface="Arial" charset="0"/>
                <a:ea typeface="Arial" charset="0"/>
                <a:cs typeface="Arial" charset="0"/>
                <a:sym typeface="Cabin"/>
              </a:rPr>
              <a:t>3</a:t>
            </a:r>
          </a:p>
          <a:p>
            <a:pPr defTabSz="514350">
              <a:buClr>
                <a:srgbClr val="00FF00"/>
              </a:buClr>
              <a:buSzPct val="25000"/>
            </a:pPr>
            <a:r>
              <a:rPr lang="en-US" sz="1688" kern="0">
                <a:solidFill>
                  <a:srgbClr val="00FF00"/>
                </a:solidFill>
                <a:latin typeface="Arial" charset="0"/>
                <a:ea typeface="Arial" charset="0"/>
                <a:cs typeface="Arial" charset="0"/>
                <a:sym typeface="Cabin"/>
              </a:rPr>
              <a:t>139</a:t>
            </a:r>
            <a:r>
              <a:rPr lang="en-US" sz="1688" kern="0">
                <a:solidFill>
                  <a:srgbClr val="FF00FF"/>
                </a:solidFill>
                <a:latin typeface="Arial" charset="0"/>
                <a:ea typeface="Arial" charset="0"/>
                <a:cs typeface="Arial" charset="0"/>
                <a:sym typeface="Cabin"/>
              </a:rPr>
              <a:t> </a:t>
            </a:r>
            <a:r>
              <a:rPr lang="en-US" sz="1688" kern="0">
                <a:solidFill>
                  <a:srgbClr val="00FFFF"/>
                </a:solidFill>
                <a:latin typeface="Arial" charset="0"/>
                <a:ea typeface="Arial" charset="0"/>
                <a:cs typeface="Arial" charset="0"/>
                <a:sym typeface="Cabin"/>
              </a:rPr>
              <a:t>74</a:t>
            </a:r>
          </a:p>
          <a:p>
            <a:pPr defTabSz="514350">
              <a:buClr>
                <a:srgbClr val="00FF00"/>
              </a:buClr>
              <a:buSzPct val="25000"/>
            </a:pPr>
            <a:r>
              <a:rPr lang="en-US" sz="1688" kern="0">
                <a:solidFill>
                  <a:srgbClr val="00FF00"/>
                </a:solidFill>
                <a:latin typeface="Arial" charset="0"/>
                <a:ea typeface="Arial" charset="0"/>
                <a:cs typeface="Arial" charset="0"/>
                <a:sym typeface="Cabin"/>
              </a:rPr>
              <a:t>154</a:t>
            </a:r>
            <a:r>
              <a:rPr lang="en-US" sz="1688" kern="0">
                <a:solidFill>
                  <a:srgbClr val="FF00FF"/>
                </a:solidFill>
                <a:latin typeface="Arial" charset="0"/>
                <a:ea typeface="Arial" charset="0"/>
                <a:cs typeface="Arial" charset="0"/>
                <a:sym typeface="Cabin"/>
              </a:rPr>
              <a:t> </a:t>
            </a:r>
            <a:r>
              <a:rPr lang="en-US" sz="1688" kern="0">
                <a:solidFill>
                  <a:srgbClr val="00FFFF"/>
                </a:solidFill>
                <a:latin typeface="Arial" charset="0"/>
                <a:ea typeface="Arial" charset="0"/>
                <a:cs typeface="Arial" charset="0"/>
                <a:sym typeface="Cabin"/>
              </a:rPr>
              <a:t>15</a:t>
            </a:r>
          </a:p>
          <a:p>
            <a:pPr defTabSz="514350">
              <a:buClr>
                <a:srgbClr val="FF7F00"/>
              </a:buClr>
              <a:buSzPct val="25000"/>
            </a:pPr>
            <a:r>
              <a:rPr lang="en-US" sz="1688" kern="0">
                <a:solidFill>
                  <a:srgbClr val="FF7F00"/>
                </a:solidFill>
                <a:latin typeface="Arial" charset="0"/>
                <a:ea typeface="Arial" charset="0"/>
                <a:cs typeface="Arial" charset="0"/>
                <a:sym typeface="Cabin"/>
              </a:rPr>
              <a:t>After </a:t>
            </a:r>
            <a:r>
              <a:rPr lang="en-US" sz="1688" kern="0">
                <a:solidFill>
                  <a:srgbClr val="00FF00"/>
                </a:solidFill>
                <a:latin typeface="Arial" charset="0"/>
                <a:ea typeface="Arial" charset="0"/>
                <a:cs typeface="Arial" charset="0"/>
                <a:sym typeface="Cabin"/>
              </a:rPr>
              <a:t>154</a:t>
            </a:r>
          </a:p>
        </p:txBody>
      </p:sp>
      <p:sp>
        <p:nvSpPr>
          <p:cNvPr id="691" name="Shape 691"/>
          <p:cNvSpPr txBox="1"/>
          <p:nvPr/>
        </p:nvSpPr>
        <p:spPr>
          <a:xfrm>
            <a:off x="591145" y="4886380"/>
            <a:ext cx="8236688" cy="642938"/>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kern="0">
                <a:solidFill>
                  <a:srgbClr val="FFFFFF"/>
                </a:solidFill>
                <a:latin typeface="Arial" charset="0"/>
                <a:ea typeface="Arial" charset="0"/>
                <a:cs typeface="Arial" charset="0"/>
                <a:sym typeface="Cabin"/>
              </a:rPr>
              <a:t>To </a:t>
            </a:r>
            <a:r>
              <a:rPr lang="en-US" kern="0">
                <a:solidFill>
                  <a:srgbClr val="00FF00"/>
                </a:solidFill>
                <a:latin typeface="Arial" charset="0"/>
                <a:ea typeface="Arial" charset="0"/>
                <a:cs typeface="Arial" charset="0"/>
                <a:sym typeface="Cabin"/>
              </a:rPr>
              <a:t>add up </a:t>
            </a:r>
            <a:r>
              <a:rPr lang="en-US" kern="0">
                <a:solidFill>
                  <a:srgbClr val="FFFFFF"/>
                </a:solidFill>
                <a:latin typeface="Arial" charset="0"/>
                <a:ea typeface="Arial" charset="0"/>
                <a:cs typeface="Arial" charset="0"/>
                <a:sym typeface="Cabin"/>
              </a:rPr>
              <a:t>a </a:t>
            </a:r>
            <a:r>
              <a:rPr lang="en-US" kern="0">
                <a:solidFill>
                  <a:srgbClr val="00FFFF"/>
                </a:solidFill>
                <a:latin typeface="Arial" charset="0"/>
                <a:ea typeface="Arial" charset="0"/>
                <a:cs typeface="Arial" charset="0"/>
                <a:sym typeface="Cabin"/>
              </a:rPr>
              <a:t>value</a:t>
            </a:r>
            <a:r>
              <a:rPr lang="en-US" kern="0">
                <a:solidFill>
                  <a:srgbClr val="FFFFFF"/>
                </a:solidFill>
                <a:latin typeface="Arial" charset="0"/>
                <a:ea typeface="Arial" charset="0"/>
                <a:cs typeface="Arial" charset="0"/>
                <a:sym typeface="Cabin"/>
              </a:rPr>
              <a:t> we encounter in a loop,  we introduce a </a:t>
            </a:r>
            <a:r>
              <a:rPr lang="en-US" kern="0">
                <a:solidFill>
                  <a:srgbClr val="00FF00"/>
                </a:solidFill>
                <a:latin typeface="Arial" charset="0"/>
                <a:ea typeface="Arial" charset="0"/>
                <a:cs typeface="Arial" charset="0"/>
                <a:sym typeface="Cabin"/>
              </a:rPr>
              <a:t>sum variable that starts at 0</a:t>
            </a:r>
            <a:r>
              <a:rPr lang="en-US" kern="0">
                <a:solidFill>
                  <a:srgbClr val="FFFFFF"/>
                </a:solidFill>
                <a:latin typeface="Arial" charset="0"/>
                <a:ea typeface="Arial" charset="0"/>
                <a:cs typeface="Arial" charset="0"/>
                <a:sym typeface="Cabin"/>
              </a:rPr>
              <a:t> and we add the </a:t>
            </a:r>
            <a:r>
              <a:rPr lang="en-US" kern="0">
                <a:solidFill>
                  <a:srgbClr val="00FFFF"/>
                </a:solidFill>
                <a:latin typeface="Arial" charset="0"/>
                <a:ea typeface="Arial" charset="0"/>
                <a:cs typeface="Arial" charset="0"/>
                <a:sym typeface="Cabin"/>
              </a:rPr>
              <a:t>value</a:t>
            </a:r>
            <a:r>
              <a:rPr lang="en-US" kern="0">
                <a:solidFill>
                  <a:srgbClr val="FFFFFF"/>
                </a:solidFill>
                <a:latin typeface="Arial" charset="0"/>
                <a:ea typeface="Arial" charset="0"/>
                <a:cs typeface="Arial" charset="0"/>
                <a:sym typeface="Cabin"/>
              </a:rPr>
              <a:t> to the sum each time through the loop.</a:t>
            </a:r>
          </a:p>
        </p:txBody>
      </p:sp>
    </p:spTree>
    <p:extLst>
      <p:ext uri="{BB962C8B-B14F-4D97-AF65-F5344CB8AC3E}">
        <p14:creationId xmlns:p14="http://schemas.microsoft.com/office/powerpoint/2010/main" val="19817169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Shape 696"/>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FF00"/>
              </a:buClr>
              <a:buSzPct val="25000"/>
            </a:pPr>
            <a:r>
              <a:rPr lang="en-US" sz="4275">
                <a:solidFill>
                  <a:srgbClr val="FFD966"/>
                </a:solidFill>
                <a:latin typeface="Arial" charset="0"/>
                <a:ea typeface="Arial" charset="0"/>
                <a:cs typeface="Arial" charset="0"/>
                <a:sym typeface="Cabin"/>
              </a:rPr>
              <a:t>Finding the Average in a Loop</a:t>
            </a:r>
          </a:p>
        </p:txBody>
      </p:sp>
      <p:sp>
        <p:nvSpPr>
          <p:cNvPr id="697" name="Shape 697"/>
          <p:cNvSpPr txBox="1"/>
          <p:nvPr/>
        </p:nvSpPr>
        <p:spPr>
          <a:xfrm>
            <a:off x="471684" y="2386054"/>
            <a:ext cx="4491113" cy="2284538"/>
          </a:xfrm>
          <a:prstGeom prst="rect">
            <a:avLst/>
          </a:prstGeom>
          <a:noFill/>
          <a:ln>
            <a:noFill/>
          </a:ln>
        </p:spPr>
        <p:txBody>
          <a:bodyPr lIns="0" tIns="0" rIns="0" bIns="0" anchor="ctr" anchorCtr="0">
            <a:noAutofit/>
          </a:bodyPr>
          <a:lstStyle/>
          <a:p>
            <a:pPr defTabSz="514350">
              <a:buClr>
                <a:srgbClr val="00FFFF"/>
              </a:buClr>
              <a:buSzPct val="25000"/>
            </a:pPr>
            <a:r>
              <a:rPr lang="en-US" sz="1463" b="1" kern="0" dirty="0">
                <a:solidFill>
                  <a:srgbClr val="00FFFF"/>
                </a:solidFill>
                <a:latin typeface="Courier"/>
                <a:ea typeface="Courier"/>
                <a:cs typeface="Courier"/>
                <a:sym typeface="Courier New"/>
              </a:rPr>
              <a:t>count = 0</a:t>
            </a:r>
          </a:p>
          <a:p>
            <a:pPr defTabSz="514350">
              <a:buClr>
                <a:srgbClr val="00FF00"/>
              </a:buClr>
              <a:buSzPct val="25000"/>
            </a:pPr>
            <a:r>
              <a:rPr lang="en-US" sz="1463" b="1" kern="0" dirty="0">
                <a:solidFill>
                  <a:srgbClr val="00FF00"/>
                </a:solidFill>
                <a:latin typeface="Courier"/>
                <a:ea typeface="Courier"/>
                <a:cs typeface="Courier"/>
                <a:sym typeface="Courier New"/>
              </a:rPr>
              <a:t>sum = 0</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 </a:t>
            </a:r>
            <a:r>
              <a:rPr lang="en-US" sz="1463" b="1" kern="0" dirty="0">
                <a:solidFill>
                  <a:srgbClr val="00FFFF"/>
                </a:solidFill>
                <a:latin typeface="Courier"/>
                <a:ea typeface="Courier"/>
                <a:cs typeface="Courier"/>
                <a:sym typeface="Courier New"/>
              </a:rPr>
              <a:t>count,</a:t>
            </a:r>
            <a:r>
              <a:rPr lang="en-US" sz="1463" b="1" kern="0" dirty="0">
                <a:solidFill>
                  <a:srgbClr val="FF7F00"/>
                </a:solidFill>
                <a:latin typeface="Courier"/>
                <a:ea typeface="Courier"/>
                <a:cs typeface="Courier"/>
                <a:sym typeface="Courier New"/>
              </a:rPr>
              <a:t> </a:t>
            </a:r>
            <a:r>
              <a:rPr lang="en-US" sz="1463" b="1" kern="0" dirty="0">
                <a:solidFill>
                  <a:srgbClr val="00FF00"/>
                </a:solidFill>
                <a:latin typeface="Courier"/>
                <a:ea typeface="Courier"/>
                <a:cs typeface="Courier"/>
                <a:sym typeface="Courier New"/>
              </a:rPr>
              <a:t>sum</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value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a:t>
            </a:r>
          </a:p>
          <a:p>
            <a:pPr defTabSz="514350">
              <a:buClr>
                <a:srgbClr val="FFFFFF"/>
              </a:buClr>
              <a:buSzPct val="25000"/>
            </a:pPr>
            <a:r>
              <a:rPr lang="en-US" sz="1463" b="1" kern="0" dirty="0">
                <a:solidFill>
                  <a:srgbClr val="FFFFFF"/>
                </a:solidFill>
                <a:latin typeface="Courier"/>
                <a:ea typeface="Courier"/>
                <a:cs typeface="Courier"/>
                <a:sym typeface="Courier New"/>
              </a:rPr>
              <a:t>    count = count + 1</a:t>
            </a:r>
          </a:p>
          <a:p>
            <a:pPr defTabSz="514350">
              <a:buClr>
                <a:srgbClr val="00FF00"/>
              </a:buClr>
              <a:buSzPct val="25000"/>
            </a:pPr>
            <a:r>
              <a:rPr lang="en-US" sz="1463" b="1" kern="0" dirty="0">
                <a:solidFill>
                  <a:srgbClr val="00FF00"/>
                </a:solidFill>
                <a:latin typeface="Courier"/>
                <a:ea typeface="Courier"/>
                <a:cs typeface="Courier"/>
                <a:sym typeface="Courier New"/>
              </a:rPr>
              <a:t>    </a:t>
            </a:r>
            <a:r>
              <a:rPr lang="en-US" sz="1463" b="1" kern="0" dirty="0">
                <a:solidFill>
                  <a:srgbClr val="FFFFFF"/>
                </a:solidFill>
                <a:latin typeface="Courier"/>
                <a:ea typeface="Courier"/>
                <a:cs typeface="Courier"/>
                <a:sym typeface="Courier New"/>
              </a:rPr>
              <a:t>sum = sum + value</a:t>
            </a:r>
          </a:p>
          <a:p>
            <a:pPr defTabSz="514350">
              <a:buClr>
                <a:srgbClr val="FFFFFF"/>
              </a:buClr>
              <a:buSzPct val="25000"/>
            </a:pPr>
            <a:r>
              <a:rPr lang="en-US" sz="1463" b="1" kern="0" dirty="0">
                <a:solidFill>
                  <a:srgbClr val="FFFF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00FFFF"/>
                </a:solidFill>
                <a:latin typeface="Courier"/>
                <a:ea typeface="Courier"/>
                <a:cs typeface="Courier"/>
                <a:sym typeface="Courier New"/>
              </a:rPr>
              <a:t>count</a:t>
            </a:r>
            <a:r>
              <a:rPr lang="en-US" sz="1463" b="1" kern="0" dirty="0">
                <a:solidFill>
                  <a:srgbClr val="FFFFFF"/>
                </a:solidFill>
                <a:latin typeface="Courier"/>
                <a:ea typeface="Courier"/>
                <a:cs typeface="Courier"/>
                <a:sym typeface="Courier New"/>
              </a:rPr>
              <a:t>, </a:t>
            </a:r>
            <a:r>
              <a:rPr lang="en-US" sz="1463" b="1" kern="0" dirty="0">
                <a:solidFill>
                  <a:srgbClr val="00FF00"/>
                </a:solidFill>
                <a:latin typeface="Courier"/>
                <a:ea typeface="Courier"/>
                <a:cs typeface="Courier"/>
                <a:sym typeface="Courier New"/>
              </a:rPr>
              <a:t>sum,</a:t>
            </a:r>
            <a:r>
              <a:rPr lang="en-US" sz="1463" b="1" kern="0" dirty="0">
                <a:solidFill>
                  <a:srgbClr val="FFFFFF"/>
                </a:solidFill>
                <a:latin typeface="Courier"/>
                <a:ea typeface="Courier"/>
                <a:cs typeface="Courier"/>
                <a:sym typeface="Courier New"/>
              </a:rPr>
              <a:t> </a:t>
            </a:r>
            <a:r>
              <a:rPr lang="en-US" sz="1463" b="1" kern="0" dirty="0">
                <a:solidFill>
                  <a:srgbClr val="FF00FF"/>
                </a:solidFill>
                <a:latin typeface="Courier"/>
                <a:ea typeface="Courier"/>
                <a:cs typeface="Courier"/>
                <a:sym typeface="Courier New"/>
              </a:rPr>
              <a:t>value</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 </a:t>
            </a:r>
            <a:r>
              <a:rPr lang="en-US" sz="1463" b="1" kern="0" dirty="0">
                <a:solidFill>
                  <a:srgbClr val="00FFFF"/>
                </a:solidFill>
                <a:latin typeface="Courier"/>
                <a:ea typeface="Courier"/>
                <a:cs typeface="Courier"/>
                <a:sym typeface="Courier New"/>
              </a:rPr>
              <a:t>count,</a:t>
            </a:r>
            <a:r>
              <a:rPr lang="en-US" sz="1463" b="1" kern="0" dirty="0">
                <a:solidFill>
                  <a:srgbClr val="FF7F00"/>
                </a:solidFill>
                <a:latin typeface="Courier"/>
                <a:ea typeface="Courier"/>
                <a:cs typeface="Courier"/>
                <a:sym typeface="Courier New"/>
              </a:rPr>
              <a:t> </a:t>
            </a:r>
            <a:r>
              <a:rPr lang="en-US" sz="1463" b="1" kern="0" dirty="0">
                <a:solidFill>
                  <a:srgbClr val="00FF00"/>
                </a:solidFill>
                <a:latin typeface="Courier"/>
                <a:ea typeface="Courier"/>
                <a:cs typeface="Courier"/>
                <a:sym typeface="Courier New"/>
              </a:rPr>
              <a:t>sum,</a:t>
            </a:r>
            <a:r>
              <a:rPr lang="en-US" sz="1463" b="1" kern="0" dirty="0">
                <a:solidFill>
                  <a:srgbClr val="FFFF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sum / count</a:t>
            </a:r>
            <a:r>
              <a:rPr lang="en-US" sz="1463" b="1" kern="0" dirty="0">
                <a:solidFill>
                  <a:srgbClr val="FFFFFF"/>
                </a:solidFill>
                <a:latin typeface="Courier"/>
                <a:ea typeface="Courier"/>
                <a:cs typeface="Courier"/>
                <a:sym typeface="Courier New"/>
              </a:rPr>
              <a:t>)</a:t>
            </a:r>
          </a:p>
        </p:txBody>
      </p:sp>
      <p:sp>
        <p:nvSpPr>
          <p:cNvPr id="698" name="Shape 698"/>
          <p:cNvSpPr txBox="1"/>
          <p:nvPr/>
        </p:nvSpPr>
        <p:spPr>
          <a:xfrm>
            <a:off x="5644449" y="2230636"/>
            <a:ext cx="2553862" cy="2669963"/>
          </a:xfrm>
          <a:prstGeom prst="rect">
            <a:avLst/>
          </a:prstGeom>
          <a:noFill/>
          <a:ln>
            <a:noFill/>
          </a:ln>
        </p:spPr>
        <p:txBody>
          <a:bodyPr lIns="0" tIns="0" rIns="0" bIns="0" anchor="ctr" anchorCtr="0">
            <a:noAutofit/>
          </a:bodyPr>
          <a:lstStyle/>
          <a:p>
            <a:pPr defTabSz="514350">
              <a:buClr>
                <a:srgbClr val="FFFFFF"/>
              </a:buClr>
              <a:buSzPct val="25000"/>
            </a:pPr>
            <a:r>
              <a:rPr lang="en-US" sz="1688" kern="0" dirty="0">
                <a:solidFill>
                  <a:srgbClr val="FFFFFF"/>
                </a:solidFill>
                <a:latin typeface="Arial" charset="0"/>
                <a:ea typeface="Arial" charset="0"/>
                <a:cs typeface="Arial" charset="0"/>
                <a:sym typeface="Cabin"/>
              </a:rPr>
              <a:t>$ </a:t>
            </a:r>
            <a:r>
              <a:rPr lang="en-US" sz="1688" kern="0" dirty="0">
                <a:solidFill>
                  <a:srgbClr val="FFFF00"/>
                </a:solidFill>
                <a:latin typeface="Arial" charset="0"/>
                <a:ea typeface="Arial" charset="0"/>
                <a:cs typeface="Arial" charset="0"/>
                <a:sym typeface="Cabin"/>
              </a:rPr>
              <a:t>python </a:t>
            </a:r>
            <a:r>
              <a:rPr lang="en-US" sz="1688" kern="0" dirty="0" err="1">
                <a:solidFill>
                  <a:srgbClr val="FFFF00"/>
                </a:solidFill>
                <a:latin typeface="Arial" charset="0"/>
                <a:ea typeface="Arial" charset="0"/>
                <a:cs typeface="Arial" charset="0"/>
                <a:sym typeface="Cabin"/>
              </a:rPr>
              <a:t>averageloop.py</a:t>
            </a:r>
            <a:r>
              <a:rPr lang="en-US" sz="1688" kern="0" dirty="0">
                <a:solidFill>
                  <a:srgbClr val="FFFF00"/>
                </a:solidFill>
                <a:latin typeface="Arial" charset="0"/>
                <a:ea typeface="Arial" charset="0"/>
                <a:cs typeface="Arial" charset="0"/>
                <a:sym typeface="Cabin"/>
              </a:rPr>
              <a:t> </a:t>
            </a:r>
          </a:p>
          <a:p>
            <a:pPr defTabSz="514350">
              <a:buClr>
                <a:srgbClr val="FF7F00"/>
              </a:buClr>
              <a:buSzPct val="25000"/>
            </a:pPr>
            <a:r>
              <a:rPr lang="en-US" sz="1688" kern="0" dirty="0">
                <a:solidFill>
                  <a:srgbClr val="FF7F00"/>
                </a:solidFill>
                <a:latin typeface="Arial" charset="0"/>
                <a:ea typeface="Arial" charset="0"/>
                <a:cs typeface="Arial" charset="0"/>
                <a:sym typeface="Cabin"/>
              </a:rPr>
              <a:t>Before </a:t>
            </a:r>
            <a:r>
              <a:rPr lang="en-US" sz="1688" kern="0" dirty="0">
                <a:solidFill>
                  <a:srgbClr val="00FFFF"/>
                </a:solidFill>
                <a:latin typeface="Arial" charset="0"/>
                <a:ea typeface="Arial" charset="0"/>
                <a:cs typeface="Arial" charset="0"/>
                <a:sym typeface="Cabin"/>
              </a:rPr>
              <a:t>0</a:t>
            </a:r>
            <a:r>
              <a:rPr lang="en-US" sz="1688" kern="0" dirty="0">
                <a:solidFill>
                  <a:srgbClr val="FF7F00"/>
                </a:solidFill>
                <a:latin typeface="Arial" charset="0"/>
                <a:ea typeface="Arial" charset="0"/>
                <a:cs typeface="Arial" charset="0"/>
                <a:sym typeface="Cabin"/>
              </a:rPr>
              <a:t> </a:t>
            </a:r>
            <a:r>
              <a:rPr lang="en-US" sz="1688" kern="0" dirty="0">
                <a:solidFill>
                  <a:srgbClr val="00FF00"/>
                </a:solidFill>
                <a:latin typeface="Arial" charset="0"/>
                <a:ea typeface="Arial" charset="0"/>
                <a:cs typeface="Arial" charset="0"/>
                <a:sym typeface="Cabin"/>
              </a:rPr>
              <a:t>0</a:t>
            </a:r>
          </a:p>
          <a:p>
            <a:pPr defTabSz="514350">
              <a:buClr>
                <a:srgbClr val="00FFFF"/>
              </a:buClr>
              <a:buSzPct val="25000"/>
            </a:pPr>
            <a:r>
              <a:rPr lang="en-US" sz="1688" kern="0" dirty="0">
                <a:solidFill>
                  <a:srgbClr val="00FFFF"/>
                </a:solidFill>
                <a:latin typeface="Arial" charset="0"/>
                <a:ea typeface="Arial" charset="0"/>
                <a:cs typeface="Arial" charset="0"/>
                <a:sym typeface="Cabin"/>
              </a:rPr>
              <a:t>1</a:t>
            </a:r>
            <a:r>
              <a:rPr lang="en-US" sz="1688" kern="0" dirty="0">
                <a:solidFill>
                  <a:srgbClr val="FF00FF"/>
                </a:solidFill>
                <a:latin typeface="Arial" charset="0"/>
                <a:ea typeface="Arial" charset="0"/>
                <a:cs typeface="Arial" charset="0"/>
                <a:sym typeface="Cabin"/>
              </a:rPr>
              <a:t> </a:t>
            </a:r>
            <a:r>
              <a:rPr lang="en-US" sz="1688" kern="0" dirty="0">
                <a:solidFill>
                  <a:srgbClr val="00FF00"/>
                </a:solidFill>
                <a:latin typeface="Arial" charset="0"/>
                <a:ea typeface="Arial" charset="0"/>
                <a:cs typeface="Arial" charset="0"/>
                <a:sym typeface="Cabin"/>
              </a:rPr>
              <a:t>9</a:t>
            </a:r>
            <a:r>
              <a:rPr lang="en-US" sz="1688" kern="0" dirty="0">
                <a:solidFill>
                  <a:srgbClr val="FF00FF"/>
                </a:solidFill>
                <a:latin typeface="Arial" charset="0"/>
                <a:ea typeface="Arial" charset="0"/>
                <a:cs typeface="Arial" charset="0"/>
                <a:sym typeface="Cabin"/>
              </a:rPr>
              <a:t> 9</a:t>
            </a:r>
          </a:p>
          <a:p>
            <a:pPr defTabSz="514350">
              <a:buClr>
                <a:srgbClr val="00FFFF"/>
              </a:buClr>
              <a:buSzPct val="25000"/>
            </a:pPr>
            <a:r>
              <a:rPr lang="en-US" sz="1688" kern="0" dirty="0">
                <a:solidFill>
                  <a:srgbClr val="00FFFF"/>
                </a:solidFill>
                <a:latin typeface="Arial" charset="0"/>
                <a:ea typeface="Arial" charset="0"/>
                <a:cs typeface="Arial" charset="0"/>
                <a:sym typeface="Cabin"/>
              </a:rPr>
              <a:t>2</a:t>
            </a:r>
            <a:r>
              <a:rPr lang="en-US" sz="1688" kern="0" dirty="0">
                <a:solidFill>
                  <a:srgbClr val="FF00FF"/>
                </a:solidFill>
                <a:latin typeface="Arial" charset="0"/>
                <a:ea typeface="Arial" charset="0"/>
                <a:cs typeface="Arial" charset="0"/>
                <a:sym typeface="Cabin"/>
              </a:rPr>
              <a:t> </a:t>
            </a:r>
            <a:r>
              <a:rPr lang="en-US" sz="1688" kern="0" dirty="0">
                <a:solidFill>
                  <a:srgbClr val="00FF00"/>
                </a:solidFill>
                <a:latin typeface="Arial" charset="0"/>
                <a:ea typeface="Arial" charset="0"/>
                <a:cs typeface="Arial" charset="0"/>
                <a:sym typeface="Cabin"/>
              </a:rPr>
              <a:t>50</a:t>
            </a:r>
            <a:r>
              <a:rPr lang="en-US" sz="1688" kern="0" dirty="0">
                <a:solidFill>
                  <a:srgbClr val="FF00FF"/>
                </a:solidFill>
                <a:latin typeface="Arial" charset="0"/>
                <a:ea typeface="Arial" charset="0"/>
                <a:cs typeface="Arial" charset="0"/>
                <a:sym typeface="Cabin"/>
              </a:rPr>
              <a:t> 41</a:t>
            </a:r>
          </a:p>
          <a:p>
            <a:pPr defTabSz="514350">
              <a:buClr>
                <a:srgbClr val="00FFFF"/>
              </a:buClr>
              <a:buSzPct val="25000"/>
            </a:pPr>
            <a:r>
              <a:rPr lang="en-US" sz="1688" kern="0" dirty="0">
                <a:solidFill>
                  <a:srgbClr val="00FFFF"/>
                </a:solidFill>
                <a:latin typeface="Arial" charset="0"/>
                <a:ea typeface="Arial" charset="0"/>
                <a:cs typeface="Arial" charset="0"/>
                <a:sym typeface="Cabin"/>
              </a:rPr>
              <a:t>3</a:t>
            </a:r>
            <a:r>
              <a:rPr lang="en-US" sz="1688" kern="0" dirty="0">
                <a:solidFill>
                  <a:srgbClr val="FF00FF"/>
                </a:solidFill>
                <a:latin typeface="Arial" charset="0"/>
                <a:ea typeface="Arial" charset="0"/>
                <a:cs typeface="Arial" charset="0"/>
                <a:sym typeface="Cabin"/>
              </a:rPr>
              <a:t> </a:t>
            </a:r>
            <a:r>
              <a:rPr lang="en-US" sz="1688" kern="0" dirty="0">
                <a:solidFill>
                  <a:srgbClr val="00FF00"/>
                </a:solidFill>
                <a:latin typeface="Arial" charset="0"/>
                <a:ea typeface="Arial" charset="0"/>
                <a:cs typeface="Arial" charset="0"/>
                <a:sym typeface="Cabin"/>
              </a:rPr>
              <a:t>62</a:t>
            </a:r>
            <a:r>
              <a:rPr lang="en-US" sz="1688" kern="0" dirty="0">
                <a:solidFill>
                  <a:srgbClr val="FF00FF"/>
                </a:solidFill>
                <a:latin typeface="Arial" charset="0"/>
                <a:ea typeface="Arial" charset="0"/>
                <a:cs typeface="Arial" charset="0"/>
                <a:sym typeface="Cabin"/>
              </a:rPr>
              <a:t> 12</a:t>
            </a:r>
          </a:p>
          <a:p>
            <a:pPr defTabSz="514350">
              <a:buClr>
                <a:srgbClr val="00FFFF"/>
              </a:buClr>
              <a:buSzPct val="25000"/>
            </a:pPr>
            <a:r>
              <a:rPr lang="en-US" sz="1688" kern="0" dirty="0">
                <a:solidFill>
                  <a:srgbClr val="00FFFF"/>
                </a:solidFill>
                <a:latin typeface="Arial" charset="0"/>
                <a:ea typeface="Arial" charset="0"/>
                <a:cs typeface="Arial" charset="0"/>
                <a:sym typeface="Cabin"/>
              </a:rPr>
              <a:t>4</a:t>
            </a:r>
            <a:r>
              <a:rPr lang="en-US" sz="1688" kern="0" dirty="0">
                <a:solidFill>
                  <a:srgbClr val="FF00FF"/>
                </a:solidFill>
                <a:latin typeface="Arial" charset="0"/>
                <a:ea typeface="Arial" charset="0"/>
                <a:cs typeface="Arial" charset="0"/>
                <a:sym typeface="Cabin"/>
              </a:rPr>
              <a:t> </a:t>
            </a:r>
            <a:r>
              <a:rPr lang="en-US" sz="1688" kern="0" dirty="0">
                <a:solidFill>
                  <a:srgbClr val="00FF00"/>
                </a:solidFill>
                <a:latin typeface="Arial" charset="0"/>
                <a:ea typeface="Arial" charset="0"/>
                <a:cs typeface="Arial" charset="0"/>
                <a:sym typeface="Cabin"/>
              </a:rPr>
              <a:t>65</a:t>
            </a:r>
            <a:r>
              <a:rPr lang="en-US" sz="1688" kern="0" dirty="0">
                <a:solidFill>
                  <a:srgbClr val="FF00FF"/>
                </a:solidFill>
                <a:latin typeface="Arial" charset="0"/>
                <a:ea typeface="Arial" charset="0"/>
                <a:cs typeface="Arial" charset="0"/>
                <a:sym typeface="Cabin"/>
              </a:rPr>
              <a:t> 3</a:t>
            </a:r>
          </a:p>
          <a:p>
            <a:pPr defTabSz="514350">
              <a:buClr>
                <a:srgbClr val="00FFFF"/>
              </a:buClr>
              <a:buSzPct val="25000"/>
            </a:pPr>
            <a:r>
              <a:rPr lang="en-US" sz="1688" kern="0" dirty="0">
                <a:solidFill>
                  <a:srgbClr val="00FFFF"/>
                </a:solidFill>
                <a:latin typeface="Arial" charset="0"/>
                <a:ea typeface="Arial" charset="0"/>
                <a:cs typeface="Arial" charset="0"/>
                <a:sym typeface="Cabin"/>
              </a:rPr>
              <a:t>5</a:t>
            </a:r>
            <a:r>
              <a:rPr lang="en-US" sz="1688" kern="0" dirty="0">
                <a:solidFill>
                  <a:srgbClr val="FF00FF"/>
                </a:solidFill>
                <a:latin typeface="Arial" charset="0"/>
                <a:ea typeface="Arial" charset="0"/>
                <a:cs typeface="Arial" charset="0"/>
                <a:sym typeface="Cabin"/>
              </a:rPr>
              <a:t> </a:t>
            </a:r>
            <a:r>
              <a:rPr lang="en-US" sz="1688" kern="0" dirty="0">
                <a:solidFill>
                  <a:srgbClr val="00FF00"/>
                </a:solidFill>
                <a:latin typeface="Arial" charset="0"/>
                <a:ea typeface="Arial" charset="0"/>
                <a:cs typeface="Arial" charset="0"/>
                <a:sym typeface="Cabin"/>
              </a:rPr>
              <a:t>139</a:t>
            </a:r>
            <a:r>
              <a:rPr lang="en-US" sz="1688" kern="0" dirty="0">
                <a:solidFill>
                  <a:srgbClr val="FF00FF"/>
                </a:solidFill>
                <a:latin typeface="Arial" charset="0"/>
                <a:ea typeface="Arial" charset="0"/>
                <a:cs typeface="Arial" charset="0"/>
                <a:sym typeface="Cabin"/>
              </a:rPr>
              <a:t> 74</a:t>
            </a:r>
          </a:p>
          <a:p>
            <a:pPr defTabSz="514350">
              <a:buClr>
                <a:srgbClr val="00FFFF"/>
              </a:buClr>
              <a:buSzPct val="25000"/>
            </a:pPr>
            <a:r>
              <a:rPr lang="en-US" sz="1688" kern="0" dirty="0">
                <a:solidFill>
                  <a:srgbClr val="00FFFF"/>
                </a:solidFill>
                <a:latin typeface="Arial" charset="0"/>
                <a:ea typeface="Arial" charset="0"/>
                <a:cs typeface="Arial" charset="0"/>
                <a:sym typeface="Cabin"/>
              </a:rPr>
              <a:t>6</a:t>
            </a:r>
            <a:r>
              <a:rPr lang="en-US" sz="1688" kern="0" dirty="0">
                <a:solidFill>
                  <a:srgbClr val="FF00FF"/>
                </a:solidFill>
                <a:latin typeface="Arial" charset="0"/>
                <a:ea typeface="Arial" charset="0"/>
                <a:cs typeface="Arial" charset="0"/>
                <a:sym typeface="Cabin"/>
              </a:rPr>
              <a:t> </a:t>
            </a:r>
            <a:r>
              <a:rPr lang="en-US" sz="1688" kern="0" dirty="0">
                <a:solidFill>
                  <a:srgbClr val="00FF00"/>
                </a:solidFill>
                <a:latin typeface="Arial" charset="0"/>
                <a:ea typeface="Arial" charset="0"/>
                <a:cs typeface="Arial" charset="0"/>
                <a:sym typeface="Cabin"/>
              </a:rPr>
              <a:t>154</a:t>
            </a:r>
            <a:r>
              <a:rPr lang="en-US" sz="1688" kern="0" dirty="0">
                <a:solidFill>
                  <a:srgbClr val="FF00FF"/>
                </a:solidFill>
                <a:latin typeface="Arial" charset="0"/>
                <a:ea typeface="Arial" charset="0"/>
                <a:cs typeface="Arial" charset="0"/>
                <a:sym typeface="Cabin"/>
              </a:rPr>
              <a:t> 15</a:t>
            </a:r>
          </a:p>
          <a:p>
            <a:pPr defTabSz="514350">
              <a:buClr>
                <a:srgbClr val="FF7F00"/>
              </a:buClr>
              <a:buSzPct val="25000"/>
            </a:pPr>
            <a:r>
              <a:rPr lang="en-US" sz="1688" kern="0">
                <a:solidFill>
                  <a:srgbClr val="FF7F00"/>
                </a:solidFill>
                <a:latin typeface="Arial" charset="0"/>
                <a:ea typeface="Arial" charset="0"/>
                <a:cs typeface="Arial" charset="0"/>
                <a:sym typeface="Cabin"/>
              </a:rPr>
              <a:t>After </a:t>
            </a:r>
            <a:r>
              <a:rPr lang="en-US" sz="1688" kern="0">
                <a:solidFill>
                  <a:srgbClr val="00FFFF"/>
                </a:solidFill>
                <a:latin typeface="Arial" charset="0"/>
                <a:ea typeface="Arial" charset="0"/>
                <a:cs typeface="Arial" charset="0"/>
                <a:sym typeface="Cabin"/>
              </a:rPr>
              <a:t>6</a:t>
            </a:r>
            <a:r>
              <a:rPr lang="en-US" sz="1688" kern="0">
                <a:solidFill>
                  <a:srgbClr val="FF7F00"/>
                </a:solidFill>
                <a:latin typeface="Arial" charset="0"/>
                <a:ea typeface="Arial" charset="0"/>
                <a:cs typeface="Arial" charset="0"/>
                <a:sym typeface="Cabin"/>
              </a:rPr>
              <a:t> </a:t>
            </a:r>
            <a:r>
              <a:rPr lang="en-US" sz="1688" kern="0">
                <a:solidFill>
                  <a:srgbClr val="00FF00"/>
                </a:solidFill>
                <a:latin typeface="Arial" charset="0"/>
                <a:ea typeface="Arial" charset="0"/>
                <a:cs typeface="Arial" charset="0"/>
                <a:sym typeface="Cabin"/>
              </a:rPr>
              <a:t>154</a:t>
            </a:r>
            <a:r>
              <a:rPr lang="en-US" sz="1688" kern="0">
                <a:solidFill>
                  <a:srgbClr val="FFFFFF"/>
                </a:solidFill>
                <a:latin typeface="Arial" charset="0"/>
                <a:ea typeface="Arial" charset="0"/>
                <a:cs typeface="Arial" charset="0"/>
                <a:sym typeface="Cabin"/>
              </a:rPr>
              <a:t> </a:t>
            </a:r>
            <a:r>
              <a:rPr lang="en-US" sz="1688" kern="0">
                <a:solidFill>
                  <a:srgbClr val="FFFF00"/>
                </a:solidFill>
                <a:latin typeface="Arial" charset="0"/>
                <a:ea typeface="Arial" charset="0"/>
                <a:cs typeface="Arial" charset="0"/>
                <a:sym typeface="Cabin"/>
              </a:rPr>
              <a:t>25.666</a:t>
            </a:r>
          </a:p>
        </p:txBody>
      </p:sp>
      <p:sp>
        <p:nvSpPr>
          <p:cNvPr id="699" name="Shape 699"/>
          <p:cNvSpPr txBox="1"/>
          <p:nvPr/>
        </p:nvSpPr>
        <p:spPr>
          <a:xfrm>
            <a:off x="1660922" y="4900598"/>
            <a:ext cx="6236493" cy="642938"/>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kern="0" dirty="0">
                <a:solidFill>
                  <a:srgbClr val="FFFFFF"/>
                </a:solidFill>
                <a:latin typeface="Arial" charset="0"/>
                <a:ea typeface="Arial" charset="0"/>
                <a:cs typeface="Arial" charset="0"/>
                <a:sym typeface="Cabin"/>
              </a:rPr>
              <a:t>An </a:t>
            </a:r>
            <a:r>
              <a:rPr lang="en-US" kern="0" dirty="0">
                <a:solidFill>
                  <a:srgbClr val="FFFF00"/>
                </a:solidFill>
                <a:latin typeface="Arial" charset="0"/>
                <a:ea typeface="Arial" charset="0"/>
                <a:cs typeface="Arial" charset="0"/>
                <a:sym typeface="Cabin"/>
              </a:rPr>
              <a:t>average</a:t>
            </a:r>
            <a:r>
              <a:rPr lang="en-US" kern="0" dirty="0">
                <a:solidFill>
                  <a:srgbClr val="FFFFFF"/>
                </a:solidFill>
                <a:latin typeface="Arial" charset="0"/>
                <a:ea typeface="Arial" charset="0"/>
                <a:cs typeface="Arial" charset="0"/>
                <a:sym typeface="Cabin"/>
              </a:rPr>
              <a:t> just combines the </a:t>
            </a:r>
            <a:r>
              <a:rPr lang="en-US" kern="0" dirty="0">
                <a:solidFill>
                  <a:srgbClr val="00FFFF"/>
                </a:solidFill>
                <a:latin typeface="Arial" charset="0"/>
                <a:ea typeface="Arial" charset="0"/>
                <a:cs typeface="Arial" charset="0"/>
                <a:sym typeface="Cabin"/>
              </a:rPr>
              <a:t>counting</a:t>
            </a:r>
            <a:r>
              <a:rPr lang="en-US" kern="0" dirty="0">
                <a:solidFill>
                  <a:srgbClr val="FFFFFF"/>
                </a:solidFill>
                <a:latin typeface="Arial" charset="0"/>
                <a:ea typeface="Arial" charset="0"/>
                <a:cs typeface="Arial" charset="0"/>
                <a:sym typeface="Cabin"/>
              </a:rPr>
              <a:t> and </a:t>
            </a:r>
            <a:r>
              <a:rPr lang="en-US" kern="0" dirty="0">
                <a:solidFill>
                  <a:srgbClr val="00FF00"/>
                </a:solidFill>
                <a:latin typeface="Arial" charset="0"/>
                <a:ea typeface="Arial" charset="0"/>
                <a:cs typeface="Arial" charset="0"/>
                <a:sym typeface="Cabin"/>
              </a:rPr>
              <a:t>sum</a:t>
            </a:r>
            <a:r>
              <a:rPr lang="en-US" kern="0" dirty="0">
                <a:solidFill>
                  <a:srgbClr val="FFFFFF"/>
                </a:solidFill>
                <a:latin typeface="Arial" charset="0"/>
                <a:ea typeface="Arial" charset="0"/>
                <a:cs typeface="Arial" charset="0"/>
                <a:sym typeface="Cabin"/>
              </a:rPr>
              <a:t> patterns and </a:t>
            </a:r>
            <a:r>
              <a:rPr lang="en-US" kern="0" dirty="0">
                <a:solidFill>
                  <a:srgbClr val="FFFF00"/>
                </a:solidFill>
                <a:latin typeface="Arial" charset="0"/>
                <a:ea typeface="Arial" charset="0"/>
                <a:cs typeface="Arial" charset="0"/>
                <a:sym typeface="Cabin"/>
              </a:rPr>
              <a:t>divides when the loop is done</a:t>
            </a:r>
            <a:r>
              <a:rPr lang="en-US" kern="0" dirty="0">
                <a:solidFill>
                  <a:srgbClr val="FFFFFF"/>
                </a:solidFill>
                <a:latin typeface="Arial" charset="0"/>
                <a:ea typeface="Arial" charset="0"/>
                <a:cs typeface="Arial" charset="0"/>
                <a:sym typeface="Cabin"/>
              </a:rPr>
              <a:t>.</a:t>
            </a:r>
          </a:p>
        </p:txBody>
      </p:sp>
    </p:spTree>
    <p:extLst>
      <p:ext uri="{BB962C8B-B14F-4D97-AF65-F5344CB8AC3E}">
        <p14:creationId xmlns:p14="http://schemas.microsoft.com/office/powerpoint/2010/main" val="35131061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Shape 704"/>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FF"/>
              </a:buClr>
              <a:buSzPct val="25000"/>
            </a:pPr>
            <a:r>
              <a:rPr lang="en-US" sz="4275">
                <a:solidFill>
                  <a:srgbClr val="FFD966"/>
                </a:solidFill>
                <a:latin typeface="Arial" charset="0"/>
                <a:ea typeface="Arial" charset="0"/>
                <a:cs typeface="Arial" charset="0"/>
                <a:sym typeface="Cabin"/>
              </a:rPr>
              <a:t>Filtering in a Loop</a:t>
            </a:r>
          </a:p>
        </p:txBody>
      </p:sp>
      <p:sp>
        <p:nvSpPr>
          <p:cNvPr id="705" name="Shape 705"/>
          <p:cNvSpPr txBox="1"/>
          <p:nvPr/>
        </p:nvSpPr>
        <p:spPr>
          <a:xfrm>
            <a:off x="958148" y="2668191"/>
            <a:ext cx="4324219" cy="1557394"/>
          </a:xfrm>
          <a:prstGeom prst="rect">
            <a:avLst/>
          </a:prstGeom>
          <a:noFill/>
          <a:ln>
            <a:noFill/>
          </a:ln>
        </p:spPr>
        <p:txBody>
          <a:bodyPr lIns="0" tIns="0" rIns="0" bIns="0" anchor="ctr" anchorCtr="0">
            <a:noAutofit/>
          </a:bodyPr>
          <a:lstStyle/>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value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a:t>
            </a:r>
          </a:p>
          <a:p>
            <a:pPr defTabSz="514350">
              <a:buClr>
                <a:srgbClr val="00FFFF"/>
              </a:buClr>
              <a:buSzPct val="25000"/>
            </a:pPr>
            <a:r>
              <a:rPr lang="en-US" sz="1463" b="1" kern="0" dirty="0">
                <a:solidFill>
                  <a:srgbClr val="00FF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if</a:t>
            </a:r>
            <a:r>
              <a:rPr lang="en-US" sz="1463" b="1" kern="0" dirty="0">
                <a:solidFill>
                  <a:srgbClr val="00FFFF"/>
                </a:solidFill>
                <a:latin typeface="Courier"/>
                <a:ea typeface="Courier"/>
                <a:cs typeface="Courier"/>
                <a:sym typeface="Courier New"/>
              </a:rPr>
              <a:t> </a:t>
            </a:r>
            <a:r>
              <a:rPr lang="en-US" sz="1463" b="1" kern="0" dirty="0">
                <a:solidFill>
                  <a:srgbClr val="FF00FF"/>
                </a:solidFill>
                <a:latin typeface="Courier"/>
                <a:ea typeface="Courier"/>
                <a:cs typeface="Courier"/>
                <a:sym typeface="Courier New"/>
              </a:rPr>
              <a:t>value</a:t>
            </a:r>
            <a:r>
              <a:rPr lang="en-US" sz="1463" b="1" kern="0" dirty="0">
                <a:solidFill>
                  <a:srgbClr val="00FFFF"/>
                </a:solidFill>
                <a:latin typeface="Courier"/>
                <a:ea typeface="Courier"/>
                <a:cs typeface="Courier"/>
                <a:sym typeface="Courier New"/>
              </a:rPr>
              <a:t> &gt; 20:</a:t>
            </a:r>
          </a:p>
          <a:p>
            <a:pPr defTabSz="514350">
              <a:buClr>
                <a:srgbClr val="00FFFF"/>
              </a:buClr>
              <a:buSzPct val="25000"/>
            </a:pPr>
            <a:r>
              <a:rPr lang="en-US" sz="1463" b="1" kern="0" dirty="0">
                <a:solidFill>
                  <a:srgbClr val="00FFFF"/>
                </a:solidFill>
                <a:latin typeface="Courier"/>
                <a:ea typeface="Courier"/>
                <a:cs typeface="Courier"/>
                <a:sym typeface="Courier New"/>
              </a:rPr>
              <a:t> 	    print('Large number',value)</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a:t>
            </a:r>
            <a:r>
              <a:rPr lang="en-US" sz="1463" b="1" kern="0" dirty="0">
                <a:solidFill>
                  <a:srgbClr val="FFFFFF"/>
                </a:solidFill>
                <a:latin typeface="Courier"/>
                <a:ea typeface="Courier"/>
                <a:cs typeface="Courier"/>
                <a:sym typeface="Courier New"/>
              </a:rPr>
              <a:t>)</a:t>
            </a:r>
          </a:p>
        </p:txBody>
      </p:sp>
      <p:sp>
        <p:nvSpPr>
          <p:cNvPr id="706" name="Shape 706"/>
          <p:cNvSpPr txBox="1"/>
          <p:nvPr/>
        </p:nvSpPr>
        <p:spPr>
          <a:xfrm>
            <a:off x="5644455" y="2725341"/>
            <a:ext cx="2106506" cy="1557394"/>
          </a:xfrm>
          <a:prstGeom prst="rect">
            <a:avLst/>
          </a:prstGeom>
          <a:noFill/>
          <a:ln>
            <a:noFill/>
          </a:ln>
        </p:spPr>
        <p:txBody>
          <a:bodyPr lIns="0" tIns="0" rIns="0" bIns="0" anchor="ctr" anchorCtr="0">
            <a:noAutofit/>
          </a:bodyPr>
          <a:lstStyle/>
          <a:p>
            <a:pPr defTabSz="514350">
              <a:buClr>
                <a:srgbClr val="FFFFFF"/>
              </a:buClr>
              <a:buSzPct val="25000"/>
            </a:pPr>
            <a:r>
              <a:rPr lang="en-US" sz="1688" kern="0">
                <a:solidFill>
                  <a:srgbClr val="FFFFFF"/>
                </a:solidFill>
                <a:latin typeface="Arial" charset="0"/>
                <a:ea typeface="Arial" charset="0"/>
                <a:cs typeface="Arial" charset="0"/>
                <a:sym typeface="Cabin"/>
              </a:rPr>
              <a:t>$ </a:t>
            </a:r>
            <a:r>
              <a:rPr lang="en-US" sz="1688" kern="0">
                <a:solidFill>
                  <a:srgbClr val="FFFF00"/>
                </a:solidFill>
                <a:latin typeface="Arial" charset="0"/>
                <a:ea typeface="Arial" charset="0"/>
                <a:cs typeface="Arial" charset="0"/>
                <a:sym typeface="Cabin"/>
              </a:rPr>
              <a:t>python search1.py</a:t>
            </a:r>
            <a:r>
              <a:rPr lang="en-US" sz="1688" kern="0">
                <a:solidFill>
                  <a:srgbClr val="FFFFFF"/>
                </a:solidFill>
                <a:latin typeface="Arial" charset="0"/>
                <a:ea typeface="Arial" charset="0"/>
                <a:cs typeface="Arial" charset="0"/>
                <a:sym typeface="Cabin"/>
              </a:rPr>
              <a:t> </a:t>
            </a:r>
          </a:p>
          <a:p>
            <a:pPr defTabSz="514350">
              <a:buClr>
                <a:srgbClr val="FF7F00"/>
              </a:buClr>
              <a:buSzPct val="25000"/>
            </a:pPr>
            <a:r>
              <a:rPr lang="en-US" sz="1688" kern="0">
                <a:solidFill>
                  <a:srgbClr val="FF7F00"/>
                </a:solidFill>
                <a:latin typeface="Arial" charset="0"/>
                <a:ea typeface="Arial" charset="0"/>
                <a:cs typeface="Arial" charset="0"/>
                <a:sym typeface="Cabin"/>
              </a:rPr>
              <a:t>Before</a:t>
            </a:r>
          </a:p>
          <a:p>
            <a:pPr defTabSz="514350">
              <a:buClr>
                <a:srgbClr val="00FFFF"/>
              </a:buClr>
              <a:buSzPct val="25000"/>
            </a:pPr>
            <a:r>
              <a:rPr lang="en-US" sz="1688" kern="0">
                <a:solidFill>
                  <a:srgbClr val="00FFFF"/>
                </a:solidFill>
                <a:latin typeface="Arial" charset="0"/>
                <a:ea typeface="Arial" charset="0"/>
                <a:cs typeface="Arial" charset="0"/>
                <a:sym typeface="Cabin"/>
              </a:rPr>
              <a:t>Large number 41</a:t>
            </a:r>
          </a:p>
          <a:p>
            <a:pPr defTabSz="514350">
              <a:buClr>
                <a:srgbClr val="00FFFF"/>
              </a:buClr>
              <a:buSzPct val="25000"/>
            </a:pPr>
            <a:r>
              <a:rPr lang="en-US" sz="1688" kern="0">
                <a:solidFill>
                  <a:srgbClr val="00FFFF"/>
                </a:solidFill>
                <a:latin typeface="Arial" charset="0"/>
                <a:ea typeface="Arial" charset="0"/>
                <a:cs typeface="Arial" charset="0"/>
                <a:sym typeface="Cabin"/>
              </a:rPr>
              <a:t>Large number 74</a:t>
            </a:r>
          </a:p>
          <a:p>
            <a:pPr defTabSz="514350">
              <a:buClr>
                <a:srgbClr val="FF7F00"/>
              </a:buClr>
              <a:buSzPct val="25000"/>
            </a:pPr>
            <a:r>
              <a:rPr lang="en-US" sz="1688" kern="0">
                <a:solidFill>
                  <a:srgbClr val="FF7F00"/>
                </a:solidFill>
                <a:latin typeface="Arial" charset="0"/>
                <a:ea typeface="Arial" charset="0"/>
                <a:cs typeface="Arial" charset="0"/>
                <a:sym typeface="Cabin"/>
              </a:rPr>
              <a:t>After</a:t>
            </a:r>
          </a:p>
        </p:txBody>
      </p:sp>
      <p:sp>
        <p:nvSpPr>
          <p:cNvPr id="707" name="Shape 707"/>
          <p:cNvSpPr txBox="1"/>
          <p:nvPr/>
        </p:nvSpPr>
        <p:spPr>
          <a:xfrm>
            <a:off x="1514468" y="4821138"/>
            <a:ext cx="6236493" cy="642938"/>
          </a:xfrm>
          <a:prstGeom prst="rect">
            <a:avLst/>
          </a:prstGeom>
          <a:noFill/>
          <a:ln>
            <a:noFill/>
          </a:ln>
        </p:spPr>
        <p:txBody>
          <a:bodyPr lIns="0" tIns="0" rIns="0" bIns="0" anchor="ctr" anchorCtr="0">
            <a:noAutofit/>
          </a:bodyPr>
          <a:lstStyle/>
          <a:p>
            <a:pPr algn="ctr" defTabSz="514350">
              <a:buClr>
                <a:srgbClr val="FFFFFF"/>
              </a:buClr>
              <a:buSzPct val="25000"/>
            </a:pPr>
            <a:r>
              <a:rPr lang="en-US" sz="2025" kern="0">
                <a:solidFill>
                  <a:srgbClr val="FFFFFF"/>
                </a:solidFill>
                <a:latin typeface="Arial" charset="0"/>
                <a:ea typeface="Arial" charset="0"/>
                <a:cs typeface="Arial" charset="0"/>
                <a:sym typeface="Cabin"/>
              </a:rPr>
              <a:t>We use an </a:t>
            </a:r>
            <a:r>
              <a:rPr lang="en-US" sz="2025" kern="0">
                <a:solidFill>
                  <a:srgbClr val="FFFF00"/>
                </a:solidFill>
                <a:latin typeface="Arial" charset="0"/>
                <a:ea typeface="Arial" charset="0"/>
                <a:cs typeface="Arial" charset="0"/>
                <a:sym typeface="Cabin"/>
              </a:rPr>
              <a:t>if</a:t>
            </a:r>
            <a:r>
              <a:rPr lang="en-US" sz="2025" kern="0">
                <a:solidFill>
                  <a:srgbClr val="FFFFFF"/>
                </a:solidFill>
                <a:latin typeface="Arial" charset="0"/>
                <a:ea typeface="Arial" charset="0"/>
                <a:cs typeface="Arial" charset="0"/>
                <a:sym typeface="Cabin"/>
              </a:rPr>
              <a:t> statement in the </a:t>
            </a:r>
            <a:r>
              <a:rPr lang="en-US" sz="2025" kern="0">
                <a:solidFill>
                  <a:srgbClr val="FF00FF"/>
                </a:solidFill>
                <a:latin typeface="Arial" charset="0"/>
                <a:ea typeface="Arial" charset="0"/>
                <a:cs typeface="Arial" charset="0"/>
                <a:sym typeface="Cabin"/>
              </a:rPr>
              <a:t>loop</a:t>
            </a:r>
            <a:r>
              <a:rPr lang="en-US" sz="2025" kern="0">
                <a:solidFill>
                  <a:srgbClr val="FFFFFF"/>
                </a:solidFill>
                <a:latin typeface="Arial" charset="0"/>
                <a:ea typeface="Arial" charset="0"/>
                <a:cs typeface="Arial" charset="0"/>
                <a:sym typeface="Cabin"/>
              </a:rPr>
              <a:t> to catch / filter the values we are looking for.</a:t>
            </a:r>
          </a:p>
        </p:txBody>
      </p:sp>
    </p:spTree>
    <p:extLst>
      <p:ext uri="{BB962C8B-B14F-4D97-AF65-F5344CB8AC3E}">
        <p14:creationId xmlns:p14="http://schemas.microsoft.com/office/powerpoint/2010/main" val="35557402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Shape 712"/>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3713" dirty="0">
                <a:solidFill>
                  <a:srgbClr val="FFD966"/>
                </a:solidFill>
                <a:latin typeface="Arial" charset="0"/>
                <a:ea typeface="Arial" charset="0"/>
                <a:cs typeface="Arial" charset="0"/>
                <a:sym typeface="Cabin"/>
              </a:rPr>
              <a:t>Search Using a Boolean Variable</a:t>
            </a:r>
          </a:p>
        </p:txBody>
      </p:sp>
      <p:sp>
        <p:nvSpPr>
          <p:cNvPr id="713" name="Shape 713"/>
          <p:cNvSpPr txBox="1"/>
          <p:nvPr/>
        </p:nvSpPr>
        <p:spPr>
          <a:xfrm>
            <a:off x="958149" y="2527988"/>
            <a:ext cx="4335693" cy="2180587"/>
          </a:xfrm>
          <a:prstGeom prst="rect">
            <a:avLst/>
          </a:prstGeom>
          <a:noFill/>
          <a:ln>
            <a:noFill/>
          </a:ln>
        </p:spPr>
        <p:txBody>
          <a:bodyPr lIns="0" tIns="0" rIns="0" bIns="0" anchor="ctr" anchorCtr="0">
            <a:noAutofit/>
          </a:bodyPr>
          <a:lstStyle/>
          <a:p>
            <a:pPr defTabSz="514350">
              <a:buClr>
                <a:srgbClr val="00FF00"/>
              </a:buClr>
              <a:buSzPct val="25000"/>
            </a:pPr>
            <a:r>
              <a:rPr lang="en-US" sz="1463" b="1" kern="0" dirty="0">
                <a:solidFill>
                  <a:srgbClr val="00FF00"/>
                </a:solidFill>
                <a:latin typeface="Courier"/>
                <a:ea typeface="Courier"/>
                <a:cs typeface="Courier"/>
                <a:sym typeface="Courier New"/>
              </a:rPr>
              <a:t>found = </a:t>
            </a:r>
            <a:r>
              <a:rPr lang="en-US" sz="1463" b="1" kern="0" dirty="0">
                <a:solidFill>
                  <a:srgbClr val="FFFF00"/>
                </a:solidFill>
                <a:latin typeface="Courier"/>
                <a:ea typeface="Courier"/>
                <a:cs typeface="Courier"/>
                <a:sym typeface="Courier New"/>
              </a:rPr>
              <a:t>False</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 </a:t>
            </a:r>
            <a:r>
              <a:rPr lang="en-US" sz="1463" b="1" kern="0" dirty="0">
                <a:solidFill>
                  <a:srgbClr val="00FF00"/>
                </a:solidFill>
                <a:latin typeface="Courier"/>
                <a:ea typeface="Courier"/>
                <a:cs typeface="Courier"/>
                <a:sym typeface="Courier New"/>
              </a:rPr>
              <a:t>found</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value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 </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if</a:t>
            </a:r>
            <a:r>
              <a:rPr lang="en-US" sz="1463" b="1" kern="0" dirty="0">
                <a:solidFill>
                  <a:srgbClr val="FF00FF"/>
                </a:solidFill>
                <a:latin typeface="Courier"/>
                <a:ea typeface="Courier"/>
                <a:cs typeface="Courier"/>
                <a:sym typeface="Courier New"/>
              </a:rPr>
              <a:t> value == 3 :</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00FF00"/>
                </a:solidFill>
                <a:latin typeface="Courier"/>
                <a:ea typeface="Courier"/>
                <a:cs typeface="Courier"/>
                <a:sym typeface="Courier New"/>
              </a:rPr>
              <a:t>      found = </a:t>
            </a:r>
            <a:r>
              <a:rPr lang="en-US" sz="1463" b="1" kern="0" dirty="0">
                <a:solidFill>
                  <a:srgbClr val="FFFF00"/>
                </a:solidFill>
                <a:latin typeface="Courier"/>
                <a:ea typeface="Courier"/>
                <a:cs typeface="Courier"/>
                <a:sym typeface="Courier New"/>
              </a:rPr>
              <a:t>True</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00FF00"/>
                </a:solidFill>
                <a:latin typeface="Courier"/>
                <a:ea typeface="Courier"/>
                <a:cs typeface="Courier"/>
                <a:sym typeface="Courier New"/>
              </a:rPr>
              <a:t>found</a:t>
            </a:r>
            <a:r>
              <a:rPr lang="en-US" sz="1463" b="1" kern="0" dirty="0">
                <a:solidFill>
                  <a:srgbClr val="FF00FF"/>
                </a:solidFill>
                <a:latin typeface="Courier"/>
                <a:ea typeface="Courier"/>
                <a:cs typeface="Courier"/>
                <a:sym typeface="Courier New"/>
              </a:rPr>
              <a:t>, value</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 </a:t>
            </a:r>
            <a:r>
              <a:rPr lang="en-US" sz="1463" b="1" kern="0" dirty="0">
                <a:solidFill>
                  <a:srgbClr val="00FF00"/>
                </a:solidFill>
                <a:latin typeface="Courier"/>
                <a:ea typeface="Courier"/>
                <a:cs typeface="Courier"/>
                <a:sym typeface="Courier New"/>
              </a:rPr>
              <a:t>found</a:t>
            </a:r>
            <a:r>
              <a:rPr lang="en-US" sz="1463" b="1" kern="0" dirty="0">
                <a:solidFill>
                  <a:srgbClr val="FFFFFF"/>
                </a:solidFill>
                <a:latin typeface="Courier"/>
                <a:ea typeface="Courier"/>
                <a:cs typeface="Courier"/>
                <a:sym typeface="Courier New"/>
              </a:rPr>
              <a:t>)</a:t>
            </a:r>
          </a:p>
        </p:txBody>
      </p:sp>
      <p:sp>
        <p:nvSpPr>
          <p:cNvPr id="714" name="Shape 714"/>
          <p:cNvSpPr txBox="1"/>
          <p:nvPr/>
        </p:nvSpPr>
        <p:spPr>
          <a:xfrm>
            <a:off x="5644455" y="2187774"/>
            <a:ext cx="2106506" cy="2803949"/>
          </a:xfrm>
          <a:prstGeom prst="rect">
            <a:avLst/>
          </a:prstGeom>
          <a:noFill/>
          <a:ln>
            <a:noFill/>
          </a:ln>
        </p:spPr>
        <p:txBody>
          <a:bodyPr lIns="0" tIns="0" rIns="0" bIns="0" anchor="ctr" anchorCtr="0">
            <a:noAutofit/>
          </a:bodyPr>
          <a:lstStyle/>
          <a:p>
            <a:pPr defTabSz="514350">
              <a:buClr>
                <a:srgbClr val="FFFFFF"/>
              </a:buClr>
              <a:buSzPct val="25000"/>
            </a:pPr>
            <a:r>
              <a:rPr lang="en-US" sz="1688" kern="0">
                <a:solidFill>
                  <a:srgbClr val="FFFFFF"/>
                </a:solidFill>
                <a:latin typeface="Arial" charset="0"/>
                <a:ea typeface="Arial" charset="0"/>
                <a:cs typeface="Arial" charset="0"/>
                <a:sym typeface="Cabin"/>
              </a:rPr>
              <a:t>$ </a:t>
            </a:r>
            <a:r>
              <a:rPr lang="en-US" sz="1688" kern="0">
                <a:solidFill>
                  <a:srgbClr val="FFFF00"/>
                </a:solidFill>
                <a:latin typeface="Arial" charset="0"/>
                <a:ea typeface="Arial" charset="0"/>
                <a:cs typeface="Arial" charset="0"/>
                <a:sym typeface="Cabin"/>
              </a:rPr>
              <a:t>python search1.py</a:t>
            </a:r>
            <a:r>
              <a:rPr lang="en-US" sz="1688" kern="0">
                <a:solidFill>
                  <a:srgbClr val="FFFFFF"/>
                </a:solidFill>
                <a:latin typeface="Arial" charset="0"/>
                <a:ea typeface="Arial" charset="0"/>
                <a:cs typeface="Arial" charset="0"/>
                <a:sym typeface="Cabin"/>
              </a:rPr>
              <a:t> </a:t>
            </a:r>
          </a:p>
          <a:p>
            <a:pPr defTabSz="514350">
              <a:buClr>
                <a:srgbClr val="FF7F00"/>
              </a:buClr>
              <a:buSzPct val="25000"/>
            </a:pPr>
            <a:r>
              <a:rPr lang="en-US" sz="1688" kern="0">
                <a:solidFill>
                  <a:srgbClr val="FF7F00"/>
                </a:solidFill>
                <a:latin typeface="Arial" charset="0"/>
                <a:ea typeface="Arial" charset="0"/>
                <a:cs typeface="Arial" charset="0"/>
                <a:sym typeface="Cabin"/>
              </a:rPr>
              <a:t>Before </a:t>
            </a:r>
            <a:r>
              <a:rPr lang="en-US" sz="1688" kern="0">
                <a:solidFill>
                  <a:srgbClr val="00FF00"/>
                </a:solidFill>
                <a:latin typeface="Arial" charset="0"/>
                <a:ea typeface="Arial" charset="0"/>
                <a:cs typeface="Arial" charset="0"/>
                <a:sym typeface="Cabin"/>
              </a:rPr>
              <a:t>False</a:t>
            </a:r>
          </a:p>
          <a:p>
            <a:pPr defTabSz="514350">
              <a:buClr>
                <a:srgbClr val="00FF00"/>
              </a:buClr>
              <a:buSzPct val="25000"/>
            </a:pPr>
            <a:r>
              <a:rPr lang="en-US" sz="1688" kern="0">
                <a:solidFill>
                  <a:srgbClr val="00FF00"/>
                </a:solidFill>
                <a:latin typeface="Arial" charset="0"/>
                <a:ea typeface="Arial" charset="0"/>
                <a:cs typeface="Arial" charset="0"/>
                <a:sym typeface="Cabin"/>
              </a:rPr>
              <a:t>False</a:t>
            </a:r>
            <a:r>
              <a:rPr lang="en-US" sz="1688" kern="0">
                <a:solidFill>
                  <a:srgbClr val="FF00FF"/>
                </a:solidFill>
                <a:latin typeface="Arial" charset="0"/>
                <a:ea typeface="Arial" charset="0"/>
                <a:cs typeface="Arial" charset="0"/>
                <a:sym typeface="Cabin"/>
              </a:rPr>
              <a:t> 9</a:t>
            </a:r>
          </a:p>
          <a:p>
            <a:pPr defTabSz="514350">
              <a:buClr>
                <a:srgbClr val="00FF00"/>
              </a:buClr>
              <a:buSzPct val="25000"/>
            </a:pPr>
            <a:r>
              <a:rPr lang="en-US" sz="1688" kern="0">
                <a:solidFill>
                  <a:srgbClr val="00FF00"/>
                </a:solidFill>
                <a:latin typeface="Arial" charset="0"/>
                <a:ea typeface="Arial" charset="0"/>
                <a:cs typeface="Arial" charset="0"/>
                <a:sym typeface="Cabin"/>
              </a:rPr>
              <a:t>False</a:t>
            </a:r>
            <a:r>
              <a:rPr lang="en-US" sz="1688" kern="0">
                <a:solidFill>
                  <a:srgbClr val="FF00FF"/>
                </a:solidFill>
                <a:latin typeface="Arial" charset="0"/>
                <a:ea typeface="Arial" charset="0"/>
                <a:cs typeface="Arial" charset="0"/>
                <a:sym typeface="Cabin"/>
              </a:rPr>
              <a:t> 41</a:t>
            </a:r>
          </a:p>
          <a:p>
            <a:pPr defTabSz="514350">
              <a:buClr>
                <a:srgbClr val="00FF00"/>
              </a:buClr>
              <a:buSzPct val="25000"/>
            </a:pPr>
            <a:r>
              <a:rPr lang="en-US" sz="1688" kern="0">
                <a:solidFill>
                  <a:srgbClr val="00FF00"/>
                </a:solidFill>
                <a:latin typeface="Arial" charset="0"/>
                <a:ea typeface="Arial" charset="0"/>
                <a:cs typeface="Arial" charset="0"/>
                <a:sym typeface="Cabin"/>
              </a:rPr>
              <a:t>False</a:t>
            </a:r>
            <a:r>
              <a:rPr lang="en-US" sz="1688" kern="0">
                <a:solidFill>
                  <a:srgbClr val="FF00FF"/>
                </a:solidFill>
                <a:latin typeface="Arial" charset="0"/>
                <a:ea typeface="Arial" charset="0"/>
                <a:cs typeface="Arial" charset="0"/>
                <a:sym typeface="Cabin"/>
              </a:rPr>
              <a:t> 12</a:t>
            </a:r>
          </a:p>
          <a:p>
            <a:pPr defTabSz="514350">
              <a:buClr>
                <a:srgbClr val="00FF00"/>
              </a:buClr>
              <a:buSzPct val="25000"/>
            </a:pPr>
            <a:r>
              <a:rPr lang="en-US" sz="1688" kern="0">
                <a:solidFill>
                  <a:srgbClr val="00FF00"/>
                </a:solidFill>
                <a:latin typeface="Arial" charset="0"/>
                <a:ea typeface="Arial" charset="0"/>
                <a:cs typeface="Arial" charset="0"/>
                <a:sym typeface="Cabin"/>
              </a:rPr>
              <a:t>True</a:t>
            </a:r>
            <a:r>
              <a:rPr lang="en-US" sz="1688" kern="0">
                <a:solidFill>
                  <a:srgbClr val="FF00FF"/>
                </a:solidFill>
                <a:latin typeface="Arial" charset="0"/>
                <a:ea typeface="Arial" charset="0"/>
                <a:cs typeface="Arial" charset="0"/>
                <a:sym typeface="Cabin"/>
              </a:rPr>
              <a:t> 3</a:t>
            </a:r>
          </a:p>
          <a:p>
            <a:pPr defTabSz="514350">
              <a:buClr>
                <a:srgbClr val="00FF00"/>
              </a:buClr>
              <a:buSzPct val="25000"/>
            </a:pPr>
            <a:r>
              <a:rPr lang="en-US" sz="1688" kern="0">
                <a:solidFill>
                  <a:srgbClr val="00FF00"/>
                </a:solidFill>
                <a:latin typeface="Arial" charset="0"/>
                <a:ea typeface="Arial" charset="0"/>
                <a:cs typeface="Arial" charset="0"/>
                <a:sym typeface="Cabin"/>
              </a:rPr>
              <a:t>True</a:t>
            </a:r>
            <a:r>
              <a:rPr lang="en-US" sz="1688" kern="0">
                <a:solidFill>
                  <a:srgbClr val="FF00FF"/>
                </a:solidFill>
                <a:latin typeface="Arial" charset="0"/>
                <a:ea typeface="Arial" charset="0"/>
                <a:cs typeface="Arial" charset="0"/>
                <a:sym typeface="Cabin"/>
              </a:rPr>
              <a:t> 74</a:t>
            </a:r>
          </a:p>
          <a:p>
            <a:pPr defTabSz="514350">
              <a:buClr>
                <a:srgbClr val="00FF00"/>
              </a:buClr>
              <a:buSzPct val="25000"/>
            </a:pPr>
            <a:r>
              <a:rPr lang="en-US" sz="1688" kern="0">
                <a:solidFill>
                  <a:srgbClr val="00FF00"/>
                </a:solidFill>
                <a:latin typeface="Arial" charset="0"/>
                <a:ea typeface="Arial" charset="0"/>
                <a:cs typeface="Arial" charset="0"/>
                <a:sym typeface="Cabin"/>
              </a:rPr>
              <a:t>True</a:t>
            </a:r>
            <a:r>
              <a:rPr lang="en-US" sz="1688" kern="0">
                <a:solidFill>
                  <a:srgbClr val="FF00FF"/>
                </a:solidFill>
                <a:latin typeface="Arial" charset="0"/>
                <a:ea typeface="Arial" charset="0"/>
                <a:cs typeface="Arial" charset="0"/>
                <a:sym typeface="Cabin"/>
              </a:rPr>
              <a:t> 15</a:t>
            </a:r>
          </a:p>
          <a:p>
            <a:pPr defTabSz="514350">
              <a:buClr>
                <a:srgbClr val="FF7F00"/>
              </a:buClr>
              <a:buSzPct val="25000"/>
            </a:pPr>
            <a:r>
              <a:rPr lang="en-US" sz="1688" kern="0">
                <a:solidFill>
                  <a:srgbClr val="FF7F00"/>
                </a:solidFill>
                <a:latin typeface="Arial" charset="0"/>
                <a:ea typeface="Arial" charset="0"/>
                <a:cs typeface="Arial" charset="0"/>
                <a:sym typeface="Cabin"/>
              </a:rPr>
              <a:t>After </a:t>
            </a:r>
            <a:r>
              <a:rPr lang="en-US" sz="1688" kern="0">
                <a:solidFill>
                  <a:srgbClr val="00FF00"/>
                </a:solidFill>
                <a:latin typeface="Arial" charset="0"/>
                <a:ea typeface="Arial" charset="0"/>
                <a:cs typeface="Arial" charset="0"/>
                <a:sym typeface="Cabin"/>
              </a:rPr>
              <a:t>True</a:t>
            </a:r>
          </a:p>
        </p:txBody>
      </p:sp>
      <p:sp>
        <p:nvSpPr>
          <p:cNvPr id="715" name="Shape 715"/>
          <p:cNvSpPr txBox="1"/>
          <p:nvPr/>
        </p:nvSpPr>
        <p:spPr>
          <a:xfrm>
            <a:off x="544612" y="4912298"/>
            <a:ext cx="7942219" cy="642938"/>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kern="0">
                <a:solidFill>
                  <a:srgbClr val="FFFFFF"/>
                </a:solidFill>
                <a:latin typeface="Arial" charset="0"/>
                <a:ea typeface="Arial" charset="0"/>
                <a:cs typeface="Arial" charset="0"/>
                <a:sym typeface="Cabin"/>
              </a:rPr>
              <a:t>If we just want to search and</a:t>
            </a:r>
            <a:r>
              <a:rPr lang="en-US" kern="0">
                <a:solidFill>
                  <a:srgbClr val="FF0000"/>
                </a:solidFill>
                <a:latin typeface="Arial" charset="0"/>
                <a:ea typeface="Arial" charset="0"/>
                <a:cs typeface="Arial" charset="0"/>
                <a:sym typeface="Cabin"/>
              </a:rPr>
              <a:t> </a:t>
            </a:r>
            <a:r>
              <a:rPr lang="en-US" kern="0">
                <a:solidFill>
                  <a:srgbClr val="00FF00"/>
                </a:solidFill>
                <a:latin typeface="Arial" charset="0"/>
                <a:ea typeface="Arial" charset="0"/>
                <a:cs typeface="Arial" charset="0"/>
                <a:sym typeface="Cabin"/>
              </a:rPr>
              <a:t>know if a value was found</a:t>
            </a:r>
            <a:r>
              <a:rPr lang="en-US" kern="0">
                <a:solidFill>
                  <a:srgbClr val="FFFFFF"/>
                </a:solidFill>
                <a:latin typeface="Arial" charset="0"/>
                <a:ea typeface="Arial" charset="0"/>
                <a:cs typeface="Arial" charset="0"/>
                <a:sym typeface="Cabin"/>
              </a:rPr>
              <a:t>, we use a </a:t>
            </a:r>
            <a:r>
              <a:rPr lang="en-US" kern="0">
                <a:solidFill>
                  <a:srgbClr val="00FF00"/>
                </a:solidFill>
                <a:latin typeface="Arial" charset="0"/>
                <a:ea typeface="Arial" charset="0"/>
                <a:cs typeface="Arial" charset="0"/>
                <a:sym typeface="Cabin"/>
              </a:rPr>
              <a:t>variable</a:t>
            </a:r>
            <a:r>
              <a:rPr lang="en-US" kern="0">
                <a:solidFill>
                  <a:srgbClr val="FFFFFF"/>
                </a:solidFill>
                <a:latin typeface="Arial" charset="0"/>
                <a:ea typeface="Arial" charset="0"/>
                <a:cs typeface="Arial" charset="0"/>
                <a:sym typeface="Cabin"/>
              </a:rPr>
              <a:t> that starts at </a:t>
            </a:r>
            <a:r>
              <a:rPr lang="en-US" kern="0">
                <a:solidFill>
                  <a:srgbClr val="FFFF00"/>
                </a:solidFill>
                <a:latin typeface="Arial" charset="0"/>
                <a:ea typeface="Arial" charset="0"/>
                <a:cs typeface="Arial" charset="0"/>
                <a:sym typeface="Cabin"/>
              </a:rPr>
              <a:t>False</a:t>
            </a:r>
            <a:r>
              <a:rPr lang="en-US" kern="0">
                <a:solidFill>
                  <a:srgbClr val="FFFFFF"/>
                </a:solidFill>
                <a:latin typeface="Arial" charset="0"/>
                <a:ea typeface="Arial" charset="0"/>
                <a:cs typeface="Arial" charset="0"/>
                <a:sym typeface="Cabin"/>
              </a:rPr>
              <a:t> and is set to </a:t>
            </a:r>
            <a:r>
              <a:rPr lang="en-US" kern="0">
                <a:solidFill>
                  <a:srgbClr val="FFFF00"/>
                </a:solidFill>
                <a:latin typeface="Arial" charset="0"/>
                <a:ea typeface="Arial" charset="0"/>
                <a:cs typeface="Arial" charset="0"/>
                <a:sym typeface="Cabin"/>
              </a:rPr>
              <a:t>True</a:t>
            </a:r>
            <a:r>
              <a:rPr lang="en-US" kern="0">
                <a:solidFill>
                  <a:srgbClr val="FFFFFF"/>
                </a:solidFill>
                <a:latin typeface="Arial" charset="0"/>
                <a:ea typeface="Arial" charset="0"/>
                <a:cs typeface="Arial" charset="0"/>
                <a:sym typeface="Cabin"/>
              </a:rPr>
              <a:t> as soon as we </a:t>
            </a:r>
            <a:r>
              <a:rPr lang="en-US" kern="0">
                <a:solidFill>
                  <a:srgbClr val="00FF00"/>
                </a:solidFill>
                <a:latin typeface="Arial" charset="0"/>
                <a:ea typeface="Arial" charset="0"/>
                <a:cs typeface="Arial" charset="0"/>
                <a:sym typeface="Cabin"/>
              </a:rPr>
              <a:t>find</a:t>
            </a:r>
            <a:r>
              <a:rPr lang="en-US" kern="0">
                <a:solidFill>
                  <a:srgbClr val="FFFFFF"/>
                </a:solidFill>
                <a:latin typeface="Arial" charset="0"/>
                <a:ea typeface="Arial" charset="0"/>
                <a:cs typeface="Arial" charset="0"/>
                <a:sym typeface="Cabin"/>
              </a:rPr>
              <a:t> what we are looking for.</a:t>
            </a:r>
          </a:p>
        </p:txBody>
      </p:sp>
    </p:spTree>
    <p:extLst>
      <p:ext uri="{BB962C8B-B14F-4D97-AF65-F5344CB8AC3E}">
        <p14:creationId xmlns:p14="http://schemas.microsoft.com/office/powerpoint/2010/main" val="23267565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Shape 720"/>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How to Find the Smallest Value</a:t>
            </a:r>
          </a:p>
        </p:txBody>
      </p:sp>
      <p:sp>
        <p:nvSpPr>
          <p:cNvPr id="721" name="Shape 721"/>
          <p:cNvSpPr txBox="1"/>
          <p:nvPr/>
        </p:nvSpPr>
        <p:spPr>
          <a:xfrm>
            <a:off x="911461" y="2549939"/>
            <a:ext cx="4497693" cy="1869919"/>
          </a:xfrm>
          <a:prstGeom prst="rect">
            <a:avLst/>
          </a:prstGeom>
          <a:noFill/>
          <a:ln>
            <a:noFill/>
          </a:ln>
        </p:spPr>
        <p:txBody>
          <a:bodyPr lIns="0" tIns="0" rIns="0" bIns="0" anchor="ctr" anchorCtr="0">
            <a:noAutofit/>
          </a:bodyPr>
          <a:lstStyle/>
          <a:p>
            <a:pPr defTabSz="514350">
              <a:buClr>
                <a:srgbClr val="00FFFF"/>
              </a:buClr>
              <a:buSzPct val="25000"/>
            </a:pPr>
            <a:r>
              <a:rPr lang="en-US" sz="1463" b="1" kern="0" dirty="0" err="1">
                <a:solidFill>
                  <a:srgbClr val="00FF00"/>
                </a:solidFill>
                <a:latin typeface="Courier"/>
                <a:ea typeface="Courier"/>
                <a:cs typeface="Courier"/>
                <a:sym typeface="Courier New"/>
              </a:rPr>
              <a:t>largest_so_far</a:t>
            </a:r>
            <a:r>
              <a:rPr lang="en-US" sz="1463" b="1" kern="0" dirty="0">
                <a:solidFill>
                  <a:srgbClr val="00FF00"/>
                </a:solidFill>
                <a:latin typeface="Courier"/>
                <a:ea typeface="Courier"/>
                <a:cs typeface="Courier"/>
                <a:sym typeface="Courier New"/>
              </a:rPr>
              <a:t> = -1</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 </a:t>
            </a:r>
            <a:r>
              <a:rPr lang="en-US" sz="1463" b="1" kern="0" dirty="0" err="1">
                <a:solidFill>
                  <a:srgbClr val="00FF00"/>
                </a:solidFill>
                <a:latin typeface="Courier"/>
                <a:ea typeface="Courier"/>
                <a:cs typeface="Courier"/>
                <a:sym typeface="Courier New"/>
              </a:rPr>
              <a:t>largest_so_far</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a:t>
            </a:r>
            <a:r>
              <a:rPr lang="en-US" sz="1463" b="1" kern="0" dirty="0" err="1">
                <a:solidFill>
                  <a:srgbClr val="FF00FF"/>
                </a:solidFill>
                <a:latin typeface="Courier"/>
                <a:ea typeface="Courier"/>
                <a:cs typeface="Courier"/>
                <a:sym typeface="Courier New"/>
              </a:rPr>
              <a:t>the_num</a:t>
            </a: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a:t>
            </a:r>
          </a:p>
          <a:p>
            <a:pPr defTabSz="514350">
              <a:buClr>
                <a:srgbClr val="FFFF00"/>
              </a:buClr>
              <a:buSzPct val="25000"/>
            </a:pPr>
            <a:r>
              <a:rPr lang="en-US" sz="1463" b="1" kern="0" dirty="0">
                <a:solidFill>
                  <a:srgbClr val="FF00FF"/>
                </a:solidFill>
                <a:latin typeface="Courier"/>
                <a:ea typeface="Courier"/>
                <a:cs typeface="Courier"/>
                <a:sym typeface="Courier New"/>
              </a:rPr>
              <a:t>   if </a:t>
            </a:r>
            <a:r>
              <a:rPr lang="en-US" sz="1463" b="1" kern="0" dirty="0" err="1">
                <a:solidFill>
                  <a:srgbClr val="FF00FF"/>
                </a:solidFill>
                <a:latin typeface="Courier"/>
                <a:ea typeface="Courier"/>
                <a:cs typeface="Courier"/>
                <a:sym typeface="Courier New"/>
              </a:rPr>
              <a:t>the_num</a:t>
            </a:r>
            <a:r>
              <a:rPr lang="en-US" sz="1463" b="1" kern="0" dirty="0">
                <a:solidFill>
                  <a:srgbClr val="FF00FF"/>
                </a:solidFill>
                <a:latin typeface="Courier"/>
                <a:ea typeface="Courier"/>
                <a:cs typeface="Courier"/>
                <a:sym typeface="Courier New"/>
              </a:rPr>
              <a:t> &gt; </a:t>
            </a:r>
            <a:r>
              <a:rPr lang="en-US" sz="1463" b="1" kern="0" dirty="0" err="1">
                <a:solidFill>
                  <a:srgbClr val="00FF00"/>
                </a:solidFill>
                <a:latin typeface="Courier"/>
                <a:ea typeface="Courier"/>
                <a:cs typeface="Courier"/>
                <a:sym typeface="Courier New"/>
              </a:rPr>
              <a:t>largest_so_far</a:t>
            </a:r>
            <a:r>
              <a:rPr lang="en-US" sz="1463" b="1" kern="0" dirty="0">
                <a:solidFill>
                  <a:srgbClr val="FF00FF"/>
                </a:solidFill>
                <a:latin typeface="Courier"/>
                <a:ea typeface="Courier"/>
                <a:cs typeface="Courier"/>
                <a:sym typeface="Courier New"/>
              </a:rPr>
              <a:t> :</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err="1">
                <a:solidFill>
                  <a:srgbClr val="00FF00"/>
                </a:solidFill>
                <a:latin typeface="Courier"/>
                <a:ea typeface="Courier"/>
                <a:cs typeface="Courier"/>
                <a:sym typeface="Courier New"/>
              </a:rPr>
              <a:t>largest_so_far</a:t>
            </a:r>
            <a:r>
              <a:rPr lang="en-US" sz="1463" b="1" kern="0" dirty="0">
                <a:solidFill>
                  <a:srgbClr val="00FF00"/>
                </a:solidFill>
                <a:latin typeface="Courier"/>
                <a:ea typeface="Courier"/>
                <a:cs typeface="Courier"/>
                <a:sym typeface="Courier New"/>
              </a:rPr>
              <a:t> = </a:t>
            </a:r>
            <a:r>
              <a:rPr lang="en-US" sz="1463" b="1" kern="0" dirty="0" err="1">
                <a:solidFill>
                  <a:srgbClr val="FF00FF"/>
                </a:solidFill>
                <a:latin typeface="Courier"/>
                <a:ea typeface="Courier"/>
                <a:cs typeface="Courier"/>
                <a:sym typeface="Courier New"/>
              </a:rPr>
              <a:t>the_num</a:t>
            </a:r>
            <a:endParaRPr lang="en-US" sz="1463" b="1" kern="0" dirty="0">
              <a:solidFill>
                <a:srgbClr val="FF00FF"/>
              </a:solidFill>
              <a:latin typeface="Courier"/>
              <a:ea typeface="Courier"/>
              <a:cs typeface="Courier"/>
              <a:sym typeface="Courier New"/>
            </a:endParaRP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err="1">
                <a:solidFill>
                  <a:srgbClr val="00FF00"/>
                </a:solidFill>
                <a:latin typeface="Courier"/>
                <a:ea typeface="Courier"/>
                <a:cs typeface="Courier"/>
                <a:sym typeface="Courier New"/>
              </a:rPr>
              <a:t>largest_so_far</a:t>
            </a:r>
            <a:r>
              <a:rPr lang="en-US" sz="1463" b="1" kern="0" dirty="0">
                <a:solidFill>
                  <a:srgbClr val="00FF00"/>
                </a:solidFill>
                <a:latin typeface="Courier"/>
                <a:ea typeface="Courier"/>
                <a:cs typeface="Courier"/>
                <a:sym typeface="Courier New"/>
              </a:rPr>
              <a:t>,</a:t>
            </a:r>
            <a:r>
              <a:rPr lang="en-US" sz="1463" b="1" kern="0" dirty="0">
                <a:solidFill>
                  <a:srgbClr val="FF00FF"/>
                </a:solidFill>
                <a:latin typeface="Courier"/>
                <a:ea typeface="Courier"/>
                <a:cs typeface="Courier"/>
                <a:sym typeface="Courier New"/>
              </a:rPr>
              <a:t> </a:t>
            </a:r>
            <a:r>
              <a:rPr lang="en-US" sz="1463" b="1" kern="0" dirty="0" err="1">
                <a:solidFill>
                  <a:srgbClr val="FF00FF"/>
                </a:solidFill>
                <a:latin typeface="Courier"/>
                <a:ea typeface="Courier"/>
                <a:cs typeface="Courier"/>
                <a:sym typeface="Courier New"/>
              </a:rPr>
              <a:t>the_num</a:t>
            </a:r>
            <a:r>
              <a:rPr lang="en-US" sz="1463" b="1" kern="0" dirty="0">
                <a:solidFill>
                  <a:srgbClr val="FFFFFF"/>
                </a:solidFill>
                <a:latin typeface="Courier"/>
                <a:ea typeface="Courier"/>
                <a:cs typeface="Courier"/>
                <a:sym typeface="Courier New"/>
              </a:rPr>
              <a:t>)</a:t>
            </a:r>
          </a:p>
          <a:p>
            <a:pPr defTabSz="514350">
              <a:buClr>
                <a:srgbClr val="FF00FF"/>
              </a:buClr>
            </a:pPr>
            <a:endParaRPr sz="1463" b="1" kern="0" dirty="0">
              <a:solidFill>
                <a:srgbClr val="FF00FF"/>
              </a:solidFill>
              <a:latin typeface="Courier"/>
              <a:ea typeface="Courier"/>
              <a:cs typeface="Courier"/>
              <a:sym typeface="Courier New"/>
            </a:endParaRP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 </a:t>
            </a:r>
            <a:r>
              <a:rPr lang="en-US" sz="1463" b="1" kern="0" dirty="0" err="1">
                <a:solidFill>
                  <a:srgbClr val="00FF00"/>
                </a:solidFill>
                <a:latin typeface="Courier"/>
                <a:ea typeface="Courier"/>
                <a:cs typeface="Courier"/>
                <a:sym typeface="Courier New"/>
              </a:rPr>
              <a:t>largest_so_far</a:t>
            </a:r>
            <a:r>
              <a:rPr lang="en-US" sz="1463" b="1" kern="0" dirty="0">
                <a:solidFill>
                  <a:srgbClr val="FFFFFF"/>
                </a:solidFill>
                <a:latin typeface="Courier"/>
                <a:ea typeface="Courier"/>
                <a:cs typeface="Courier"/>
                <a:sym typeface="Courier New"/>
              </a:rPr>
              <a:t>)</a:t>
            </a:r>
          </a:p>
        </p:txBody>
      </p:sp>
      <p:sp>
        <p:nvSpPr>
          <p:cNvPr id="722" name="Shape 722"/>
          <p:cNvSpPr txBox="1"/>
          <p:nvPr/>
        </p:nvSpPr>
        <p:spPr>
          <a:xfrm>
            <a:off x="5772150" y="2143125"/>
            <a:ext cx="2373468" cy="2804793"/>
          </a:xfrm>
          <a:prstGeom prst="rect">
            <a:avLst/>
          </a:prstGeom>
          <a:noFill/>
          <a:ln>
            <a:noFill/>
          </a:ln>
        </p:spPr>
        <p:txBody>
          <a:bodyPr lIns="0" tIns="0" rIns="0" bIns="0" anchor="ctr" anchorCtr="0">
            <a:noAutofit/>
          </a:bodyPr>
          <a:lstStyle/>
          <a:p>
            <a:pPr defTabSz="514350">
              <a:buClr>
                <a:srgbClr val="FFFFFF"/>
              </a:buClr>
              <a:buSzPct val="25000"/>
            </a:pPr>
            <a:r>
              <a:rPr lang="en-US" sz="1688" kern="0">
                <a:solidFill>
                  <a:srgbClr val="FFFFFF"/>
                </a:solidFill>
                <a:latin typeface="Arial" charset="0"/>
                <a:ea typeface="Arial" charset="0"/>
                <a:cs typeface="Arial" charset="0"/>
                <a:sym typeface="Cabin"/>
              </a:rPr>
              <a:t>$</a:t>
            </a:r>
            <a:r>
              <a:rPr lang="en-US" sz="1688" kern="0">
                <a:solidFill>
                  <a:srgbClr val="FFFF00"/>
                </a:solidFill>
                <a:latin typeface="Arial" charset="0"/>
                <a:ea typeface="Arial" charset="0"/>
                <a:cs typeface="Arial" charset="0"/>
                <a:sym typeface="Cabin"/>
              </a:rPr>
              <a:t> python largest.py</a:t>
            </a:r>
          </a:p>
          <a:p>
            <a:pPr defTabSz="514350">
              <a:buClr>
                <a:srgbClr val="FF7F00"/>
              </a:buClr>
              <a:buSzPct val="25000"/>
            </a:pPr>
            <a:r>
              <a:rPr lang="en-US" sz="1688" kern="0">
                <a:solidFill>
                  <a:srgbClr val="FF7F00"/>
                </a:solidFill>
                <a:latin typeface="Arial" charset="0"/>
                <a:ea typeface="Arial" charset="0"/>
                <a:cs typeface="Arial" charset="0"/>
                <a:sym typeface="Cabin"/>
              </a:rPr>
              <a:t>Before </a:t>
            </a:r>
            <a:r>
              <a:rPr lang="en-US" sz="1688" kern="0">
                <a:solidFill>
                  <a:srgbClr val="00FFFF"/>
                </a:solidFill>
                <a:latin typeface="Arial" charset="0"/>
                <a:ea typeface="Arial" charset="0"/>
                <a:cs typeface="Arial" charset="0"/>
                <a:sym typeface="Cabin"/>
              </a:rPr>
              <a:t>-1</a:t>
            </a:r>
          </a:p>
          <a:p>
            <a:pPr defTabSz="514350">
              <a:buClr>
                <a:srgbClr val="00FFFF"/>
              </a:buClr>
              <a:buSzPct val="25000"/>
            </a:pPr>
            <a:r>
              <a:rPr lang="en-US" sz="1688" kern="0">
                <a:solidFill>
                  <a:srgbClr val="00FF00"/>
                </a:solidFill>
                <a:latin typeface="Arial" charset="0"/>
                <a:ea typeface="Arial" charset="0"/>
                <a:cs typeface="Arial" charset="0"/>
                <a:sym typeface="Cabin"/>
              </a:rPr>
              <a:t>9</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9</a:t>
            </a:r>
          </a:p>
          <a:p>
            <a:pPr defTabSz="514350">
              <a:buClr>
                <a:srgbClr val="00FFFF"/>
              </a:buClr>
              <a:buSzPct val="25000"/>
            </a:pPr>
            <a:r>
              <a:rPr lang="en-US" sz="1688" kern="0">
                <a:solidFill>
                  <a:srgbClr val="00FF00"/>
                </a:solidFill>
                <a:latin typeface="Arial" charset="0"/>
                <a:ea typeface="Arial" charset="0"/>
                <a:cs typeface="Arial" charset="0"/>
                <a:sym typeface="Cabin"/>
              </a:rPr>
              <a:t>41</a:t>
            </a:r>
            <a:r>
              <a:rPr lang="en-US" sz="1688" kern="0">
                <a:solidFill>
                  <a:srgbClr val="FF00FF"/>
                </a:solidFill>
                <a:latin typeface="Arial" charset="0"/>
                <a:ea typeface="Arial" charset="0"/>
                <a:cs typeface="Arial" charset="0"/>
                <a:sym typeface="Cabin"/>
              </a:rPr>
              <a:t>  41</a:t>
            </a:r>
          </a:p>
          <a:p>
            <a:pPr defTabSz="514350">
              <a:buClr>
                <a:srgbClr val="00FFFF"/>
              </a:buClr>
              <a:buSzPct val="25000"/>
            </a:pPr>
            <a:r>
              <a:rPr lang="en-US" sz="1688" kern="0">
                <a:solidFill>
                  <a:srgbClr val="00FF00"/>
                </a:solidFill>
                <a:latin typeface="Arial" charset="0"/>
                <a:ea typeface="Arial" charset="0"/>
                <a:cs typeface="Arial" charset="0"/>
                <a:sym typeface="Cabin"/>
              </a:rPr>
              <a:t>41</a:t>
            </a:r>
            <a:r>
              <a:rPr lang="en-US" sz="1688" kern="0">
                <a:solidFill>
                  <a:srgbClr val="FF00FF"/>
                </a:solidFill>
                <a:latin typeface="Arial" charset="0"/>
                <a:ea typeface="Arial" charset="0"/>
                <a:cs typeface="Arial" charset="0"/>
                <a:sym typeface="Cabin"/>
              </a:rPr>
              <a:t> 12</a:t>
            </a:r>
          </a:p>
          <a:p>
            <a:pPr defTabSz="514350">
              <a:buClr>
                <a:srgbClr val="00FFFF"/>
              </a:buClr>
              <a:buSzPct val="25000"/>
            </a:pPr>
            <a:r>
              <a:rPr lang="en-US" sz="1688" kern="0">
                <a:solidFill>
                  <a:srgbClr val="00FF00"/>
                </a:solidFill>
                <a:latin typeface="Arial" charset="0"/>
                <a:ea typeface="Arial" charset="0"/>
                <a:cs typeface="Arial" charset="0"/>
                <a:sym typeface="Cabin"/>
              </a:rPr>
              <a:t>41</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3</a:t>
            </a:r>
          </a:p>
          <a:p>
            <a:pPr defTabSz="514350">
              <a:buClr>
                <a:srgbClr val="00FFFF"/>
              </a:buClr>
              <a:buSzPct val="25000"/>
            </a:pPr>
            <a:r>
              <a:rPr lang="en-US" sz="1688" kern="0">
                <a:solidFill>
                  <a:srgbClr val="00FF00"/>
                </a:solidFill>
                <a:latin typeface="Arial" charset="0"/>
                <a:ea typeface="Arial" charset="0"/>
                <a:cs typeface="Arial" charset="0"/>
                <a:sym typeface="Cabin"/>
              </a:rPr>
              <a:t>74</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74</a:t>
            </a:r>
          </a:p>
          <a:p>
            <a:pPr defTabSz="514350">
              <a:buClr>
                <a:srgbClr val="00FFFF"/>
              </a:buClr>
              <a:buSzPct val="25000"/>
            </a:pPr>
            <a:r>
              <a:rPr lang="en-US" sz="1688" kern="0">
                <a:solidFill>
                  <a:srgbClr val="00FF00"/>
                </a:solidFill>
                <a:latin typeface="Arial" charset="0"/>
                <a:ea typeface="Arial" charset="0"/>
                <a:cs typeface="Arial" charset="0"/>
                <a:sym typeface="Cabin"/>
              </a:rPr>
              <a:t>74</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15</a:t>
            </a:r>
          </a:p>
          <a:p>
            <a:pPr defTabSz="514350">
              <a:buClr>
                <a:srgbClr val="FF7F00"/>
              </a:buClr>
              <a:buSzPct val="25000"/>
            </a:pPr>
            <a:r>
              <a:rPr lang="en-US" sz="1688" kern="0">
                <a:solidFill>
                  <a:srgbClr val="FF7F00"/>
                </a:solidFill>
                <a:latin typeface="Arial" charset="0"/>
                <a:ea typeface="Arial" charset="0"/>
                <a:cs typeface="Arial" charset="0"/>
                <a:sym typeface="Cabin"/>
              </a:rPr>
              <a:t>After </a:t>
            </a:r>
            <a:r>
              <a:rPr lang="en-US" sz="1688" kern="0">
                <a:solidFill>
                  <a:srgbClr val="00FFFF"/>
                </a:solidFill>
                <a:latin typeface="Arial" charset="0"/>
                <a:ea typeface="Arial" charset="0"/>
                <a:cs typeface="Arial" charset="0"/>
                <a:sym typeface="Cabin"/>
              </a:rPr>
              <a:t>74</a:t>
            </a:r>
          </a:p>
        </p:txBody>
      </p:sp>
      <p:sp>
        <p:nvSpPr>
          <p:cNvPr id="723" name="Shape 723"/>
          <p:cNvSpPr txBox="1"/>
          <p:nvPr/>
        </p:nvSpPr>
        <p:spPr>
          <a:xfrm>
            <a:off x="509921" y="4904185"/>
            <a:ext cx="8301149" cy="625134"/>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kern="0">
                <a:solidFill>
                  <a:srgbClr val="FFFFFF"/>
                </a:solidFill>
                <a:latin typeface="Arial" charset="0"/>
                <a:ea typeface="Arial" charset="0"/>
                <a:cs typeface="Arial" charset="0"/>
                <a:sym typeface="Cabin"/>
              </a:rPr>
              <a:t>How would we change this to make it find the smallest value in the list?</a:t>
            </a:r>
          </a:p>
        </p:txBody>
      </p:sp>
    </p:spTree>
    <p:extLst>
      <p:ext uri="{BB962C8B-B14F-4D97-AF65-F5344CB8AC3E}">
        <p14:creationId xmlns:p14="http://schemas.microsoft.com/office/powerpoint/2010/main" val="217979427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Shape 728"/>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Finding the Smallest Value</a:t>
            </a:r>
          </a:p>
        </p:txBody>
      </p:sp>
      <p:sp>
        <p:nvSpPr>
          <p:cNvPr id="729" name="Shape 729"/>
          <p:cNvSpPr txBox="1"/>
          <p:nvPr/>
        </p:nvSpPr>
        <p:spPr>
          <a:xfrm>
            <a:off x="911461" y="2549939"/>
            <a:ext cx="4497693" cy="1869919"/>
          </a:xfrm>
          <a:prstGeom prst="rect">
            <a:avLst/>
          </a:prstGeom>
          <a:noFill/>
          <a:ln>
            <a:noFill/>
          </a:ln>
        </p:spPr>
        <p:txBody>
          <a:bodyPr lIns="0" tIns="0" rIns="0" bIns="0" anchor="ctr" anchorCtr="0">
            <a:noAutofit/>
          </a:bodyPr>
          <a:lstStyle/>
          <a:p>
            <a:pPr defTabSz="514350">
              <a:buClr>
                <a:srgbClr val="00FFFF"/>
              </a:buClr>
              <a:buSzPct val="25000"/>
            </a:pPr>
            <a:r>
              <a:rPr lang="en-US" sz="1463" b="1" kern="0" dirty="0" err="1">
                <a:solidFill>
                  <a:srgbClr val="00FF00"/>
                </a:solidFill>
                <a:latin typeface="Courier"/>
                <a:ea typeface="Courier"/>
                <a:cs typeface="Courier"/>
                <a:sym typeface="Courier New"/>
              </a:rPr>
              <a:t>smallest_so_far</a:t>
            </a:r>
            <a:r>
              <a:rPr lang="en-US" sz="1463" b="1" kern="0" dirty="0">
                <a:solidFill>
                  <a:srgbClr val="00FF00"/>
                </a:solidFill>
                <a:latin typeface="Courier"/>
                <a:ea typeface="Courier"/>
                <a:cs typeface="Courier"/>
                <a:sym typeface="Courier New"/>
              </a:rPr>
              <a:t> = -1</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 </a:t>
            </a:r>
            <a:r>
              <a:rPr lang="en-US" sz="1463" b="1" kern="0" dirty="0" err="1">
                <a:solidFill>
                  <a:srgbClr val="00FF00"/>
                </a:solidFill>
                <a:latin typeface="Courier"/>
                <a:ea typeface="Courier"/>
                <a:cs typeface="Courier"/>
                <a:sym typeface="Courier New"/>
              </a:rPr>
              <a:t>smallest_so_far</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a:t>
            </a:r>
            <a:r>
              <a:rPr lang="en-US" sz="1463" b="1" kern="0" dirty="0" err="1">
                <a:solidFill>
                  <a:srgbClr val="FF00FF"/>
                </a:solidFill>
                <a:latin typeface="Courier"/>
                <a:ea typeface="Courier"/>
                <a:cs typeface="Courier"/>
                <a:sym typeface="Courier New"/>
              </a:rPr>
              <a:t>the_num</a:t>
            </a: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a:t>
            </a:r>
          </a:p>
          <a:p>
            <a:pPr defTabSz="514350">
              <a:buClr>
                <a:srgbClr val="FFFF00"/>
              </a:buClr>
              <a:buSzPct val="25000"/>
            </a:pPr>
            <a:r>
              <a:rPr lang="en-US" sz="1463" b="1" kern="0" dirty="0">
                <a:solidFill>
                  <a:srgbClr val="FF00FF"/>
                </a:solidFill>
                <a:latin typeface="Courier"/>
                <a:ea typeface="Courier"/>
                <a:cs typeface="Courier"/>
                <a:sym typeface="Courier New"/>
              </a:rPr>
              <a:t>   if </a:t>
            </a:r>
            <a:r>
              <a:rPr lang="en-US" sz="1463" b="1" kern="0" dirty="0" err="1">
                <a:solidFill>
                  <a:srgbClr val="FF00FF"/>
                </a:solidFill>
                <a:latin typeface="Courier"/>
                <a:ea typeface="Courier"/>
                <a:cs typeface="Courier"/>
                <a:sym typeface="Courier New"/>
              </a:rPr>
              <a:t>the_num</a:t>
            </a:r>
            <a:r>
              <a:rPr lang="en-US" sz="1463" b="1" kern="0" dirty="0">
                <a:solidFill>
                  <a:srgbClr val="FF00FF"/>
                </a:solidFill>
                <a:latin typeface="Courier"/>
                <a:ea typeface="Courier"/>
                <a:cs typeface="Courier"/>
                <a:sym typeface="Courier New"/>
              </a:rPr>
              <a:t> &lt; </a:t>
            </a:r>
            <a:r>
              <a:rPr lang="en-US" sz="1463" b="1" kern="0" dirty="0" err="1">
                <a:solidFill>
                  <a:srgbClr val="00FF00"/>
                </a:solidFill>
                <a:latin typeface="Courier"/>
                <a:ea typeface="Courier"/>
                <a:cs typeface="Courier"/>
                <a:sym typeface="Courier New"/>
              </a:rPr>
              <a:t>smallest_so_far</a:t>
            </a:r>
            <a:r>
              <a:rPr lang="en-US" sz="1463" b="1" kern="0" dirty="0">
                <a:solidFill>
                  <a:srgbClr val="FF00FF"/>
                </a:solidFill>
                <a:latin typeface="Courier"/>
                <a:ea typeface="Courier"/>
                <a:cs typeface="Courier"/>
                <a:sym typeface="Courier New"/>
              </a:rPr>
              <a:t> :</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err="1">
                <a:solidFill>
                  <a:srgbClr val="00FF00"/>
                </a:solidFill>
                <a:latin typeface="Courier"/>
                <a:ea typeface="Courier"/>
                <a:cs typeface="Courier"/>
                <a:sym typeface="Courier New"/>
              </a:rPr>
              <a:t>smallest_so_far</a:t>
            </a:r>
            <a:r>
              <a:rPr lang="en-US" sz="1463" b="1" kern="0" dirty="0">
                <a:solidFill>
                  <a:srgbClr val="00FF00"/>
                </a:solidFill>
                <a:latin typeface="Courier"/>
                <a:ea typeface="Courier"/>
                <a:cs typeface="Courier"/>
                <a:sym typeface="Courier New"/>
              </a:rPr>
              <a:t> = </a:t>
            </a:r>
            <a:r>
              <a:rPr lang="en-US" sz="1463" b="1" kern="0" dirty="0" err="1">
                <a:solidFill>
                  <a:srgbClr val="FF00FF"/>
                </a:solidFill>
                <a:latin typeface="Courier"/>
                <a:ea typeface="Courier"/>
                <a:cs typeface="Courier"/>
                <a:sym typeface="Courier New"/>
              </a:rPr>
              <a:t>the_num</a:t>
            </a:r>
            <a:endParaRPr lang="en-US" sz="1463" b="1" kern="0" dirty="0">
              <a:solidFill>
                <a:srgbClr val="FF00FF"/>
              </a:solidFill>
              <a:latin typeface="Courier"/>
              <a:ea typeface="Courier"/>
              <a:cs typeface="Courier"/>
              <a:sym typeface="Courier New"/>
            </a:endParaRP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err="1">
                <a:solidFill>
                  <a:srgbClr val="00FF00"/>
                </a:solidFill>
                <a:latin typeface="Courier"/>
                <a:ea typeface="Courier"/>
                <a:cs typeface="Courier"/>
                <a:sym typeface="Courier New"/>
              </a:rPr>
              <a:t>smallest_so_far</a:t>
            </a:r>
            <a:r>
              <a:rPr lang="en-US" sz="1463" b="1" kern="0" dirty="0">
                <a:solidFill>
                  <a:srgbClr val="00FF00"/>
                </a:solidFill>
                <a:latin typeface="Courier"/>
                <a:ea typeface="Courier"/>
                <a:cs typeface="Courier"/>
                <a:sym typeface="Courier New"/>
              </a:rPr>
              <a:t>,</a:t>
            </a:r>
            <a:r>
              <a:rPr lang="en-US" sz="1463" b="1" kern="0" dirty="0">
                <a:solidFill>
                  <a:srgbClr val="FF00FF"/>
                </a:solidFill>
                <a:latin typeface="Courier"/>
                <a:ea typeface="Courier"/>
                <a:cs typeface="Courier"/>
                <a:sym typeface="Courier New"/>
              </a:rPr>
              <a:t> </a:t>
            </a:r>
            <a:r>
              <a:rPr lang="en-US" sz="1463" b="1" kern="0" dirty="0" err="1">
                <a:solidFill>
                  <a:srgbClr val="FF00FF"/>
                </a:solidFill>
                <a:latin typeface="Courier"/>
                <a:ea typeface="Courier"/>
                <a:cs typeface="Courier"/>
                <a:sym typeface="Courier New"/>
              </a:rPr>
              <a:t>the_num</a:t>
            </a:r>
            <a:r>
              <a:rPr lang="en-US" sz="1463" b="1" kern="0" dirty="0">
                <a:solidFill>
                  <a:srgbClr val="FFFFFF"/>
                </a:solidFill>
                <a:latin typeface="Courier"/>
                <a:ea typeface="Courier"/>
                <a:cs typeface="Courier"/>
                <a:sym typeface="Courier New"/>
              </a:rPr>
              <a:t>)</a:t>
            </a:r>
          </a:p>
          <a:p>
            <a:pPr defTabSz="514350">
              <a:buClr>
                <a:srgbClr val="FF00FF"/>
              </a:buClr>
            </a:pPr>
            <a:endParaRPr sz="1463" b="1" kern="0" dirty="0">
              <a:solidFill>
                <a:srgbClr val="FF00FF"/>
              </a:solidFill>
              <a:latin typeface="Courier"/>
              <a:ea typeface="Courier"/>
              <a:cs typeface="Courier"/>
              <a:sym typeface="Courier New"/>
            </a:endParaRP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 </a:t>
            </a:r>
            <a:r>
              <a:rPr lang="en-US" sz="1463" b="1" kern="0" dirty="0" err="1">
                <a:solidFill>
                  <a:srgbClr val="00FF00"/>
                </a:solidFill>
                <a:latin typeface="Courier"/>
                <a:ea typeface="Courier"/>
                <a:cs typeface="Courier"/>
                <a:sym typeface="Courier New"/>
              </a:rPr>
              <a:t>smallest_so_far</a:t>
            </a:r>
            <a:r>
              <a:rPr lang="en-US" sz="1463" b="1" kern="0" dirty="0">
                <a:solidFill>
                  <a:srgbClr val="FFFFFF"/>
                </a:solidFill>
                <a:latin typeface="Courier"/>
                <a:ea typeface="Courier"/>
                <a:cs typeface="Courier"/>
                <a:sym typeface="Courier New"/>
              </a:rPr>
              <a:t>)</a:t>
            </a:r>
          </a:p>
        </p:txBody>
      </p:sp>
      <p:sp>
        <p:nvSpPr>
          <p:cNvPr id="730" name="Shape 730"/>
          <p:cNvSpPr txBox="1"/>
          <p:nvPr/>
        </p:nvSpPr>
        <p:spPr>
          <a:xfrm>
            <a:off x="509921" y="4904185"/>
            <a:ext cx="8301149" cy="558106"/>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kern="0">
                <a:solidFill>
                  <a:srgbClr val="FFFFFF"/>
                </a:solidFill>
                <a:latin typeface="Arial" charset="0"/>
                <a:ea typeface="Arial" charset="0"/>
                <a:cs typeface="Arial" charset="0"/>
                <a:sym typeface="Cabin"/>
              </a:rPr>
              <a:t>We switched the variable name to </a:t>
            </a:r>
            <a:r>
              <a:rPr lang="en-US" kern="0" dirty="0" err="1">
                <a:solidFill>
                  <a:srgbClr val="00FF00"/>
                </a:solidFill>
                <a:latin typeface="Arial" charset="0"/>
                <a:ea typeface="Arial" charset="0"/>
                <a:cs typeface="Arial" charset="0"/>
                <a:sym typeface="Cabin"/>
              </a:rPr>
              <a:t>smallest_so_far</a:t>
            </a:r>
            <a:r>
              <a:rPr lang="en-US" kern="0" dirty="0">
                <a:solidFill>
                  <a:srgbClr val="FFFFFF"/>
                </a:solidFill>
                <a:latin typeface="Arial" charset="0"/>
                <a:ea typeface="Arial" charset="0"/>
                <a:cs typeface="Arial" charset="0"/>
                <a:sym typeface="Cabin"/>
              </a:rPr>
              <a:t> and switched the </a:t>
            </a:r>
            <a:r>
              <a:rPr lang="en-US" kern="0" dirty="0">
                <a:solidFill>
                  <a:srgbClr val="00FFFF"/>
                </a:solidFill>
                <a:latin typeface="Arial" charset="0"/>
                <a:ea typeface="Arial" charset="0"/>
                <a:cs typeface="Arial" charset="0"/>
                <a:sym typeface="Cabin"/>
              </a:rPr>
              <a:t>&gt;</a:t>
            </a:r>
            <a:r>
              <a:rPr lang="en-US" kern="0" dirty="0">
                <a:solidFill>
                  <a:srgbClr val="FFFFFF"/>
                </a:solidFill>
                <a:latin typeface="Arial" charset="0"/>
                <a:ea typeface="Arial" charset="0"/>
                <a:cs typeface="Arial" charset="0"/>
                <a:sym typeface="Cabin"/>
              </a:rPr>
              <a:t> to </a:t>
            </a:r>
            <a:r>
              <a:rPr lang="en-US" kern="0" dirty="0">
                <a:solidFill>
                  <a:srgbClr val="00FFFF"/>
                </a:solidFill>
                <a:latin typeface="Arial" charset="0"/>
                <a:ea typeface="Arial" charset="0"/>
                <a:cs typeface="Arial" charset="0"/>
                <a:sym typeface="Cabin"/>
              </a:rPr>
              <a:t>&lt;</a:t>
            </a:r>
          </a:p>
        </p:txBody>
      </p:sp>
    </p:spTree>
    <p:extLst>
      <p:ext uri="{BB962C8B-B14F-4D97-AF65-F5344CB8AC3E}">
        <p14:creationId xmlns:p14="http://schemas.microsoft.com/office/powerpoint/2010/main" val="41576499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Shape 728"/>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Finding the Smallest Value</a:t>
            </a:r>
          </a:p>
        </p:txBody>
      </p:sp>
      <p:sp>
        <p:nvSpPr>
          <p:cNvPr id="729" name="Shape 729"/>
          <p:cNvSpPr txBox="1"/>
          <p:nvPr/>
        </p:nvSpPr>
        <p:spPr>
          <a:xfrm>
            <a:off x="911461" y="2549939"/>
            <a:ext cx="4497693" cy="1869919"/>
          </a:xfrm>
          <a:prstGeom prst="rect">
            <a:avLst/>
          </a:prstGeom>
          <a:noFill/>
          <a:ln>
            <a:noFill/>
          </a:ln>
        </p:spPr>
        <p:txBody>
          <a:bodyPr lIns="0" tIns="0" rIns="0" bIns="0" anchor="ctr" anchorCtr="0">
            <a:noAutofit/>
          </a:bodyPr>
          <a:lstStyle/>
          <a:p>
            <a:pPr defTabSz="514350">
              <a:buClr>
                <a:srgbClr val="00FFFF"/>
              </a:buClr>
              <a:buSzPct val="25000"/>
            </a:pPr>
            <a:r>
              <a:rPr lang="en-US" sz="1463" b="1" kern="0" dirty="0" err="1">
                <a:solidFill>
                  <a:srgbClr val="00FF00"/>
                </a:solidFill>
                <a:latin typeface="Courier"/>
                <a:ea typeface="Courier"/>
                <a:cs typeface="Courier"/>
                <a:sym typeface="Courier New"/>
              </a:rPr>
              <a:t>smallest_so_far</a:t>
            </a:r>
            <a:r>
              <a:rPr lang="en-US" sz="1463" b="1" kern="0" dirty="0">
                <a:solidFill>
                  <a:srgbClr val="00FF00"/>
                </a:solidFill>
                <a:latin typeface="Courier"/>
                <a:ea typeface="Courier"/>
                <a:cs typeface="Courier"/>
                <a:sym typeface="Courier New"/>
              </a:rPr>
              <a:t> = -1</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 </a:t>
            </a:r>
            <a:r>
              <a:rPr lang="en-US" sz="1463" b="1" kern="0" dirty="0" err="1">
                <a:solidFill>
                  <a:srgbClr val="00FF00"/>
                </a:solidFill>
                <a:latin typeface="Courier"/>
                <a:ea typeface="Courier"/>
                <a:cs typeface="Courier"/>
                <a:sym typeface="Courier New"/>
              </a:rPr>
              <a:t>smallest_so_far</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a:t>
            </a:r>
            <a:r>
              <a:rPr lang="en-US" sz="1463" b="1" kern="0" dirty="0" err="1">
                <a:solidFill>
                  <a:srgbClr val="FF00FF"/>
                </a:solidFill>
                <a:latin typeface="Courier"/>
                <a:ea typeface="Courier"/>
                <a:cs typeface="Courier"/>
                <a:sym typeface="Courier New"/>
              </a:rPr>
              <a:t>the_num</a:t>
            </a: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a:t>
            </a:r>
          </a:p>
          <a:p>
            <a:pPr defTabSz="514350">
              <a:buClr>
                <a:srgbClr val="FFFF00"/>
              </a:buClr>
              <a:buSzPct val="25000"/>
            </a:pPr>
            <a:r>
              <a:rPr lang="en-US" sz="1463" b="1" kern="0" dirty="0">
                <a:solidFill>
                  <a:srgbClr val="FF00FF"/>
                </a:solidFill>
                <a:latin typeface="Courier"/>
                <a:ea typeface="Courier"/>
                <a:cs typeface="Courier"/>
                <a:sym typeface="Courier New"/>
              </a:rPr>
              <a:t>   if </a:t>
            </a:r>
            <a:r>
              <a:rPr lang="en-US" sz="1463" b="1" kern="0" dirty="0" err="1">
                <a:solidFill>
                  <a:srgbClr val="FF00FF"/>
                </a:solidFill>
                <a:latin typeface="Courier"/>
                <a:ea typeface="Courier"/>
                <a:cs typeface="Courier"/>
                <a:sym typeface="Courier New"/>
              </a:rPr>
              <a:t>the_num</a:t>
            </a:r>
            <a:r>
              <a:rPr lang="en-US" sz="1463" b="1" kern="0" dirty="0">
                <a:solidFill>
                  <a:srgbClr val="FF00FF"/>
                </a:solidFill>
                <a:latin typeface="Courier"/>
                <a:ea typeface="Courier"/>
                <a:cs typeface="Courier"/>
                <a:sym typeface="Courier New"/>
              </a:rPr>
              <a:t> &lt; </a:t>
            </a:r>
            <a:r>
              <a:rPr lang="en-US" sz="1463" b="1" kern="0" dirty="0" err="1">
                <a:solidFill>
                  <a:srgbClr val="00FF00"/>
                </a:solidFill>
                <a:latin typeface="Courier"/>
                <a:ea typeface="Courier"/>
                <a:cs typeface="Courier"/>
                <a:sym typeface="Courier New"/>
              </a:rPr>
              <a:t>smallest_so_far</a:t>
            </a:r>
            <a:r>
              <a:rPr lang="en-US" sz="1463" b="1" kern="0" dirty="0">
                <a:solidFill>
                  <a:srgbClr val="FF00FF"/>
                </a:solidFill>
                <a:latin typeface="Courier"/>
                <a:ea typeface="Courier"/>
                <a:cs typeface="Courier"/>
                <a:sym typeface="Courier New"/>
              </a:rPr>
              <a:t> :</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err="1">
                <a:solidFill>
                  <a:srgbClr val="00FF00"/>
                </a:solidFill>
                <a:latin typeface="Courier"/>
                <a:ea typeface="Courier"/>
                <a:cs typeface="Courier"/>
                <a:sym typeface="Courier New"/>
              </a:rPr>
              <a:t>smallest_so_far</a:t>
            </a:r>
            <a:r>
              <a:rPr lang="en-US" sz="1463" b="1" kern="0" dirty="0">
                <a:solidFill>
                  <a:srgbClr val="00FF00"/>
                </a:solidFill>
                <a:latin typeface="Courier"/>
                <a:ea typeface="Courier"/>
                <a:cs typeface="Courier"/>
                <a:sym typeface="Courier New"/>
              </a:rPr>
              <a:t> = </a:t>
            </a:r>
            <a:r>
              <a:rPr lang="en-US" sz="1463" b="1" kern="0" dirty="0" err="1">
                <a:solidFill>
                  <a:srgbClr val="FF00FF"/>
                </a:solidFill>
                <a:latin typeface="Courier"/>
                <a:ea typeface="Courier"/>
                <a:cs typeface="Courier"/>
                <a:sym typeface="Courier New"/>
              </a:rPr>
              <a:t>the_num</a:t>
            </a:r>
            <a:endParaRPr lang="en-US" sz="1463" b="1" kern="0" dirty="0">
              <a:solidFill>
                <a:srgbClr val="FF00FF"/>
              </a:solidFill>
              <a:latin typeface="Courier"/>
              <a:ea typeface="Courier"/>
              <a:cs typeface="Courier"/>
              <a:sym typeface="Courier New"/>
            </a:endParaRP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err="1">
                <a:solidFill>
                  <a:srgbClr val="00FF00"/>
                </a:solidFill>
                <a:latin typeface="Courier"/>
                <a:ea typeface="Courier"/>
                <a:cs typeface="Courier"/>
                <a:sym typeface="Courier New"/>
              </a:rPr>
              <a:t>smallest_so_far</a:t>
            </a:r>
            <a:r>
              <a:rPr lang="en-US" sz="1463" b="1" kern="0" dirty="0">
                <a:solidFill>
                  <a:srgbClr val="00FF00"/>
                </a:solidFill>
                <a:latin typeface="Courier"/>
                <a:ea typeface="Courier"/>
                <a:cs typeface="Courier"/>
                <a:sym typeface="Courier New"/>
              </a:rPr>
              <a:t>,</a:t>
            </a:r>
            <a:r>
              <a:rPr lang="en-US" sz="1463" b="1" kern="0" dirty="0">
                <a:solidFill>
                  <a:srgbClr val="FF00FF"/>
                </a:solidFill>
                <a:latin typeface="Courier"/>
                <a:ea typeface="Courier"/>
                <a:cs typeface="Courier"/>
                <a:sym typeface="Courier New"/>
              </a:rPr>
              <a:t> </a:t>
            </a:r>
            <a:r>
              <a:rPr lang="en-US" sz="1463" b="1" kern="0" dirty="0" err="1">
                <a:solidFill>
                  <a:srgbClr val="FF00FF"/>
                </a:solidFill>
                <a:latin typeface="Courier"/>
                <a:ea typeface="Courier"/>
                <a:cs typeface="Courier"/>
                <a:sym typeface="Courier New"/>
              </a:rPr>
              <a:t>the_num</a:t>
            </a:r>
            <a:r>
              <a:rPr lang="en-US" sz="1463" b="1" kern="0" dirty="0">
                <a:solidFill>
                  <a:srgbClr val="FFFFFF"/>
                </a:solidFill>
                <a:latin typeface="Courier"/>
                <a:ea typeface="Courier"/>
                <a:cs typeface="Courier"/>
                <a:sym typeface="Courier New"/>
              </a:rPr>
              <a:t>)</a:t>
            </a:r>
          </a:p>
          <a:p>
            <a:pPr defTabSz="514350">
              <a:buClr>
                <a:srgbClr val="FF00FF"/>
              </a:buClr>
            </a:pPr>
            <a:endParaRPr sz="1463" b="1" kern="0" dirty="0">
              <a:solidFill>
                <a:srgbClr val="FF00FF"/>
              </a:solidFill>
              <a:latin typeface="Courier"/>
              <a:ea typeface="Courier"/>
              <a:cs typeface="Courier"/>
              <a:sym typeface="Courier New"/>
            </a:endParaRP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 </a:t>
            </a:r>
            <a:r>
              <a:rPr lang="en-US" sz="1463" b="1" kern="0" dirty="0" err="1">
                <a:solidFill>
                  <a:srgbClr val="00FF00"/>
                </a:solidFill>
                <a:latin typeface="Courier"/>
                <a:ea typeface="Courier"/>
                <a:cs typeface="Courier"/>
                <a:sym typeface="Courier New"/>
              </a:rPr>
              <a:t>smallest_so_far</a:t>
            </a:r>
            <a:r>
              <a:rPr lang="en-US" sz="1463" b="1" kern="0" dirty="0">
                <a:solidFill>
                  <a:srgbClr val="FFFFFF"/>
                </a:solidFill>
                <a:latin typeface="Courier"/>
                <a:ea typeface="Courier"/>
                <a:cs typeface="Courier"/>
                <a:sym typeface="Courier New"/>
              </a:rPr>
              <a:t>)</a:t>
            </a:r>
          </a:p>
        </p:txBody>
      </p:sp>
      <p:sp>
        <p:nvSpPr>
          <p:cNvPr id="730" name="Shape 730"/>
          <p:cNvSpPr txBox="1"/>
          <p:nvPr/>
        </p:nvSpPr>
        <p:spPr>
          <a:xfrm>
            <a:off x="509921" y="4904185"/>
            <a:ext cx="8301149" cy="558106"/>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kern="0">
                <a:solidFill>
                  <a:srgbClr val="FFFFFF"/>
                </a:solidFill>
                <a:latin typeface="Arial" charset="0"/>
                <a:ea typeface="Arial" charset="0"/>
                <a:cs typeface="Arial" charset="0"/>
                <a:sym typeface="Cabin"/>
              </a:rPr>
              <a:t>We switched the variable name to </a:t>
            </a:r>
            <a:r>
              <a:rPr lang="en-US" kern="0" dirty="0" err="1">
                <a:solidFill>
                  <a:srgbClr val="00FF00"/>
                </a:solidFill>
                <a:latin typeface="Arial" charset="0"/>
                <a:ea typeface="Arial" charset="0"/>
                <a:cs typeface="Arial" charset="0"/>
                <a:sym typeface="Cabin"/>
              </a:rPr>
              <a:t>smallest_so_far</a:t>
            </a:r>
            <a:r>
              <a:rPr lang="en-US" kern="0" dirty="0">
                <a:solidFill>
                  <a:srgbClr val="FFFFFF"/>
                </a:solidFill>
                <a:latin typeface="Arial" charset="0"/>
                <a:ea typeface="Arial" charset="0"/>
                <a:cs typeface="Arial" charset="0"/>
                <a:sym typeface="Cabin"/>
              </a:rPr>
              <a:t> and switched the </a:t>
            </a:r>
            <a:r>
              <a:rPr lang="en-US" kern="0" dirty="0">
                <a:solidFill>
                  <a:srgbClr val="00FFFF"/>
                </a:solidFill>
                <a:latin typeface="Arial" charset="0"/>
                <a:ea typeface="Arial" charset="0"/>
                <a:cs typeface="Arial" charset="0"/>
                <a:sym typeface="Cabin"/>
              </a:rPr>
              <a:t>&gt;</a:t>
            </a:r>
            <a:r>
              <a:rPr lang="en-US" kern="0" dirty="0">
                <a:solidFill>
                  <a:srgbClr val="FFFFFF"/>
                </a:solidFill>
                <a:latin typeface="Arial" charset="0"/>
                <a:ea typeface="Arial" charset="0"/>
                <a:cs typeface="Arial" charset="0"/>
                <a:sym typeface="Cabin"/>
              </a:rPr>
              <a:t> to </a:t>
            </a:r>
            <a:r>
              <a:rPr lang="en-US" kern="0" dirty="0">
                <a:solidFill>
                  <a:srgbClr val="00FFFF"/>
                </a:solidFill>
                <a:latin typeface="Arial" charset="0"/>
                <a:ea typeface="Arial" charset="0"/>
                <a:cs typeface="Arial" charset="0"/>
                <a:sym typeface="Cabin"/>
              </a:rPr>
              <a:t>&lt;</a:t>
            </a:r>
          </a:p>
        </p:txBody>
      </p:sp>
      <p:sp>
        <p:nvSpPr>
          <p:cNvPr id="5" name="Shape 737"/>
          <p:cNvSpPr txBox="1"/>
          <p:nvPr/>
        </p:nvSpPr>
        <p:spPr>
          <a:xfrm>
            <a:off x="5772150" y="2143125"/>
            <a:ext cx="2373468" cy="2804793"/>
          </a:xfrm>
          <a:prstGeom prst="rect">
            <a:avLst/>
          </a:prstGeom>
          <a:noFill/>
          <a:ln>
            <a:noFill/>
          </a:ln>
        </p:spPr>
        <p:txBody>
          <a:bodyPr lIns="0" tIns="0" rIns="0" bIns="0" anchor="ctr" anchorCtr="0">
            <a:noAutofit/>
          </a:bodyPr>
          <a:lstStyle/>
          <a:p>
            <a:pPr defTabSz="514350">
              <a:buClr>
                <a:srgbClr val="FFFFFF"/>
              </a:buClr>
              <a:buSzPct val="25000"/>
            </a:pPr>
            <a:r>
              <a:rPr lang="en-US" sz="1688" kern="0">
                <a:solidFill>
                  <a:srgbClr val="FFFFFF"/>
                </a:solidFill>
                <a:latin typeface="Arial" charset="0"/>
                <a:ea typeface="Arial" charset="0"/>
                <a:cs typeface="Arial" charset="0"/>
                <a:sym typeface="Cabin"/>
              </a:rPr>
              <a:t>$</a:t>
            </a:r>
            <a:r>
              <a:rPr lang="en-US" sz="1688" kern="0">
                <a:solidFill>
                  <a:srgbClr val="FFFF00"/>
                </a:solidFill>
                <a:latin typeface="Arial" charset="0"/>
                <a:ea typeface="Arial" charset="0"/>
                <a:cs typeface="Arial" charset="0"/>
                <a:sym typeface="Cabin"/>
              </a:rPr>
              <a:t> python smallbad.py</a:t>
            </a:r>
          </a:p>
          <a:p>
            <a:pPr defTabSz="514350">
              <a:buClr>
                <a:srgbClr val="FF7F00"/>
              </a:buClr>
              <a:buSzPct val="25000"/>
            </a:pPr>
            <a:r>
              <a:rPr lang="en-US" sz="1688" kern="0">
                <a:solidFill>
                  <a:srgbClr val="FF7F00"/>
                </a:solidFill>
                <a:latin typeface="Arial" charset="0"/>
                <a:ea typeface="Arial" charset="0"/>
                <a:cs typeface="Arial" charset="0"/>
                <a:sym typeface="Cabin"/>
              </a:rPr>
              <a:t>Before </a:t>
            </a:r>
            <a:r>
              <a:rPr lang="en-US" sz="1688" kern="0">
                <a:solidFill>
                  <a:srgbClr val="00FFFF"/>
                </a:solidFill>
                <a:latin typeface="Arial" charset="0"/>
                <a:ea typeface="Arial" charset="0"/>
                <a:cs typeface="Arial" charset="0"/>
                <a:sym typeface="Cabin"/>
              </a:rPr>
              <a:t>-1</a:t>
            </a:r>
          </a:p>
          <a:p>
            <a:pPr defTabSz="514350">
              <a:buClr>
                <a:srgbClr val="00FFFF"/>
              </a:buClr>
              <a:buSzPct val="25000"/>
            </a:pPr>
            <a:r>
              <a:rPr lang="en-US" sz="1688" kern="0">
                <a:solidFill>
                  <a:srgbClr val="00FF00"/>
                </a:solidFill>
                <a:latin typeface="Arial" charset="0"/>
                <a:ea typeface="Arial" charset="0"/>
                <a:cs typeface="Arial" charset="0"/>
                <a:sym typeface="Cabin"/>
              </a:rPr>
              <a:t>-1</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9</a:t>
            </a:r>
          </a:p>
          <a:p>
            <a:pPr defTabSz="514350">
              <a:buClr>
                <a:srgbClr val="00FFFF"/>
              </a:buClr>
              <a:buSzPct val="25000"/>
            </a:pPr>
            <a:r>
              <a:rPr lang="en-US" sz="1688" kern="0">
                <a:solidFill>
                  <a:srgbClr val="00FF00"/>
                </a:solidFill>
                <a:latin typeface="Arial" charset="0"/>
                <a:ea typeface="Arial" charset="0"/>
                <a:cs typeface="Arial" charset="0"/>
                <a:sym typeface="Cabin"/>
              </a:rPr>
              <a:t>-1</a:t>
            </a:r>
            <a:r>
              <a:rPr lang="en-US" sz="1688" kern="0">
                <a:solidFill>
                  <a:srgbClr val="FF00FF"/>
                </a:solidFill>
                <a:latin typeface="Arial" charset="0"/>
                <a:ea typeface="Arial" charset="0"/>
                <a:cs typeface="Arial" charset="0"/>
                <a:sym typeface="Cabin"/>
              </a:rPr>
              <a:t>  41</a:t>
            </a:r>
          </a:p>
          <a:p>
            <a:pPr defTabSz="514350">
              <a:buClr>
                <a:srgbClr val="00FFFF"/>
              </a:buClr>
              <a:buSzPct val="25000"/>
            </a:pPr>
            <a:r>
              <a:rPr lang="en-US" sz="1688" kern="0">
                <a:solidFill>
                  <a:srgbClr val="00FF00"/>
                </a:solidFill>
                <a:latin typeface="Arial" charset="0"/>
                <a:ea typeface="Arial" charset="0"/>
                <a:cs typeface="Arial" charset="0"/>
                <a:sym typeface="Cabin"/>
              </a:rPr>
              <a:t>-1</a:t>
            </a:r>
            <a:r>
              <a:rPr lang="en-US" sz="1688" kern="0">
                <a:solidFill>
                  <a:srgbClr val="FF00FF"/>
                </a:solidFill>
                <a:latin typeface="Arial" charset="0"/>
                <a:ea typeface="Arial" charset="0"/>
                <a:cs typeface="Arial" charset="0"/>
                <a:sym typeface="Cabin"/>
              </a:rPr>
              <a:t> 12</a:t>
            </a:r>
          </a:p>
          <a:p>
            <a:pPr defTabSz="514350">
              <a:buClr>
                <a:srgbClr val="00FFFF"/>
              </a:buClr>
              <a:buSzPct val="25000"/>
            </a:pPr>
            <a:r>
              <a:rPr lang="en-US" sz="1688" kern="0">
                <a:solidFill>
                  <a:srgbClr val="00FF00"/>
                </a:solidFill>
                <a:latin typeface="Arial" charset="0"/>
                <a:ea typeface="Arial" charset="0"/>
                <a:cs typeface="Arial" charset="0"/>
                <a:sym typeface="Cabin"/>
              </a:rPr>
              <a:t>-1</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3</a:t>
            </a:r>
          </a:p>
          <a:p>
            <a:pPr defTabSz="514350">
              <a:buClr>
                <a:srgbClr val="00FFFF"/>
              </a:buClr>
              <a:buSzPct val="25000"/>
            </a:pPr>
            <a:r>
              <a:rPr lang="en-US" sz="1688" kern="0">
                <a:solidFill>
                  <a:srgbClr val="00FF00"/>
                </a:solidFill>
                <a:latin typeface="Arial" charset="0"/>
                <a:ea typeface="Arial" charset="0"/>
                <a:cs typeface="Arial" charset="0"/>
                <a:sym typeface="Cabin"/>
              </a:rPr>
              <a:t>-1</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74</a:t>
            </a:r>
          </a:p>
          <a:p>
            <a:pPr defTabSz="514350">
              <a:buClr>
                <a:srgbClr val="00FFFF"/>
              </a:buClr>
              <a:buSzPct val="25000"/>
            </a:pPr>
            <a:r>
              <a:rPr lang="en-US" sz="1688" kern="0">
                <a:solidFill>
                  <a:srgbClr val="00FF00"/>
                </a:solidFill>
                <a:latin typeface="Arial" charset="0"/>
                <a:ea typeface="Arial" charset="0"/>
                <a:cs typeface="Arial" charset="0"/>
                <a:sym typeface="Cabin"/>
              </a:rPr>
              <a:t>-1</a:t>
            </a:r>
            <a:r>
              <a:rPr lang="en-US" sz="1688" kern="0">
                <a:solidFill>
                  <a:srgbClr val="00FFFF"/>
                </a:solidFill>
                <a:latin typeface="Arial" charset="0"/>
                <a:ea typeface="Arial" charset="0"/>
                <a:cs typeface="Arial" charset="0"/>
                <a:sym typeface="Cabin"/>
              </a:rPr>
              <a:t>  </a:t>
            </a:r>
            <a:r>
              <a:rPr lang="en-US" sz="1688" kern="0">
                <a:solidFill>
                  <a:srgbClr val="FF00FF"/>
                </a:solidFill>
                <a:latin typeface="Arial" charset="0"/>
                <a:ea typeface="Arial" charset="0"/>
                <a:cs typeface="Arial" charset="0"/>
                <a:sym typeface="Cabin"/>
              </a:rPr>
              <a:t>15</a:t>
            </a:r>
          </a:p>
          <a:p>
            <a:pPr defTabSz="514350">
              <a:buClr>
                <a:srgbClr val="FF7F00"/>
              </a:buClr>
              <a:buSzPct val="25000"/>
            </a:pPr>
            <a:r>
              <a:rPr lang="en-US" sz="1688" kern="0">
                <a:solidFill>
                  <a:srgbClr val="FF7F00"/>
                </a:solidFill>
                <a:latin typeface="Arial" charset="0"/>
                <a:ea typeface="Arial" charset="0"/>
                <a:cs typeface="Arial" charset="0"/>
                <a:sym typeface="Cabin"/>
              </a:rPr>
              <a:t>After </a:t>
            </a:r>
            <a:r>
              <a:rPr lang="en-US" sz="1688" kern="0">
                <a:solidFill>
                  <a:srgbClr val="00FFFF"/>
                </a:solidFill>
                <a:latin typeface="Arial" charset="0"/>
                <a:ea typeface="Arial" charset="0"/>
                <a:cs typeface="Arial" charset="0"/>
                <a:sym typeface="Cabin"/>
              </a:rPr>
              <a:t>-1</a:t>
            </a:r>
          </a:p>
        </p:txBody>
      </p:sp>
    </p:spTree>
    <p:extLst>
      <p:ext uri="{BB962C8B-B14F-4D97-AF65-F5344CB8AC3E}">
        <p14:creationId xmlns:p14="http://schemas.microsoft.com/office/powerpoint/2010/main" val="361839317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Shape 743"/>
          <p:cNvSpPr txBox="1"/>
          <p:nvPr/>
        </p:nvSpPr>
        <p:spPr>
          <a:xfrm>
            <a:off x="820786" y="2057344"/>
            <a:ext cx="4358474" cy="2803949"/>
          </a:xfrm>
          <a:prstGeom prst="rect">
            <a:avLst/>
          </a:prstGeom>
          <a:noFill/>
          <a:ln>
            <a:noFill/>
          </a:ln>
        </p:spPr>
        <p:txBody>
          <a:bodyPr lIns="0" tIns="0" rIns="0" bIns="0" anchor="ctr" anchorCtr="0">
            <a:noAutofit/>
          </a:bodyPr>
          <a:lstStyle/>
          <a:p>
            <a:pPr defTabSz="514350">
              <a:buClr>
                <a:srgbClr val="00FF00"/>
              </a:buClr>
              <a:buSzPct val="25000"/>
            </a:pPr>
            <a:r>
              <a:rPr lang="en-US" sz="1463" b="1" kern="0" dirty="0">
                <a:solidFill>
                  <a:srgbClr val="00FF00"/>
                </a:solidFill>
                <a:latin typeface="Courier"/>
                <a:ea typeface="Courier"/>
                <a:cs typeface="Courier"/>
                <a:sym typeface="Courier New"/>
              </a:rPr>
              <a:t>smallest =</a:t>
            </a:r>
            <a:r>
              <a:rPr lang="en-US" sz="1463" b="1" kern="0" dirty="0">
                <a:solidFill>
                  <a:srgbClr val="FF7F00"/>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None</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'Before'</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00FF"/>
                </a:solidFill>
                <a:latin typeface="Courier"/>
                <a:ea typeface="Courier"/>
                <a:cs typeface="Courier"/>
                <a:sym typeface="Courier New"/>
              </a:rPr>
              <a:t> value </a:t>
            </a:r>
            <a:r>
              <a:rPr lang="en-US" sz="1463" b="1" kern="0" dirty="0">
                <a:solidFill>
                  <a:srgbClr val="FFFFFF"/>
                </a:solidFill>
                <a:latin typeface="Courier"/>
                <a:ea typeface="Courier"/>
                <a:cs typeface="Courier"/>
                <a:sym typeface="Courier New"/>
              </a:rPr>
              <a:t>in</a:t>
            </a:r>
            <a:r>
              <a:rPr lang="en-US" sz="1463" b="1" kern="0" dirty="0">
                <a:solidFill>
                  <a:srgbClr val="FF00FF"/>
                </a:solidFill>
                <a:latin typeface="Courier"/>
                <a:ea typeface="Courier"/>
                <a:cs typeface="Courier"/>
                <a:sym typeface="Courier New"/>
              </a:rPr>
              <a:t> [9, 41, 12, 3, 74, 15] :</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if</a:t>
            </a:r>
            <a:r>
              <a:rPr lang="en-US" sz="1463" b="1" kern="0" dirty="0">
                <a:solidFill>
                  <a:srgbClr val="00FF00"/>
                </a:solidFill>
                <a:latin typeface="Courier"/>
                <a:ea typeface="Courier"/>
                <a:cs typeface="Courier"/>
                <a:sym typeface="Courier New"/>
              </a:rPr>
              <a:t> smallest </a:t>
            </a:r>
            <a:r>
              <a:rPr lang="en-US" sz="1463" b="1" kern="0" dirty="0">
                <a:solidFill>
                  <a:srgbClr val="FFFF00"/>
                </a:solidFill>
                <a:latin typeface="Courier"/>
                <a:ea typeface="Courier"/>
                <a:cs typeface="Courier"/>
                <a:sym typeface="Courier New"/>
              </a:rPr>
              <a:t>is</a:t>
            </a:r>
            <a:r>
              <a:rPr lang="en-US" sz="1463" b="1" kern="0" dirty="0">
                <a:solidFill>
                  <a:srgbClr val="00FF00"/>
                </a:solidFill>
                <a:latin typeface="Courier"/>
                <a:ea typeface="Courier"/>
                <a:cs typeface="Courier"/>
                <a:sym typeface="Courier New"/>
              </a:rPr>
              <a:t> None</a:t>
            </a:r>
            <a:r>
              <a:rPr lang="en-US" sz="1463" b="1" kern="0" dirty="0">
                <a:solidFill>
                  <a:srgbClr val="FFFFFF"/>
                </a:solidFill>
                <a:latin typeface="Courier"/>
                <a:ea typeface="Courier"/>
                <a:cs typeface="Courier"/>
                <a:sym typeface="Courier New"/>
              </a:rPr>
              <a:t> </a:t>
            </a:r>
            <a:r>
              <a:rPr lang="en-US" sz="1463" b="1" kern="0" dirty="0">
                <a:solidFill>
                  <a:srgbClr val="FF00FF"/>
                </a:solidFill>
                <a:latin typeface="Courier"/>
                <a:ea typeface="Courier"/>
                <a:cs typeface="Courier"/>
                <a:sym typeface="Courier New"/>
              </a:rPr>
              <a:t>: </a:t>
            </a:r>
          </a:p>
          <a:p>
            <a:pPr defTabSz="514350">
              <a:buClr>
                <a:srgbClr val="00FF00"/>
              </a:buClr>
              <a:buSzPct val="25000"/>
            </a:pPr>
            <a:r>
              <a:rPr lang="en-US" sz="1463" b="1" kern="0" dirty="0">
                <a:solidFill>
                  <a:srgbClr val="00FF00"/>
                </a:solidFill>
                <a:latin typeface="Courier"/>
                <a:ea typeface="Courier"/>
                <a:cs typeface="Courier"/>
                <a:sym typeface="Courier New"/>
              </a:rPr>
              <a:t>        smallest </a:t>
            </a:r>
            <a:r>
              <a:rPr lang="en-US" sz="1463" b="1" kern="0" dirty="0">
                <a:solidFill>
                  <a:srgbClr val="FF00FF"/>
                </a:solidFill>
                <a:latin typeface="Courier"/>
                <a:ea typeface="Courier"/>
                <a:cs typeface="Courier"/>
                <a:sym typeface="Courier New"/>
              </a:rPr>
              <a:t>= value</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err="1">
                <a:solidFill>
                  <a:srgbClr val="FFFF00"/>
                </a:solidFill>
                <a:latin typeface="Courier"/>
                <a:ea typeface="Courier"/>
                <a:cs typeface="Courier"/>
                <a:sym typeface="Courier New"/>
              </a:rPr>
              <a:t>elif</a:t>
            </a:r>
            <a:r>
              <a:rPr lang="en-US" sz="1463" b="1" kern="0" dirty="0">
                <a:solidFill>
                  <a:srgbClr val="FF00FF"/>
                </a:solidFill>
                <a:latin typeface="Courier"/>
                <a:ea typeface="Courier"/>
                <a:cs typeface="Courier"/>
                <a:sym typeface="Courier New"/>
              </a:rPr>
              <a:t> value &lt; </a:t>
            </a:r>
            <a:r>
              <a:rPr lang="en-US" sz="1463" b="1" kern="0" dirty="0">
                <a:solidFill>
                  <a:srgbClr val="00FF00"/>
                </a:solidFill>
                <a:latin typeface="Courier"/>
                <a:ea typeface="Courier"/>
                <a:cs typeface="Courier"/>
                <a:sym typeface="Courier New"/>
              </a:rPr>
              <a:t>smallest</a:t>
            </a:r>
            <a:r>
              <a:rPr lang="en-US" sz="1463" b="1" kern="0" dirty="0">
                <a:solidFill>
                  <a:srgbClr val="FF00FF"/>
                </a:solidFill>
                <a:latin typeface="Courier"/>
                <a:ea typeface="Courier"/>
                <a:cs typeface="Courier"/>
                <a:sym typeface="Courier New"/>
              </a:rPr>
              <a:t> : </a:t>
            </a:r>
          </a:p>
          <a:p>
            <a:pPr defTabSz="514350">
              <a:buClr>
                <a:srgbClr val="00FF00"/>
              </a:buClr>
              <a:buSzPct val="25000"/>
            </a:pPr>
            <a:r>
              <a:rPr lang="en-US" sz="1463" b="1" kern="0" dirty="0">
                <a:solidFill>
                  <a:srgbClr val="00FF00"/>
                </a:solidFill>
                <a:latin typeface="Courier"/>
                <a:ea typeface="Courier"/>
                <a:cs typeface="Courier"/>
                <a:sym typeface="Courier New"/>
              </a:rPr>
              <a:t>        smallest</a:t>
            </a:r>
            <a:r>
              <a:rPr lang="en-US" sz="1463" b="1" kern="0" dirty="0">
                <a:solidFill>
                  <a:srgbClr val="FF00FF"/>
                </a:solidFill>
                <a:latin typeface="Courier"/>
                <a:ea typeface="Courier"/>
                <a:cs typeface="Courier"/>
                <a:sym typeface="Courier New"/>
              </a:rPr>
              <a:t> = value</a:t>
            </a:r>
          </a:p>
          <a:p>
            <a:pPr defTabSz="514350">
              <a:buClr>
                <a:srgbClr val="FF00FF"/>
              </a:buClr>
              <a:buSzPct val="25000"/>
            </a:pPr>
            <a:r>
              <a:rPr lang="en-US" sz="1463" b="1" kern="0" dirty="0">
                <a:solidFill>
                  <a:srgbClr val="FF00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00FF00"/>
                </a:solidFill>
                <a:latin typeface="Courier"/>
                <a:ea typeface="Courier"/>
                <a:cs typeface="Courier"/>
                <a:sym typeface="Courier New"/>
              </a:rPr>
              <a:t>smallest, </a:t>
            </a:r>
            <a:r>
              <a:rPr lang="en-US" sz="1463" b="1" kern="0" dirty="0">
                <a:solidFill>
                  <a:srgbClr val="FF00FF"/>
                </a:solidFill>
                <a:latin typeface="Courier"/>
                <a:ea typeface="Courier"/>
                <a:cs typeface="Courier"/>
                <a:sym typeface="Courier New"/>
              </a:rPr>
              <a:t>value</a:t>
            </a:r>
            <a:r>
              <a:rPr lang="en-US" sz="1463" b="1" kern="0" dirty="0">
                <a:solidFill>
                  <a:srgbClr val="FFFFFF"/>
                </a:solidFill>
                <a:latin typeface="Courier"/>
                <a:ea typeface="Courier"/>
                <a:cs typeface="Courier"/>
                <a:sym typeface="Courier New"/>
              </a:rPr>
              <a:t>)</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t>
            </a:r>
            <a:r>
              <a:rPr lang="en-US" sz="1463" b="1" kern="0" dirty="0">
                <a:solidFill>
                  <a:srgbClr val="FF7F00"/>
                </a:solidFill>
                <a:latin typeface="Courier"/>
                <a:ea typeface="Courier"/>
                <a:cs typeface="Courier"/>
                <a:sym typeface="Courier New"/>
              </a:rPr>
              <a:t>'After', </a:t>
            </a:r>
            <a:r>
              <a:rPr lang="en-US" sz="1463" b="1" kern="0" dirty="0">
                <a:solidFill>
                  <a:srgbClr val="00FF00"/>
                </a:solidFill>
                <a:latin typeface="Courier"/>
                <a:ea typeface="Courier"/>
                <a:cs typeface="Courier"/>
                <a:sym typeface="Courier New"/>
              </a:rPr>
              <a:t>smallest</a:t>
            </a:r>
            <a:r>
              <a:rPr lang="en-US" sz="1463" b="1" kern="0" dirty="0">
                <a:solidFill>
                  <a:srgbClr val="FFFFFF"/>
                </a:solidFill>
                <a:latin typeface="Courier"/>
                <a:ea typeface="Courier"/>
                <a:cs typeface="Courier"/>
                <a:sym typeface="Courier New"/>
              </a:rPr>
              <a:t>)</a:t>
            </a:r>
          </a:p>
        </p:txBody>
      </p:sp>
      <p:sp>
        <p:nvSpPr>
          <p:cNvPr id="744" name="Shape 744"/>
          <p:cNvSpPr txBox="1"/>
          <p:nvPr/>
        </p:nvSpPr>
        <p:spPr>
          <a:xfrm>
            <a:off x="5751611" y="2166343"/>
            <a:ext cx="2136037" cy="2803949"/>
          </a:xfrm>
          <a:prstGeom prst="rect">
            <a:avLst/>
          </a:prstGeom>
          <a:noFill/>
          <a:ln>
            <a:noFill/>
          </a:ln>
        </p:spPr>
        <p:txBody>
          <a:bodyPr lIns="0" tIns="0" rIns="0" bIns="0" anchor="ctr" anchorCtr="0">
            <a:noAutofit/>
          </a:bodyPr>
          <a:lstStyle/>
          <a:p>
            <a:pPr defTabSz="514350">
              <a:buClr>
                <a:srgbClr val="FFFFFF"/>
              </a:buClr>
              <a:buSzPct val="25000"/>
            </a:pPr>
            <a:r>
              <a:rPr lang="en-US" sz="1688" kern="0">
                <a:solidFill>
                  <a:srgbClr val="FFFFFF"/>
                </a:solidFill>
                <a:latin typeface="Arial" charset="0"/>
                <a:ea typeface="Arial" charset="0"/>
                <a:cs typeface="Arial" charset="0"/>
                <a:sym typeface="Cabin"/>
              </a:rPr>
              <a:t>$</a:t>
            </a:r>
            <a:r>
              <a:rPr lang="en-US" sz="1688" kern="0">
                <a:solidFill>
                  <a:srgbClr val="FFFF00"/>
                </a:solidFill>
                <a:latin typeface="Arial" charset="0"/>
                <a:ea typeface="Arial" charset="0"/>
                <a:cs typeface="Arial" charset="0"/>
                <a:sym typeface="Cabin"/>
              </a:rPr>
              <a:t> python smallest.py </a:t>
            </a:r>
          </a:p>
          <a:p>
            <a:pPr defTabSz="514350">
              <a:buClr>
                <a:srgbClr val="FF7F00"/>
              </a:buClr>
              <a:buSzPct val="25000"/>
            </a:pPr>
            <a:r>
              <a:rPr lang="en-US" sz="1688" kern="0">
                <a:solidFill>
                  <a:srgbClr val="FF7F00"/>
                </a:solidFill>
                <a:latin typeface="Arial" charset="0"/>
                <a:ea typeface="Arial" charset="0"/>
                <a:cs typeface="Arial" charset="0"/>
                <a:sym typeface="Cabin"/>
              </a:rPr>
              <a:t>Before</a:t>
            </a:r>
          </a:p>
          <a:p>
            <a:pPr defTabSz="514350">
              <a:buClr>
                <a:srgbClr val="00FF00"/>
              </a:buClr>
              <a:buSzPct val="25000"/>
            </a:pPr>
            <a:r>
              <a:rPr lang="en-US" sz="1688" kern="0">
                <a:solidFill>
                  <a:srgbClr val="00FF00"/>
                </a:solidFill>
                <a:latin typeface="Arial" charset="0"/>
                <a:ea typeface="Arial" charset="0"/>
                <a:cs typeface="Arial" charset="0"/>
                <a:sym typeface="Cabin"/>
              </a:rPr>
              <a:t>9</a:t>
            </a:r>
            <a:r>
              <a:rPr lang="en-US" sz="1688" kern="0">
                <a:solidFill>
                  <a:srgbClr val="FF00FF"/>
                </a:solidFill>
                <a:latin typeface="Arial" charset="0"/>
                <a:ea typeface="Arial" charset="0"/>
                <a:cs typeface="Arial" charset="0"/>
                <a:sym typeface="Cabin"/>
              </a:rPr>
              <a:t> 9</a:t>
            </a:r>
          </a:p>
          <a:p>
            <a:pPr defTabSz="514350">
              <a:buClr>
                <a:srgbClr val="00FF00"/>
              </a:buClr>
              <a:buSzPct val="25000"/>
            </a:pPr>
            <a:r>
              <a:rPr lang="en-US" sz="1688" kern="0">
                <a:solidFill>
                  <a:srgbClr val="00FF00"/>
                </a:solidFill>
                <a:latin typeface="Arial" charset="0"/>
                <a:ea typeface="Arial" charset="0"/>
                <a:cs typeface="Arial" charset="0"/>
                <a:sym typeface="Cabin"/>
              </a:rPr>
              <a:t>9</a:t>
            </a:r>
            <a:r>
              <a:rPr lang="en-US" sz="1688" kern="0">
                <a:solidFill>
                  <a:srgbClr val="FF00FF"/>
                </a:solidFill>
                <a:latin typeface="Arial" charset="0"/>
                <a:ea typeface="Arial" charset="0"/>
                <a:cs typeface="Arial" charset="0"/>
                <a:sym typeface="Cabin"/>
              </a:rPr>
              <a:t> 41</a:t>
            </a:r>
          </a:p>
          <a:p>
            <a:pPr defTabSz="514350">
              <a:buClr>
                <a:srgbClr val="00FF00"/>
              </a:buClr>
              <a:buSzPct val="25000"/>
            </a:pPr>
            <a:r>
              <a:rPr lang="en-US" sz="1688" kern="0">
                <a:solidFill>
                  <a:srgbClr val="00FF00"/>
                </a:solidFill>
                <a:latin typeface="Arial" charset="0"/>
                <a:ea typeface="Arial" charset="0"/>
                <a:cs typeface="Arial" charset="0"/>
                <a:sym typeface="Cabin"/>
              </a:rPr>
              <a:t>9</a:t>
            </a:r>
            <a:r>
              <a:rPr lang="en-US" sz="1688" kern="0">
                <a:solidFill>
                  <a:srgbClr val="FF00FF"/>
                </a:solidFill>
                <a:latin typeface="Arial" charset="0"/>
                <a:ea typeface="Arial" charset="0"/>
                <a:cs typeface="Arial" charset="0"/>
                <a:sym typeface="Cabin"/>
              </a:rPr>
              <a:t> 12</a:t>
            </a:r>
          </a:p>
          <a:p>
            <a:pPr defTabSz="514350">
              <a:buClr>
                <a:srgbClr val="00FF00"/>
              </a:buClr>
              <a:buSzPct val="25000"/>
            </a:pPr>
            <a:r>
              <a:rPr lang="en-US" sz="1688" kern="0">
                <a:solidFill>
                  <a:srgbClr val="00FF00"/>
                </a:solidFill>
                <a:latin typeface="Arial" charset="0"/>
                <a:ea typeface="Arial" charset="0"/>
                <a:cs typeface="Arial" charset="0"/>
                <a:sym typeface="Cabin"/>
              </a:rPr>
              <a:t>3</a:t>
            </a:r>
            <a:r>
              <a:rPr lang="en-US" sz="1688" kern="0">
                <a:solidFill>
                  <a:srgbClr val="FF00FF"/>
                </a:solidFill>
                <a:latin typeface="Arial" charset="0"/>
                <a:ea typeface="Arial" charset="0"/>
                <a:cs typeface="Arial" charset="0"/>
                <a:sym typeface="Cabin"/>
              </a:rPr>
              <a:t> 3</a:t>
            </a:r>
          </a:p>
          <a:p>
            <a:pPr defTabSz="514350">
              <a:buClr>
                <a:srgbClr val="00FF00"/>
              </a:buClr>
              <a:buSzPct val="25000"/>
            </a:pPr>
            <a:r>
              <a:rPr lang="en-US" sz="1688" kern="0">
                <a:solidFill>
                  <a:srgbClr val="00FF00"/>
                </a:solidFill>
                <a:latin typeface="Arial" charset="0"/>
                <a:ea typeface="Arial" charset="0"/>
                <a:cs typeface="Arial" charset="0"/>
                <a:sym typeface="Cabin"/>
              </a:rPr>
              <a:t>3</a:t>
            </a:r>
            <a:r>
              <a:rPr lang="en-US" sz="1688" kern="0">
                <a:solidFill>
                  <a:srgbClr val="FF00FF"/>
                </a:solidFill>
                <a:latin typeface="Arial" charset="0"/>
                <a:ea typeface="Arial" charset="0"/>
                <a:cs typeface="Arial" charset="0"/>
                <a:sym typeface="Cabin"/>
              </a:rPr>
              <a:t> 74</a:t>
            </a:r>
          </a:p>
          <a:p>
            <a:pPr defTabSz="514350">
              <a:buClr>
                <a:srgbClr val="00FF00"/>
              </a:buClr>
              <a:buSzPct val="25000"/>
            </a:pPr>
            <a:r>
              <a:rPr lang="en-US" sz="1688" kern="0">
                <a:solidFill>
                  <a:srgbClr val="00FF00"/>
                </a:solidFill>
                <a:latin typeface="Arial" charset="0"/>
                <a:ea typeface="Arial" charset="0"/>
                <a:cs typeface="Arial" charset="0"/>
                <a:sym typeface="Cabin"/>
              </a:rPr>
              <a:t>3</a:t>
            </a:r>
            <a:r>
              <a:rPr lang="en-US" sz="1688" kern="0">
                <a:solidFill>
                  <a:srgbClr val="FF00FF"/>
                </a:solidFill>
                <a:latin typeface="Arial" charset="0"/>
                <a:ea typeface="Arial" charset="0"/>
                <a:cs typeface="Arial" charset="0"/>
                <a:sym typeface="Cabin"/>
              </a:rPr>
              <a:t> 15</a:t>
            </a:r>
          </a:p>
          <a:p>
            <a:pPr defTabSz="514350">
              <a:buClr>
                <a:srgbClr val="FF7F00"/>
              </a:buClr>
              <a:buSzPct val="25000"/>
            </a:pPr>
            <a:r>
              <a:rPr lang="en-US" sz="1688" kern="0">
                <a:solidFill>
                  <a:srgbClr val="FF7F00"/>
                </a:solidFill>
                <a:latin typeface="Arial" charset="0"/>
                <a:ea typeface="Arial" charset="0"/>
                <a:cs typeface="Arial" charset="0"/>
                <a:sym typeface="Cabin"/>
              </a:rPr>
              <a:t>After </a:t>
            </a:r>
            <a:r>
              <a:rPr lang="en-US" sz="1688" kern="0">
                <a:solidFill>
                  <a:srgbClr val="00FF00"/>
                </a:solidFill>
                <a:latin typeface="Arial" charset="0"/>
                <a:ea typeface="Arial" charset="0"/>
                <a:cs typeface="Arial" charset="0"/>
                <a:sym typeface="Cabin"/>
              </a:rPr>
              <a:t>3</a:t>
            </a:r>
          </a:p>
        </p:txBody>
      </p:sp>
      <p:sp>
        <p:nvSpPr>
          <p:cNvPr id="745" name="Shape 745"/>
          <p:cNvSpPr txBox="1"/>
          <p:nvPr/>
        </p:nvSpPr>
        <p:spPr>
          <a:xfrm>
            <a:off x="391120" y="4861293"/>
            <a:ext cx="8358188" cy="657254"/>
          </a:xfrm>
          <a:prstGeom prst="rect">
            <a:avLst/>
          </a:prstGeom>
          <a:noFill/>
          <a:ln>
            <a:noFill/>
          </a:ln>
        </p:spPr>
        <p:txBody>
          <a:bodyPr lIns="0" tIns="0" rIns="0" bIns="0" anchor="ctr" anchorCtr="0">
            <a:noAutofit/>
          </a:bodyPr>
          <a:lstStyle/>
          <a:p>
            <a:pPr algn="ctr" defTabSz="514350">
              <a:lnSpc>
                <a:spcPct val="115000"/>
              </a:lnSpc>
              <a:buClr>
                <a:srgbClr val="FFFFFF"/>
              </a:buClr>
              <a:buSzPct val="25000"/>
            </a:pPr>
            <a:r>
              <a:rPr lang="en-US" kern="0">
                <a:solidFill>
                  <a:srgbClr val="FFFFFF"/>
                </a:solidFill>
                <a:latin typeface="Arial" charset="0"/>
                <a:ea typeface="Arial" charset="0"/>
                <a:cs typeface="Arial" charset="0"/>
                <a:sym typeface="Cabin"/>
              </a:rPr>
              <a:t>We still have a variable that is the </a:t>
            </a:r>
            <a:r>
              <a:rPr lang="en-US" kern="0">
                <a:solidFill>
                  <a:srgbClr val="00FF00"/>
                </a:solidFill>
                <a:latin typeface="Arial" charset="0"/>
                <a:ea typeface="Arial" charset="0"/>
                <a:cs typeface="Arial" charset="0"/>
                <a:sym typeface="Cabin"/>
              </a:rPr>
              <a:t>smallest</a:t>
            </a:r>
            <a:r>
              <a:rPr lang="en-US" kern="0">
                <a:solidFill>
                  <a:srgbClr val="FFFFFF"/>
                </a:solidFill>
                <a:latin typeface="Arial" charset="0"/>
                <a:ea typeface="Arial" charset="0"/>
                <a:cs typeface="Arial" charset="0"/>
                <a:sym typeface="Cabin"/>
              </a:rPr>
              <a:t> so far.  </a:t>
            </a:r>
            <a:r>
              <a:rPr lang="en-US" kern="0" dirty="0">
                <a:solidFill>
                  <a:srgbClr val="FFFFFF"/>
                </a:solidFill>
                <a:latin typeface="Arial" charset="0"/>
                <a:ea typeface="Arial" charset="0"/>
                <a:cs typeface="Arial" charset="0"/>
                <a:sym typeface="Cabin"/>
              </a:rPr>
              <a:t>The first time through the loop </a:t>
            </a:r>
            <a:r>
              <a:rPr lang="en-US" kern="0" dirty="0">
                <a:solidFill>
                  <a:srgbClr val="00FF00"/>
                </a:solidFill>
                <a:latin typeface="Arial" charset="0"/>
                <a:ea typeface="Arial" charset="0"/>
                <a:cs typeface="Arial" charset="0"/>
                <a:sym typeface="Cabin"/>
              </a:rPr>
              <a:t>smallest</a:t>
            </a:r>
            <a:r>
              <a:rPr lang="en-US" kern="0" dirty="0">
                <a:solidFill>
                  <a:srgbClr val="FFFFFF"/>
                </a:solidFill>
                <a:latin typeface="Arial" charset="0"/>
                <a:ea typeface="Arial" charset="0"/>
                <a:cs typeface="Arial" charset="0"/>
                <a:sym typeface="Cabin"/>
              </a:rPr>
              <a:t> is </a:t>
            </a:r>
            <a:r>
              <a:rPr lang="en-US" kern="0" dirty="0">
                <a:solidFill>
                  <a:srgbClr val="FFFF00"/>
                </a:solidFill>
                <a:latin typeface="Arial" charset="0"/>
                <a:ea typeface="Arial" charset="0"/>
                <a:cs typeface="Arial" charset="0"/>
                <a:sym typeface="Cabin"/>
              </a:rPr>
              <a:t>None</a:t>
            </a:r>
            <a:r>
              <a:rPr lang="en-US" kern="0" dirty="0">
                <a:solidFill>
                  <a:srgbClr val="FFFFFF"/>
                </a:solidFill>
                <a:latin typeface="Arial" charset="0"/>
                <a:ea typeface="Arial" charset="0"/>
                <a:cs typeface="Arial" charset="0"/>
                <a:sym typeface="Cabin"/>
              </a:rPr>
              <a:t>, so we take the first </a:t>
            </a:r>
            <a:r>
              <a:rPr lang="en-US" kern="0" dirty="0">
                <a:solidFill>
                  <a:srgbClr val="FF00FF"/>
                </a:solidFill>
                <a:latin typeface="Arial" charset="0"/>
                <a:ea typeface="Arial" charset="0"/>
                <a:cs typeface="Arial" charset="0"/>
                <a:sym typeface="Cabin"/>
              </a:rPr>
              <a:t>value</a:t>
            </a:r>
            <a:r>
              <a:rPr lang="en-US" kern="0" dirty="0">
                <a:solidFill>
                  <a:srgbClr val="FFFFFF"/>
                </a:solidFill>
                <a:latin typeface="Arial" charset="0"/>
                <a:ea typeface="Arial" charset="0"/>
                <a:cs typeface="Arial" charset="0"/>
                <a:sym typeface="Cabin"/>
              </a:rPr>
              <a:t> to be the </a:t>
            </a:r>
            <a:r>
              <a:rPr lang="en-US" kern="0" dirty="0">
                <a:solidFill>
                  <a:srgbClr val="00FF00"/>
                </a:solidFill>
                <a:latin typeface="Arial" charset="0"/>
                <a:ea typeface="Arial" charset="0"/>
                <a:cs typeface="Arial" charset="0"/>
                <a:sym typeface="Cabin"/>
              </a:rPr>
              <a:t>smallest</a:t>
            </a:r>
            <a:r>
              <a:rPr lang="en-US" kern="0" dirty="0">
                <a:solidFill>
                  <a:srgbClr val="FFFFFF"/>
                </a:solidFill>
                <a:latin typeface="Arial" charset="0"/>
                <a:ea typeface="Arial" charset="0"/>
                <a:cs typeface="Arial" charset="0"/>
                <a:sym typeface="Cabin"/>
              </a:rPr>
              <a:t>.</a:t>
            </a:r>
          </a:p>
        </p:txBody>
      </p:sp>
      <p:sp>
        <p:nvSpPr>
          <p:cNvPr id="746" name="Shape 746"/>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Finding the Smallest Value</a:t>
            </a:r>
          </a:p>
        </p:txBody>
      </p:sp>
    </p:spTree>
    <p:extLst>
      <p:ext uri="{BB962C8B-B14F-4D97-AF65-F5344CB8AC3E}">
        <p14:creationId xmlns:p14="http://schemas.microsoft.com/office/powerpoint/2010/main" val="35999548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Shape 751"/>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00FF00"/>
              </a:buClr>
              <a:buSzPct val="25000"/>
            </a:pPr>
            <a:r>
              <a:rPr lang="en-US" sz="4275">
                <a:solidFill>
                  <a:srgbClr val="FFD966"/>
                </a:solidFill>
                <a:latin typeface="Arial" charset="0"/>
                <a:ea typeface="Arial" charset="0"/>
                <a:cs typeface="Arial" charset="0"/>
                <a:sym typeface="Cabin"/>
              </a:rPr>
              <a:t>The</a:t>
            </a:r>
            <a:r>
              <a:rPr lang="en-US" sz="4275">
                <a:latin typeface="Arial" charset="0"/>
                <a:ea typeface="Arial" charset="0"/>
                <a:cs typeface="Arial" charset="0"/>
                <a:sym typeface="Cabin"/>
              </a:rPr>
              <a:t> </a:t>
            </a:r>
            <a:r>
              <a:rPr lang="en-US" sz="4275">
                <a:solidFill>
                  <a:srgbClr val="00FFFF"/>
                </a:solidFill>
                <a:latin typeface="Arial" charset="0"/>
                <a:ea typeface="Arial" charset="0"/>
                <a:cs typeface="Arial" charset="0"/>
                <a:sym typeface="Cabin"/>
              </a:rPr>
              <a:t>is</a:t>
            </a:r>
            <a:r>
              <a:rPr lang="en-US" sz="4275">
                <a:solidFill>
                  <a:srgbClr val="FFD966"/>
                </a:solidFill>
                <a:latin typeface="Arial" charset="0"/>
                <a:ea typeface="Arial" charset="0"/>
                <a:cs typeface="Arial" charset="0"/>
                <a:sym typeface="Cabin"/>
              </a:rPr>
              <a:t> and </a:t>
            </a:r>
            <a:r>
              <a:rPr lang="en-US" sz="4275">
                <a:solidFill>
                  <a:srgbClr val="FF9900"/>
                </a:solidFill>
                <a:latin typeface="Arial" charset="0"/>
                <a:ea typeface="Arial" charset="0"/>
                <a:cs typeface="Arial" charset="0"/>
                <a:sym typeface="Cabin"/>
              </a:rPr>
              <a:t>is not</a:t>
            </a:r>
            <a:r>
              <a:rPr lang="en-US" sz="4275">
                <a:solidFill>
                  <a:srgbClr val="FFD966"/>
                </a:solidFill>
                <a:latin typeface="Arial" charset="0"/>
                <a:ea typeface="Arial" charset="0"/>
                <a:cs typeface="Arial" charset="0"/>
                <a:sym typeface="Cabin"/>
              </a:rPr>
              <a:t> Operators</a:t>
            </a:r>
          </a:p>
        </p:txBody>
      </p:sp>
      <p:sp>
        <p:nvSpPr>
          <p:cNvPr id="752" name="Shape 752"/>
          <p:cNvSpPr txBox="1">
            <a:spLocks noGrp="1"/>
          </p:cNvSpPr>
          <p:nvPr>
            <p:ph type="body" idx="1"/>
          </p:nvPr>
        </p:nvSpPr>
        <p:spPr>
          <a:xfrm>
            <a:off x="4846964" y="2321719"/>
            <a:ext cx="3639867" cy="3207599"/>
          </a:xfrm>
          <a:prstGeom prst="rect">
            <a:avLst/>
          </a:prstGeom>
          <a:noFill/>
          <a:ln>
            <a:noFill/>
          </a:ln>
        </p:spPr>
        <p:txBody>
          <a:bodyPr lIns="21431" tIns="21431" rIns="21431" bIns="21431" anchor="ctr" anchorCtr="0">
            <a:noAutofit/>
          </a:bodyPr>
          <a:lstStyle/>
          <a:p>
            <a:pPr marL="421481" indent="-201597">
              <a:spcBef>
                <a:spcPts val="0"/>
              </a:spcBef>
              <a:buSzPct val="100000"/>
            </a:pPr>
            <a:r>
              <a:rPr lang="en-US" sz="1913">
                <a:solidFill>
                  <a:schemeClr val="lt1"/>
                </a:solidFill>
                <a:latin typeface="Arial" charset="0"/>
                <a:ea typeface="Arial" charset="0"/>
                <a:cs typeface="Arial" charset="0"/>
                <a:sym typeface="Cabin"/>
              </a:rPr>
              <a:t>Python has an </a:t>
            </a:r>
            <a:r>
              <a:rPr lang="en-US" sz="1913">
                <a:solidFill>
                  <a:srgbClr val="00FFFF"/>
                </a:solidFill>
                <a:latin typeface="Arial" charset="0"/>
                <a:ea typeface="Arial" charset="0"/>
                <a:cs typeface="Arial" charset="0"/>
                <a:sym typeface="Cabin"/>
              </a:rPr>
              <a:t>is</a:t>
            </a:r>
            <a:r>
              <a:rPr lang="en-US" sz="1913">
                <a:solidFill>
                  <a:schemeClr val="lt1"/>
                </a:solidFill>
                <a:latin typeface="Arial" charset="0"/>
                <a:ea typeface="Arial" charset="0"/>
                <a:cs typeface="Arial" charset="0"/>
                <a:sym typeface="Cabin"/>
              </a:rPr>
              <a:t> operator that can be used in logical expressions</a:t>
            </a:r>
          </a:p>
          <a:p>
            <a:pPr marL="421481" indent="-201597">
              <a:buSzPct val="100000"/>
            </a:pPr>
            <a:r>
              <a:rPr lang="en-US" sz="1913" dirty="0">
                <a:solidFill>
                  <a:schemeClr val="lt1"/>
                </a:solidFill>
                <a:latin typeface="Arial" charset="0"/>
                <a:ea typeface="Arial" charset="0"/>
                <a:cs typeface="Arial" charset="0"/>
                <a:sym typeface="Cabin"/>
              </a:rPr>
              <a:t>Implies “</a:t>
            </a:r>
            <a:r>
              <a:rPr lang="en-US" sz="1913" dirty="0">
                <a:solidFill>
                  <a:srgbClr val="00FFFF"/>
                </a:solidFill>
                <a:latin typeface="Arial" charset="0"/>
                <a:ea typeface="Arial" charset="0"/>
                <a:cs typeface="Arial" charset="0"/>
                <a:sym typeface="Cabin"/>
              </a:rPr>
              <a:t>is the same as</a:t>
            </a:r>
            <a:r>
              <a:rPr lang="en-US" sz="1913" dirty="0">
                <a:solidFill>
                  <a:schemeClr val="lt1"/>
                </a:solidFill>
                <a:latin typeface="Arial" charset="0"/>
                <a:ea typeface="Arial" charset="0"/>
                <a:cs typeface="Arial" charset="0"/>
                <a:sym typeface="Cabin"/>
              </a:rPr>
              <a:t>”</a:t>
            </a:r>
          </a:p>
          <a:p>
            <a:pPr marL="421481" indent="-201597">
              <a:buSzPct val="100000"/>
            </a:pPr>
            <a:r>
              <a:rPr lang="en-US" sz="1913" dirty="0">
                <a:solidFill>
                  <a:schemeClr val="lt1"/>
                </a:solidFill>
                <a:latin typeface="Arial" charset="0"/>
                <a:ea typeface="Arial" charset="0"/>
                <a:cs typeface="Arial" charset="0"/>
                <a:sym typeface="Cabin"/>
              </a:rPr>
              <a:t>Similar to, but stronger than </a:t>
            </a:r>
            <a:r>
              <a:rPr lang="en-US" sz="1913" dirty="0">
                <a:solidFill>
                  <a:srgbClr val="00FFFF"/>
                </a:solidFill>
                <a:latin typeface="Arial" charset="0"/>
                <a:ea typeface="Arial" charset="0"/>
                <a:cs typeface="Arial" charset="0"/>
                <a:sym typeface="Cabin"/>
              </a:rPr>
              <a:t>==</a:t>
            </a:r>
          </a:p>
          <a:p>
            <a:pPr marL="421481" indent="-201597">
              <a:buSzPct val="100000"/>
            </a:pPr>
            <a:r>
              <a:rPr lang="en-US" sz="1913" dirty="0">
                <a:solidFill>
                  <a:srgbClr val="FF7F00"/>
                </a:solidFill>
                <a:latin typeface="Arial" charset="0"/>
                <a:ea typeface="Arial" charset="0"/>
                <a:cs typeface="Arial" charset="0"/>
                <a:sym typeface="Cabin"/>
              </a:rPr>
              <a:t>is not</a:t>
            </a:r>
            <a:r>
              <a:rPr lang="en-US" sz="1913" dirty="0">
                <a:solidFill>
                  <a:schemeClr val="lt1"/>
                </a:solidFill>
                <a:latin typeface="Arial" charset="0"/>
                <a:ea typeface="Arial" charset="0"/>
                <a:cs typeface="Arial" charset="0"/>
                <a:sym typeface="Cabin"/>
              </a:rPr>
              <a:t>  also is a logical operator</a:t>
            </a:r>
          </a:p>
        </p:txBody>
      </p:sp>
      <p:sp>
        <p:nvSpPr>
          <p:cNvPr id="753" name="Shape 753"/>
          <p:cNvSpPr txBox="1"/>
          <p:nvPr/>
        </p:nvSpPr>
        <p:spPr>
          <a:xfrm>
            <a:off x="491864" y="2523516"/>
            <a:ext cx="4355100" cy="2803949"/>
          </a:xfrm>
          <a:prstGeom prst="rect">
            <a:avLst/>
          </a:prstGeom>
          <a:noFill/>
          <a:ln>
            <a:noFill/>
          </a:ln>
        </p:spPr>
        <p:txBody>
          <a:bodyPr lIns="0" tIns="0" rIns="0" bIns="0" anchor="ctr" anchorCtr="0">
            <a:noAutofit/>
          </a:bodyPr>
          <a:lstStyle/>
          <a:p>
            <a:pPr defTabSz="514350">
              <a:buClr>
                <a:srgbClr val="00FF00"/>
              </a:buClr>
              <a:buSzPct val="25000"/>
            </a:pPr>
            <a:r>
              <a:rPr lang="en-US" sz="1463" b="1" kern="0" dirty="0">
                <a:solidFill>
                  <a:srgbClr val="00FF00"/>
                </a:solidFill>
                <a:latin typeface="Courier"/>
                <a:ea typeface="Courier"/>
                <a:cs typeface="Courier"/>
                <a:sym typeface="Courier New"/>
              </a:rPr>
              <a:t>smallest</a:t>
            </a:r>
            <a:r>
              <a:rPr lang="en-US" sz="1463" b="1" kern="0" dirty="0">
                <a:solidFill>
                  <a:srgbClr val="FFFFFF"/>
                </a:solidFill>
                <a:latin typeface="Courier"/>
                <a:ea typeface="Courier"/>
                <a:cs typeface="Courier"/>
                <a:sym typeface="Courier New"/>
              </a:rPr>
              <a:t> = </a:t>
            </a:r>
            <a:r>
              <a:rPr lang="en-US" sz="1463" b="1" kern="0" dirty="0">
                <a:solidFill>
                  <a:srgbClr val="FFFF00"/>
                </a:solidFill>
                <a:latin typeface="Courier"/>
                <a:ea typeface="Courier"/>
                <a:cs typeface="Courier"/>
                <a:sym typeface="Courier New"/>
              </a:rPr>
              <a:t>None</a:t>
            </a: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('Before')</a:t>
            </a:r>
          </a:p>
          <a:p>
            <a:pPr defTabSz="514350">
              <a:buClr>
                <a:srgbClr val="FFFF00"/>
              </a:buClr>
              <a:buSzPct val="25000"/>
            </a:pPr>
            <a:r>
              <a:rPr lang="en-US" sz="1463" b="1" kern="0" dirty="0">
                <a:solidFill>
                  <a:srgbClr val="FFFF00"/>
                </a:solidFill>
                <a:latin typeface="Courier"/>
                <a:ea typeface="Courier"/>
                <a:cs typeface="Courier"/>
                <a:sym typeface="Courier New"/>
              </a:rPr>
              <a:t>for</a:t>
            </a:r>
            <a:r>
              <a:rPr lang="en-US" sz="1463" b="1" kern="0" dirty="0">
                <a:solidFill>
                  <a:srgbClr val="FFFFFF"/>
                </a:solidFill>
                <a:latin typeface="Courier"/>
                <a:ea typeface="Courier"/>
                <a:cs typeface="Courier"/>
                <a:sym typeface="Courier New"/>
              </a:rPr>
              <a:t> value </a:t>
            </a:r>
            <a:r>
              <a:rPr lang="en-US" sz="1463" b="1" kern="0" dirty="0">
                <a:solidFill>
                  <a:srgbClr val="FFFF00"/>
                </a:solidFill>
                <a:latin typeface="Courier"/>
                <a:ea typeface="Courier"/>
                <a:cs typeface="Courier"/>
                <a:sym typeface="Courier New"/>
              </a:rPr>
              <a:t>in</a:t>
            </a:r>
            <a:r>
              <a:rPr lang="en-US" sz="1463" b="1" kern="0" dirty="0">
                <a:solidFill>
                  <a:srgbClr val="FFFFFF"/>
                </a:solidFill>
                <a:latin typeface="Courier"/>
                <a:ea typeface="Courier"/>
                <a:cs typeface="Courier"/>
                <a:sym typeface="Courier New"/>
              </a:rPr>
              <a:t> [3, 41, 12, 9, 74, 15] :</a:t>
            </a:r>
          </a:p>
          <a:p>
            <a:pPr defTabSz="514350">
              <a:buClr>
                <a:srgbClr val="FFFFFF"/>
              </a:buClr>
              <a:buSzPct val="25000"/>
            </a:pPr>
            <a:r>
              <a:rPr lang="en-US" sz="1463" b="1" kern="0" dirty="0">
                <a:solidFill>
                  <a:srgbClr val="FFFF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if</a:t>
            </a:r>
            <a:r>
              <a:rPr lang="en-US" sz="1463" b="1" kern="0" dirty="0">
                <a:solidFill>
                  <a:srgbClr val="FFFFFF"/>
                </a:solidFill>
                <a:latin typeface="Courier"/>
                <a:ea typeface="Courier"/>
                <a:cs typeface="Courier"/>
                <a:sym typeface="Courier New"/>
              </a:rPr>
              <a:t> </a:t>
            </a:r>
            <a:r>
              <a:rPr lang="en-US" sz="1463" b="1" kern="0" dirty="0">
                <a:solidFill>
                  <a:srgbClr val="00FF00"/>
                </a:solidFill>
                <a:latin typeface="Courier"/>
                <a:ea typeface="Courier"/>
                <a:cs typeface="Courier"/>
                <a:sym typeface="Courier New"/>
              </a:rPr>
              <a:t>smallest</a:t>
            </a:r>
            <a:r>
              <a:rPr lang="en-US" sz="1463" b="1" kern="0" dirty="0">
                <a:solidFill>
                  <a:srgbClr val="FFFFFF"/>
                </a:solidFill>
                <a:latin typeface="Courier"/>
                <a:ea typeface="Courier"/>
                <a:cs typeface="Courier"/>
                <a:sym typeface="Courier New"/>
              </a:rPr>
              <a:t> </a:t>
            </a:r>
            <a:r>
              <a:rPr lang="en-US" sz="1463" b="1" kern="0" dirty="0">
                <a:solidFill>
                  <a:srgbClr val="00FFFF"/>
                </a:solidFill>
                <a:latin typeface="Courier"/>
                <a:ea typeface="Courier"/>
                <a:cs typeface="Courier"/>
                <a:sym typeface="Courier New"/>
              </a:rPr>
              <a:t>is</a:t>
            </a:r>
            <a:r>
              <a:rPr lang="en-US" sz="1463" b="1" kern="0" dirty="0">
                <a:solidFill>
                  <a:srgbClr val="FFFF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None</a:t>
            </a:r>
            <a:r>
              <a:rPr lang="en-US" sz="1463" b="1" kern="0" dirty="0">
                <a:solidFill>
                  <a:srgbClr val="FFFFFF"/>
                </a:solidFill>
                <a:latin typeface="Courier"/>
                <a:ea typeface="Courier"/>
                <a:cs typeface="Courier"/>
                <a:sym typeface="Courier New"/>
              </a:rPr>
              <a:t> : </a:t>
            </a:r>
          </a:p>
          <a:p>
            <a:pPr defTabSz="514350">
              <a:buClr>
                <a:srgbClr val="FFFFFF"/>
              </a:buClr>
              <a:buSzPct val="25000"/>
            </a:pPr>
            <a:r>
              <a:rPr lang="en-US" sz="1463" b="1" kern="0" dirty="0">
                <a:solidFill>
                  <a:srgbClr val="FFFFFF"/>
                </a:solidFill>
                <a:latin typeface="Courier"/>
                <a:ea typeface="Courier"/>
                <a:cs typeface="Courier"/>
                <a:sym typeface="Courier New"/>
              </a:rPr>
              <a:t>        </a:t>
            </a:r>
            <a:r>
              <a:rPr lang="en-US" sz="1463" b="1" kern="0" dirty="0">
                <a:solidFill>
                  <a:srgbClr val="00FF00"/>
                </a:solidFill>
                <a:latin typeface="Courier"/>
                <a:ea typeface="Courier"/>
                <a:cs typeface="Courier"/>
                <a:sym typeface="Courier New"/>
              </a:rPr>
              <a:t>smallest</a:t>
            </a:r>
            <a:r>
              <a:rPr lang="en-US" sz="1463" b="1" kern="0" dirty="0">
                <a:solidFill>
                  <a:srgbClr val="FFFFFF"/>
                </a:solidFill>
                <a:latin typeface="Courier"/>
                <a:ea typeface="Courier"/>
                <a:cs typeface="Courier"/>
                <a:sym typeface="Courier New"/>
              </a:rPr>
              <a:t> = value</a:t>
            </a:r>
          </a:p>
          <a:p>
            <a:pPr defTabSz="514350">
              <a:buClr>
                <a:srgbClr val="FFFFFF"/>
              </a:buClr>
              <a:buSzPct val="25000"/>
            </a:pPr>
            <a:r>
              <a:rPr lang="en-US" sz="1463" b="1" kern="0" dirty="0">
                <a:solidFill>
                  <a:srgbClr val="FFFFFF"/>
                </a:solidFill>
                <a:latin typeface="Courier"/>
                <a:ea typeface="Courier"/>
                <a:cs typeface="Courier"/>
                <a:sym typeface="Courier New"/>
              </a:rPr>
              <a:t>    </a:t>
            </a:r>
            <a:r>
              <a:rPr lang="en-US" sz="1463" b="1" kern="0" dirty="0" err="1">
                <a:solidFill>
                  <a:srgbClr val="FFFF00"/>
                </a:solidFill>
                <a:latin typeface="Courier"/>
                <a:ea typeface="Courier"/>
                <a:cs typeface="Courier"/>
                <a:sym typeface="Courier New"/>
              </a:rPr>
              <a:t>elif</a:t>
            </a:r>
            <a:r>
              <a:rPr lang="en-US" sz="1463" b="1" kern="0" dirty="0">
                <a:solidFill>
                  <a:srgbClr val="FFFFFF"/>
                </a:solidFill>
                <a:latin typeface="Courier"/>
                <a:ea typeface="Courier"/>
                <a:cs typeface="Courier"/>
                <a:sym typeface="Courier New"/>
              </a:rPr>
              <a:t> value &lt; </a:t>
            </a:r>
            <a:r>
              <a:rPr lang="en-US" sz="1463" b="1" kern="0" dirty="0">
                <a:solidFill>
                  <a:srgbClr val="00FF00"/>
                </a:solidFill>
                <a:latin typeface="Courier"/>
                <a:ea typeface="Courier"/>
                <a:cs typeface="Courier"/>
                <a:sym typeface="Courier New"/>
              </a:rPr>
              <a:t>smallest</a:t>
            </a:r>
            <a:r>
              <a:rPr lang="en-US" sz="1463" b="1" kern="0" dirty="0">
                <a:solidFill>
                  <a:srgbClr val="FFFFFF"/>
                </a:solidFill>
                <a:latin typeface="Courier"/>
                <a:ea typeface="Courier"/>
                <a:cs typeface="Courier"/>
                <a:sym typeface="Courier New"/>
              </a:rPr>
              <a:t> : </a:t>
            </a:r>
          </a:p>
          <a:p>
            <a:pPr defTabSz="514350">
              <a:buClr>
                <a:srgbClr val="FFFFFF"/>
              </a:buClr>
              <a:buSzPct val="25000"/>
            </a:pPr>
            <a:r>
              <a:rPr lang="en-US" sz="1463" b="1" kern="0" dirty="0">
                <a:solidFill>
                  <a:srgbClr val="FFFFFF"/>
                </a:solidFill>
                <a:latin typeface="Courier"/>
                <a:ea typeface="Courier"/>
                <a:cs typeface="Courier"/>
                <a:sym typeface="Courier New"/>
              </a:rPr>
              <a:t>        </a:t>
            </a:r>
            <a:r>
              <a:rPr lang="en-US" sz="1463" b="1" kern="0" dirty="0">
                <a:solidFill>
                  <a:srgbClr val="00FF00"/>
                </a:solidFill>
                <a:latin typeface="Courier"/>
                <a:ea typeface="Courier"/>
                <a:cs typeface="Courier"/>
                <a:sym typeface="Courier New"/>
              </a:rPr>
              <a:t>smallest</a:t>
            </a:r>
            <a:r>
              <a:rPr lang="en-US" sz="1463" b="1" kern="0" dirty="0">
                <a:solidFill>
                  <a:srgbClr val="FFFFFF"/>
                </a:solidFill>
                <a:latin typeface="Courier"/>
                <a:ea typeface="Courier"/>
                <a:cs typeface="Courier"/>
                <a:sym typeface="Courier New"/>
              </a:rPr>
              <a:t> = value</a:t>
            </a:r>
          </a:p>
          <a:p>
            <a:pPr defTabSz="514350">
              <a:buClr>
                <a:srgbClr val="FFFFFF"/>
              </a:buClr>
              <a:buSzPct val="25000"/>
            </a:pPr>
            <a:r>
              <a:rPr lang="en-US" sz="1463" b="1" kern="0" dirty="0">
                <a:solidFill>
                  <a:srgbClr val="FFFFFF"/>
                </a:solidFill>
                <a:latin typeface="Courier"/>
                <a:ea typeface="Courier"/>
                <a:cs typeface="Courier"/>
                <a:sym typeface="Courier New"/>
              </a:rPr>
              <a:t>    </a:t>
            </a:r>
            <a:r>
              <a:rPr lang="en-US" sz="1463" b="1" kern="0" dirty="0">
                <a:solidFill>
                  <a:srgbClr val="FFFF00"/>
                </a:solidFill>
                <a:latin typeface="Courier"/>
                <a:ea typeface="Courier"/>
                <a:cs typeface="Courier"/>
                <a:sym typeface="Courier New"/>
              </a:rPr>
              <a:t>print(</a:t>
            </a:r>
            <a:r>
              <a:rPr lang="en-US" sz="1463" b="1" kern="0" dirty="0">
                <a:solidFill>
                  <a:srgbClr val="00FF00"/>
                </a:solidFill>
                <a:latin typeface="Courier"/>
                <a:ea typeface="Courier"/>
                <a:cs typeface="Courier"/>
                <a:sym typeface="Courier New"/>
              </a:rPr>
              <a:t>smallest</a:t>
            </a:r>
            <a:r>
              <a:rPr lang="en-US" sz="1463" b="1" kern="0" dirty="0">
                <a:solidFill>
                  <a:srgbClr val="FFFFFF"/>
                </a:solidFill>
                <a:latin typeface="Courier"/>
                <a:ea typeface="Courier"/>
                <a:cs typeface="Courier"/>
                <a:sym typeface="Courier New"/>
              </a:rPr>
              <a:t>, value</a:t>
            </a:r>
            <a:r>
              <a:rPr lang="en-US" sz="1463" b="1" kern="0" dirty="0">
                <a:solidFill>
                  <a:srgbClr val="FFFF00"/>
                </a:solidFill>
                <a:latin typeface="Courier"/>
                <a:ea typeface="Courier"/>
                <a:cs typeface="Courier"/>
                <a:sym typeface="Courier New"/>
              </a:rPr>
              <a:t>)</a:t>
            </a:r>
          </a:p>
          <a:p>
            <a:pPr defTabSz="514350">
              <a:buClr>
                <a:srgbClr val="FFFFFF"/>
              </a:buClr>
              <a:buSzPct val="25000"/>
            </a:pPr>
            <a:endParaRPr lang="en-US" sz="1463" b="1" kern="0" dirty="0">
              <a:solidFill>
                <a:srgbClr val="FFFFFF"/>
              </a:solidFill>
              <a:latin typeface="Courier"/>
              <a:ea typeface="Courier"/>
              <a:cs typeface="Courier"/>
              <a:sym typeface="Courier New"/>
            </a:endParaRPr>
          </a:p>
          <a:p>
            <a:pPr defTabSz="514350">
              <a:buClr>
                <a:srgbClr val="FFFF00"/>
              </a:buClr>
              <a:buSzPct val="25000"/>
            </a:pPr>
            <a:r>
              <a:rPr lang="en-US" sz="1463" b="1" kern="0" dirty="0">
                <a:solidFill>
                  <a:srgbClr val="FFFF00"/>
                </a:solidFill>
                <a:latin typeface="Courier"/>
                <a:ea typeface="Courier"/>
                <a:cs typeface="Courier"/>
                <a:sym typeface="Courier New"/>
              </a:rPr>
              <a:t>print</a:t>
            </a:r>
            <a:r>
              <a:rPr lang="en-US" sz="1463" b="1" kern="0" dirty="0">
                <a:solidFill>
                  <a:srgbClr val="FFFFFF"/>
                </a:solidFill>
                <a:latin typeface="Courier"/>
                <a:ea typeface="Courier"/>
                <a:cs typeface="Courier"/>
                <a:sym typeface="Courier New"/>
              </a:rPr>
              <a:t>('After', </a:t>
            </a:r>
            <a:r>
              <a:rPr lang="en-US" sz="1463" b="1" kern="0" dirty="0">
                <a:solidFill>
                  <a:srgbClr val="00FF00"/>
                </a:solidFill>
                <a:latin typeface="Courier"/>
                <a:ea typeface="Courier"/>
                <a:cs typeface="Courier"/>
                <a:sym typeface="Courier New"/>
              </a:rPr>
              <a:t>smallest</a:t>
            </a:r>
            <a:r>
              <a:rPr lang="en-US" sz="1463" b="1" kern="0" dirty="0">
                <a:solidFill>
                  <a:srgbClr val="FFFFFF"/>
                </a:solidFill>
                <a:latin typeface="Courier"/>
                <a:ea typeface="Courier"/>
                <a:cs typeface="Courier"/>
                <a:sym typeface="Courier New"/>
              </a:rPr>
              <a:t>)</a:t>
            </a:r>
          </a:p>
        </p:txBody>
      </p:sp>
    </p:spTree>
    <p:extLst>
      <p:ext uri="{BB962C8B-B14F-4D97-AF65-F5344CB8AC3E}">
        <p14:creationId xmlns:p14="http://schemas.microsoft.com/office/powerpoint/2010/main" val="198754666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60" name="Shape 760"/>
          <p:cNvSpPr txBox="1">
            <a:spLocks noGrp="1"/>
          </p:cNvSpPr>
          <p:nvPr>
            <p:ph type="title"/>
          </p:nvPr>
        </p:nvSpPr>
        <p:spPr>
          <a:prstGeom prst="rect">
            <a:avLst/>
          </a:prstGeom>
          <a:noFill/>
          <a:ln>
            <a:noFill/>
          </a:ln>
        </p:spPr>
        <p:txBody>
          <a:bodyPr lIns="21431" tIns="21431" rIns="21431" bIns="21431" anchor="ctr" anchorCtr="0">
            <a:noAutofit/>
          </a:bodyPr>
          <a:lstStyle/>
          <a:p>
            <a:pPr>
              <a:buClr>
                <a:srgbClr val="FF00FF"/>
              </a:buClr>
              <a:buSzPct val="25000"/>
            </a:pPr>
            <a:r>
              <a:rPr lang="en-US" sz="4275">
                <a:solidFill>
                  <a:srgbClr val="FFD966"/>
                </a:solidFill>
                <a:latin typeface="Arial" charset="0"/>
                <a:ea typeface="Arial" charset="0"/>
                <a:cs typeface="Arial" charset="0"/>
                <a:sym typeface="Cabin"/>
              </a:rPr>
              <a:t>Summary</a:t>
            </a:r>
          </a:p>
        </p:txBody>
      </p:sp>
      <p:sp>
        <p:nvSpPr>
          <p:cNvPr id="758" name="Shape 758"/>
          <p:cNvSpPr txBox="1">
            <a:spLocks noGrp="1"/>
          </p:cNvSpPr>
          <p:nvPr>
            <p:ph type="body" idx="1"/>
          </p:nvPr>
        </p:nvSpPr>
        <p:spPr>
          <a:xfrm>
            <a:off x="1017984" y="2321719"/>
            <a:ext cx="3839766" cy="3207599"/>
          </a:xfrm>
          <a:prstGeom prst="rect">
            <a:avLst/>
          </a:prstGeom>
          <a:noFill/>
          <a:ln>
            <a:noFill/>
          </a:ln>
        </p:spPr>
        <p:txBody>
          <a:bodyPr lIns="21431" tIns="21431" rIns="21431" bIns="21431" anchor="t" anchorCtr="0">
            <a:noAutofit/>
          </a:bodyPr>
          <a:lstStyle/>
          <a:p>
            <a:pPr marL="385763" indent="-221884">
              <a:spcBef>
                <a:spcPts val="0"/>
              </a:spcBef>
              <a:buSzPct val="100000"/>
            </a:pPr>
            <a:r>
              <a:rPr lang="en-US" sz="2025" dirty="0">
                <a:solidFill>
                  <a:schemeClr val="lt1"/>
                </a:solidFill>
                <a:latin typeface="Arial" charset="0"/>
                <a:ea typeface="Arial" charset="0"/>
                <a:cs typeface="Arial" charset="0"/>
                <a:sym typeface="Cabin"/>
              </a:rPr>
              <a:t>While loops (indefinite)</a:t>
            </a:r>
          </a:p>
          <a:p>
            <a:pPr marL="385763" indent="-221884">
              <a:buSzPct val="100000"/>
            </a:pPr>
            <a:r>
              <a:rPr lang="en-US" sz="2025" dirty="0">
                <a:solidFill>
                  <a:schemeClr val="lt1"/>
                </a:solidFill>
                <a:latin typeface="Arial" charset="0"/>
                <a:ea typeface="Arial" charset="0"/>
                <a:cs typeface="Arial" charset="0"/>
                <a:sym typeface="Cabin"/>
              </a:rPr>
              <a:t>Infinite loops</a:t>
            </a:r>
          </a:p>
          <a:p>
            <a:pPr marL="385763" indent="-221884">
              <a:buSzPct val="100000"/>
            </a:pPr>
            <a:r>
              <a:rPr lang="en-US" sz="2025" dirty="0">
                <a:solidFill>
                  <a:schemeClr val="lt1"/>
                </a:solidFill>
                <a:latin typeface="Arial" charset="0"/>
                <a:ea typeface="Arial" charset="0"/>
                <a:cs typeface="Arial" charset="0"/>
                <a:sym typeface="Cabin"/>
              </a:rPr>
              <a:t>Using break</a:t>
            </a:r>
          </a:p>
          <a:p>
            <a:pPr marL="385763" indent="-221885">
              <a:buSzPct val="100000"/>
            </a:pPr>
            <a:r>
              <a:rPr lang="en-US" sz="2025" dirty="0">
                <a:solidFill>
                  <a:schemeClr val="lt1"/>
                </a:solidFill>
                <a:latin typeface="Arial" charset="0"/>
                <a:ea typeface="Arial" charset="0"/>
                <a:cs typeface="Arial" charset="0"/>
                <a:sym typeface="Cabin"/>
              </a:rPr>
              <a:t>Using continue</a:t>
            </a:r>
          </a:p>
          <a:p>
            <a:pPr marL="385763" indent="-221885">
              <a:buSzPct val="100000"/>
            </a:pPr>
            <a:r>
              <a:rPr lang="en-US" sz="2025" dirty="0">
                <a:solidFill>
                  <a:schemeClr val="lt1"/>
                </a:solidFill>
                <a:latin typeface="Arial" charset="0"/>
                <a:ea typeface="Arial" charset="0"/>
                <a:cs typeface="Arial" charset="0"/>
                <a:sym typeface="Cabin"/>
              </a:rPr>
              <a:t>None constants and variables</a:t>
            </a:r>
          </a:p>
        </p:txBody>
      </p:sp>
      <p:sp>
        <p:nvSpPr>
          <p:cNvPr id="759" name="Shape 759"/>
          <p:cNvSpPr txBox="1">
            <a:spLocks noGrp="1"/>
          </p:cNvSpPr>
          <p:nvPr>
            <p:ph type="body" idx="4294967295"/>
          </p:nvPr>
        </p:nvSpPr>
        <p:spPr>
          <a:xfrm>
            <a:off x="5082778" y="2407444"/>
            <a:ext cx="3404053" cy="3207544"/>
          </a:xfrm>
          <a:prstGeom prst="rect">
            <a:avLst/>
          </a:prstGeom>
          <a:noFill/>
          <a:ln>
            <a:noFill/>
          </a:ln>
        </p:spPr>
        <p:txBody>
          <a:bodyPr lIns="21431" tIns="21431" rIns="21431" bIns="21431" anchor="t" anchorCtr="0">
            <a:noAutofit/>
          </a:bodyPr>
          <a:lstStyle/>
          <a:p>
            <a:pPr marL="385763" indent="-221885" algn="l">
              <a:spcBef>
                <a:spcPts val="1969"/>
              </a:spcBef>
              <a:buClr>
                <a:schemeClr val="lt1"/>
              </a:buClr>
              <a:buSzPct val="100000"/>
              <a:buFont typeface="Cabin"/>
              <a:buChar char="•"/>
            </a:pPr>
            <a:r>
              <a:rPr lang="en-US" sz="2025">
                <a:solidFill>
                  <a:schemeClr val="lt1"/>
                </a:solidFill>
                <a:latin typeface="Arial" charset="0"/>
                <a:ea typeface="Arial" charset="0"/>
                <a:cs typeface="Arial" charset="0"/>
                <a:sym typeface="Cabin"/>
              </a:rPr>
              <a:t>For loops (definite)</a:t>
            </a:r>
          </a:p>
          <a:p>
            <a:pPr marL="385763" indent="-221885" algn="l">
              <a:spcBef>
                <a:spcPts val="1969"/>
              </a:spcBef>
              <a:buClr>
                <a:schemeClr val="lt1"/>
              </a:buClr>
              <a:buSzPct val="100000"/>
              <a:buFont typeface="Cabin"/>
              <a:buChar char="•"/>
            </a:pPr>
            <a:r>
              <a:rPr lang="en-US" sz="2025">
                <a:solidFill>
                  <a:schemeClr val="lt1"/>
                </a:solidFill>
                <a:latin typeface="Arial" charset="0"/>
                <a:ea typeface="Arial" charset="0"/>
                <a:cs typeface="Arial" charset="0"/>
                <a:sym typeface="Cabin"/>
              </a:rPr>
              <a:t>Iteration variables</a:t>
            </a:r>
          </a:p>
          <a:p>
            <a:pPr marL="385763" indent="-221885" algn="l">
              <a:spcBef>
                <a:spcPts val="1969"/>
              </a:spcBef>
              <a:buClr>
                <a:schemeClr val="lt1"/>
              </a:buClr>
              <a:buSzPct val="100000"/>
              <a:buFont typeface="Cabin"/>
              <a:buChar char="•"/>
            </a:pPr>
            <a:r>
              <a:rPr lang="en-US" sz="2025">
                <a:solidFill>
                  <a:schemeClr val="lt1"/>
                </a:solidFill>
                <a:latin typeface="Arial" charset="0"/>
                <a:ea typeface="Arial" charset="0"/>
                <a:cs typeface="Arial" charset="0"/>
                <a:sym typeface="Cabin"/>
              </a:rPr>
              <a:t>Loop idioms</a:t>
            </a:r>
          </a:p>
          <a:p>
            <a:pPr marL="385763" indent="-221885" algn="l">
              <a:spcBef>
                <a:spcPts val="1969"/>
              </a:spcBef>
              <a:buClr>
                <a:schemeClr val="lt1"/>
              </a:buClr>
              <a:buSzPct val="100000"/>
              <a:buFont typeface="Cabin"/>
              <a:buChar char="•"/>
            </a:pPr>
            <a:r>
              <a:rPr lang="en-US" sz="2025">
                <a:solidFill>
                  <a:schemeClr val="lt1"/>
                </a:solidFill>
                <a:latin typeface="Arial" charset="0"/>
                <a:ea typeface="Arial" charset="0"/>
                <a:cs typeface="Arial" charset="0"/>
                <a:sym typeface="Cabin"/>
              </a:rPr>
              <a:t>Largest or smallest</a:t>
            </a:r>
          </a:p>
        </p:txBody>
      </p:sp>
    </p:spTree>
    <p:extLst>
      <p:ext uri="{BB962C8B-B14F-4D97-AF65-F5344CB8AC3E}">
        <p14:creationId xmlns:p14="http://schemas.microsoft.com/office/powerpoint/2010/main" val="320634137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Shape 765"/>
          <p:cNvSpPr txBox="1">
            <a:spLocks noGrp="1"/>
          </p:cNvSpPr>
          <p:nvPr>
            <p:ph type="title"/>
          </p:nvPr>
        </p:nvSpPr>
        <p:spPr>
          <a:xfrm>
            <a:off x="650081" y="1317048"/>
            <a:ext cx="7836750" cy="634419"/>
          </a:xfrm>
          <a:prstGeom prst="rect">
            <a:avLst/>
          </a:prstGeom>
        </p:spPr>
        <p:txBody>
          <a:bodyPr lIns="51427" tIns="51427" rIns="51427" bIns="51427" anchor="ctr" anchorCtr="0">
            <a:noAutofit/>
          </a:bodyPr>
          <a:lstStyle/>
          <a:p>
            <a:r>
              <a:rPr lang="en-US" sz="2025"/>
              <a:t>Acknowledgements / Contributions</a:t>
            </a:r>
          </a:p>
        </p:txBody>
      </p:sp>
      <p:sp>
        <p:nvSpPr>
          <p:cNvPr id="766" name="Shape 766"/>
          <p:cNvSpPr txBox="1"/>
          <p:nvPr/>
        </p:nvSpPr>
        <p:spPr>
          <a:xfrm>
            <a:off x="650081" y="2062758"/>
            <a:ext cx="3823706" cy="3366179"/>
          </a:xfrm>
          <a:prstGeom prst="rect">
            <a:avLst/>
          </a:prstGeom>
          <a:noFill/>
          <a:ln>
            <a:noFill/>
          </a:ln>
        </p:spPr>
        <p:txBody>
          <a:bodyPr lIns="51427" tIns="51427" rIns="51427" bIns="51427" anchor="t" anchorCtr="0">
            <a:noAutofit/>
          </a:bodyPr>
          <a:lstStyle/>
          <a:p>
            <a:pPr defTabSz="514350"/>
            <a:r>
              <a:rPr lang="en-US" sz="1013" kern="0" dirty="0">
                <a:solidFill>
                  <a:srgbClr val="FFFFFF"/>
                </a:solidFill>
                <a:latin typeface="Arial"/>
                <a:cs typeface="Arial"/>
                <a:sym typeface="Arial"/>
              </a:rPr>
              <a:t>These slides are Copyright 2010-  Charles R. Severance (</a:t>
            </a:r>
            <a:r>
              <a:rPr lang="en-US" sz="1013" u="sng" kern="0" dirty="0">
                <a:solidFill>
                  <a:srgbClr val="FFFF00"/>
                </a:solidFill>
                <a:latin typeface="Arial"/>
                <a:cs typeface="Arial"/>
                <a:sym typeface="Arial"/>
                <a:hlinkClick r:id="rId3"/>
              </a:rPr>
              <a:t>www.dr-chuck.com</a:t>
            </a:r>
            <a:r>
              <a:rPr lang="en-US" sz="1013" kern="0" dirty="0">
                <a:solidFill>
                  <a:srgbClr val="FFFFFF"/>
                </a:solidFill>
                <a:latin typeface="Arial"/>
                <a:cs typeface="Arial"/>
                <a:sym typeface="Arial"/>
              </a:rPr>
              <a:t>) of the University of Michigan School of Information and </a:t>
            </a:r>
            <a:r>
              <a:rPr lang="en-US" sz="1013" u="sng" kern="0" dirty="0">
                <a:solidFill>
                  <a:srgbClr val="FFFF00"/>
                </a:solidFill>
                <a:latin typeface="Arial"/>
                <a:cs typeface="Arial"/>
                <a:sym typeface="Arial"/>
                <a:hlinkClick r:id="rId4"/>
              </a:rPr>
              <a:t>open.umich.edu</a:t>
            </a:r>
            <a:r>
              <a:rPr lang="en-US" sz="1013" kern="0" dirty="0">
                <a:solidFill>
                  <a:srgbClr val="FFFFFF"/>
                </a:solidFill>
                <a:latin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p>
          <a:p>
            <a:pPr defTabSz="514350"/>
            <a:endParaRPr sz="1013" kern="0" dirty="0">
              <a:solidFill>
                <a:srgbClr val="FFFFFF"/>
              </a:solidFill>
              <a:latin typeface="Arial"/>
              <a:cs typeface="Arial"/>
              <a:sym typeface="Arial"/>
            </a:endParaRPr>
          </a:p>
          <a:p>
            <a:pPr defTabSz="514350"/>
            <a:r>
              <a:rPr lang="en-US" sz="1013" kern="0" dirty="0">
                <a:solidFill>
                  <a:srgbClr val="FFFFFF"/>
                </a:solidFill>
                <a:latin typeface="Arial"/>
                <a:cs typeface="Arial"/>
                <a:sym typeface="Arial"/>
              </a:rPr>
              <a:t>Initial Development: Charles Severance, University of Michigan School of Information</a:t>
            </a:r>
          </a:p>
          <a:p>
            <a:pPr defTabSz="514350"/>
            <a:endParaRPr sz="1013" kern="0" dirty="0">
              <a:solidFill>
                <a:srgbClr val="FFFFFF"/>
              </a:solidFill>
              <a:latin typeface="Arial"/>
              <a:cs typeface="Arial"/>
              <a:sym typeface="Arial"/>
            </a:endParaRPr>
          </a:p>
          <a:p>
            <a:pPr defTabSz="514350"/>
            <a:r>
              <a:rPr lang="en-US" sz="1013" kern="0" dirty="0">
                <a:solidFill>
                  <a:srgbClr val="FFFFFF"/>
                </a:solidFill>
                <a:latin typeface="Arial"/>
                <a:cs typeface="Arial"/>
                <a:sym typeface="Arial"/>
              </a:rPr>
              <a:t>… Insert new Contributors and Translators here </a:t>
            </a:r>
          </a:p>
        </p:txBody>
      </p:sp>
      <p:pic>
        <p:nvPicPr>
          <p:cNvPr id="767" name="Shape 767"/>
          <p:cNvPicPr preferRelativeResize="0"/>
          <p:nvPr/>
        </p:nvPicPr>
        <p:blipFill rotWithShape="1">
          <a:blip r:embed="rId5">
            <a:alphaModFix/>
          </a:blip>
          <a:srcRect/>
          <a:stretch/>
        </p:blipFill>
        <p:spPr>
          <a:xfrm>
            <a:off x="246319" y="1375017"/>
            <a:ext cx="576450" cy="576450"/>
          </a:xfrm>
          <a:prstGeom prst="rect">
            <a:avLst/>
          </a:prstGeom>
          <a:noFill/>
          <a:ln>
            <a:noFill/>
          </a:ln>
        </p:spPr>
      </p:pic>
      <p:pic>
        <p:nvPicPr>
          <p:cNvPr id="768" name="Shape 768"/>
          <p:cNvPicPr preferRelativeResize="0"/>
          <p:nvPr/>
        </p:nvPicPr>
        <p:blipFill rotWithShape="1">
          <a:blip r:embed="rId6">
            <a:alphaModFix/>
          </a:blip>
          <a:srcRect/>
          <a:stretch/>
        </p:blipFill>
        <p:spPr>
          <a:xfrm>
            <a:off x="7783257" y="1475254"/>
            <a:ext cx="1107337" cy="375975"/>
          </a:xfrm>
          <a:prstGeom prst="rect">
            <a:avLst/>
          </a:prstGeom>
          <a:noFill/>
          <a:ln>
            <a:noFill/>
          </a:ln>
        </p:spPr>
      </p:pic>
      <p:sp>
        <p:nvSpPr>
          <p:cNvPr id="769" name="Shape 769"/>
          <p:cNvSpPr txBox="1"/>
          <p:nvPr/>
        </p:nvSpPr>
        <p:spPr>
          <a:xfrm>
            <a:off x="4896225" y="2062758"/>
            <a:ext cx="3823706" cy="3366179"/>
          </a:xfrm>
          <a:prstGeom prst="rect">
            <a:avLst/>
          </a:prstGeom>
          <a:noFill/>
          <a:ln>
            <a:noFill/>
          </a:ln>
        </p:spPr>
        <p:txBody>
          <a:bodyPr lIns="51427" tIns="51427" rIns="51427" bIns="51427" anchor="t" anchorCtr="0">
            <a:noAutofit/>
          </a:bodyPr>
          <a:lstStyle/>
          <a:p>
            <a:pPr defTabSz="514350"/>
            <a:r>
              <a:rPr lang="en-US" sz="1013" kern="0">
                <a:solidFill>
                  <a:srgbClr val="FFFFFF"/>
                </a:solidFill>
                <a:latin typeface="Arial"/>
                <a:cs typeface="Arial"/>
                <a:sym typeface="Arial"/>
              </a:rPr>
              <a:t>...</a:t>
            </a:r>
          </a:p>
        </p:txBody>
      </p:sp>
    </p:spTree>
    <p:extLst>
      <p:ext uri="{BB962C8B-B14F-4D97-AF65-F5344CB8AC3E}">
        <p14:creationId xmlns:p14="http://schemas.microsoft.com/office/powerpoint/2010/main" val="592075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4405</Words>
  <Application>Microsoft Office PowerPoint</Application>
  <PresentationFormat>On-screen Show (4:3)</PresentationFormat>
  <Paragraphs>756</Paragraphs>
  <Slides>111</Slides>
  <Notes>55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111</vt:i4>
      </vt:variant>
    </vt:vector>
  </HeadingPairs>
  <TitlesOfParts>
    <vt:vector size="124" baseType="lpstr">
      <vt:lpstr>Arial</vt:lpstr>
      <vt:lpstr>Cabin</vt:lpstr>
      <vt:lpstr>Calibri</vt:lpstr>
      <vt:lpstr>Comic Sans MS</vt:lpstr>
      <vt:lpstr>Courier</vt:lpstr>
      <vt:lpstr>Courier New</vt:lpstr>
      <vt:lpstr>Gill Sans</vt:lpstr>
      <vt:lpstr>Lucida Sans Unicode</vt:lpstr>
      <vt:lpstr>Times</vt:lpstr>
      <vt:lpstr>Verdana</vt:lpstr>
      <vt:lpstr>ヒラギノ角ゴ ProN W3</vt:lpstr>
      <vt:lpstr>Office Theme</vt:lpstr>
      <vt:lpstr>Title &amp; Subtitle</vt:lpstr>
      <vt:lpstr>Lecture # 1 Overview of the Course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10. Python - Lists</vt:lpstr>
      <vt:lpstr>Accessing Values in Lists:</vt:lpstr>
      <vt:lpstr>Updating Lists:</vt:lpstr>
      <vt:lpstr>Delete List Elements:</vt:lpstr>
      <vt:lpstr>Basic List Operations:</vt:lpstr>
      <vt:lpstr>Indexing, Slicing, and Matrixes:</vt:lpstr>
      <vt:lpstr>Built-in List Functions &amp; Methods:</vt:lpstr>
      <vt:lpstr>PowerPoint Presentation</vt:lpstr>
      <vt:lpstr>11. Python - Tuples</vt:lpstr>
      <vt:lpstr>Accessing Values in Tuples:</vt:lpstr>
      <vt:lpstr>Updating Tuples:</vt:lpstr>
      <vt:lpstr>Delete Tuple Elements:</vt:lpstr>
      <vt:lpstr>Basic Tuples Operations:</vt:lpstr>
      <vt:lpstr>Indexing, Slicing, and Matrixes:</vt:lpstr>
      <vt:lpstr>No Enclosing Delimiters:</vt:lpstr>
      <vt:lpstr>Built-in Tuple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Loops and Iteration</vt:lpstr>
      <vt:lpstr>Loops and Iteration</vt:lpstr>
      <vt:lpstr>Loops and Iteration</vt:lpstr>
      <vt:lpstr>Repeated Steps</vt:lpstr>
      <vt:lpstr>An Infinite Loop</vt:lpstr>
      <vt:lpstr>Another Loop</vt:lpstr>
      <vt:lpstr>Breaking Out of a Loop</vt:lpstr>
      <vt:lpstr>Breaking Out of a Loop</vt:lpstr>
      <vt:lpstr>PowerPoint Presentation</vt:lpstr>
      <vt:lpstr>Finishing an Iteration with continue</vt:lpstr>
      <vt:lpstr>Finishing an Iteration with continue</vt:lpstr>
      <vt:lpstr>PowerPoint Presentation</vt:lpstr>
      <vt:lpstr>Indefinite Loops</vt:lpstr>
      <vt:lpstr>Definite Loops</vt:lpstr>
      <vt:lpstr>Definite Loops</vt:lpstr>
      <vt:lpstr>Definite Loops</vt:lpstr>
      <vt:lpstr>A Simple Definite Loop</vt:lpstr>
      <vt:lpstr>A Definite Loop with Strings</vt:lpstr>
      <vt:lpstr>A Simple Definite Loop</vt:lpstr>
      <vt:lpstr>Looking at in...</vt:lpstr>
      <vt:lpstr>PowerPoint Presentation</vt:lpstr>
      <vt:lpstr>PowerPoint Presentation</vt:lpstr>
      <vt:lpstr>Loop Idioms: What We Do in Loops  Note:   Even though these examples are simple, the patterns apply to all kinds of loops</vt:lpstr>
      <vt:lpstr>Making “smart” loops</vt:lpstr>
      <vt:lpstr>Looping Through a Set</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What is the Largest Number?</vt:lpstr>
      <vt:lpstr>Finding the Largest Value</vt:lpstr>
      <vt:lpstr>More Loop Patterns…</vt:lpstr>
      <vt:lpstr>Counting in a Loop</vt:lpstr>
      <vt:lpstr>Summing in a Loop</vt:lpstr>
      <vt:lpstr>Finding the Average in a Loop</vt:lpstr>
      <vt:lpstr>Filtering in a Loop</vt:lpstr>
      <vt:lpstr>Search Using a Boolean Variable</vt:lpstr>
      <vt:lpstr>How to Find the Smallest Value</vt:lpstr>
      <vt:lpstr>Finding the Smallest Value</vt:lpstr>
      <vt:lpstr>Finding the Smallest Value</vt:lpstr>
      <vt:lpstr>Finding the Smallest Value</vt:lpstr>
      <vt:lpstr>The is and is not Operators</vt:lpstr>
      <vt:lpstr>Summary</vt:lpstr>
      <vt:lpstr>Acknowledgements / Contributions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AU</cp:lastModifiedBy>
  <cp:revision>9</cp:revision>
  <dcterms:created xsi:type="dcterms:W3CDTF">2013-01-27T09:14:16Z</dcterms:created>
  <dcterms:modified xsi:type="dcterms:W3CDTF">2025-10-01T08:18:45Z</dcterms:modified>
  <cp:category/>
</cp:coreProperties>
</file>